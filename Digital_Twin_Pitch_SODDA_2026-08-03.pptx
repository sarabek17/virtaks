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Loyihamiz nomi — Digital Twin, ya’ni «raqamli egizak». Bir jumla bilan aytsam: ustozning bilimini shunday saqlaymizki, u sizga istalgan vaqtda javob bera olsin. Bu g‘oya emas — sayt bugun ishlab turibdi.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Avval kontekst. Bugun bilim ko‘p — darslar yozib olingan, kitoblar bor, slaydlar bor. Muammo boshqa joyda: bu bilim izlab topib bo‘lmaydigan shaklda. Odam o‘ttiz soatlik dars yozuvini boshidan oxirigacha eshitib chiqolmaydi. Ya’ni bilim bor, lekin unga kirish yo‘li yo‘q.</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Muammo uchta tomondan ko‘rinadi. O‘quvchining darsni qayta eshitishga vaqti yo‘q. Ustoz esa bir xil savolga har kuni qayta-qayta javob berib charchaydi. Kompyuter dasturlariga murojaat qilsangiz — chiroyli gapiradi, lekin gapini qayerdan olganini ayta olmaydi. Ya’ni o‘zi o‘ylab topadi. Ishonch yo‘q.</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Yechimimiz oddiy. Ustozning darslarini tizimga yuklaymiz. Siz savol berasiz — javob faqat o‘sha darslardan olinadi, boshqa joydan emas. Eng muhimi: javobning yonida kichik belgi turadi. Uni bossangiz, ustozning o‘zi o‘sha gapni aytayotgan daqiqa ochiladi va siz uni eshitasiz. Isbotlab bo‘lmaydigan gap javobga umuman tushmaydi.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Mahsulot uchta qadamdan iborat. Birinchi: dars yozuvlari, kitob va slaydlarni yuklaysiz. Ikkinchi: Telegramda yoki saytda savol berasiz — alohida dastur o‘rnatish kerak emas. Uchinchi: javob keladi, ichida ustozning ovozi va slayd surati bilan. Bundan tashqari tizim sizga dars rejasi tuzib beradi va kerakli hujjatni to‘ldirib yuboradi.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Nega aynan hozir? Uch sabab bor. Birinchi: narx. Bir yil oldin bunday javobning tannarxi olti barobar qimmat edi — biznes oqlanmasdi. Bugun bitta javob bizga sakson so‘m turadi. Ikkinchi: o‘zbek tili endi kompyuterga tushunarli — u nutqni ham, slayddagi yozuvni ham o‘qiy oladi. Uchinchi: odamlar allaqachon Telegramda o‘tirishibdi, biz ularni yangi dastur o‘rnatishga majburlamaymiz.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 hayotdagi misol. Bitta ustozning qirq uch soatlik dars yozuvi bor edi. Uni tizimga yukladik. Endi o‘quvchi savol bersa, javob uch soniyada keladi va ustozning o‘z ovozi bilan isbotlanadi. Eng qizig‘i — tizim o‘sha bilimdan yigirma bir darslik to‘liq kursni o‘zi yozib chiqdi. Bunga sakkiz daqiqa vaqt va ikki ming ikki yuz so‘m ketdi. Odam buni bir necha hafta yozgan bo‘lardi.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Bozor haqida. Markaziy Osiyoda bir yarim million kichik biznes egasi va tadbirkor bor — bular o‘qishga va maslahatga pul to‘laydigan odamlar. Agar ularning har biri bizning oddiy tarifimizga obuna bo‘lsa, bu yiliga ikki yuz million dollar. Biz ikki yil ichida shundan bir yarim million dollarlik qismini olishni rejalashtiryapmiz. Hisob oddiy: odam soni ko‘paytirilgan bizning narximizga.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 ishlash yo‘limiz — oylik obuna, xuddi telefon aloqasi kabi. Oddiy foydalanuvchi uchun oyiga yuz qirq to‘qqiz ming so‘m, ko‘p ishlatadiganlar uchun to‘rt yuz qirq to‘qqiz ming. Kompaniyalar bilan alohida kelishamiz. Endi eng muhimi: bitta javob bizga sakson so‘m turadi. Ya’ni har bir obunachidan bizga foyda qoladi — biz buni taxmin qilmadik, o‘lchadik. Ustozlar ham o‘z egizagini qo‘yib, obunachilaridan ulush olishadi. Boshlash esa bepul — uchta savol pulsiz.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Raqobat. Umumiy suhbat dasturlari chiroyli gapiradi, lekin gapini qayerdan olganini ayta olmaydi. Kurs saytlari video beradi, ammo sizning aniq savolingizga javob bermaydi. Idoraviy qidiruv tizimlari hujjatni topadi, lekin o‘rgatmaydi. Biz esa uchalasini birga qilamiz: javob beramiz, ustozning ovozi bilan isbotlaymiz va o‘rgatamiz.</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holat. Bu slayd emas — bu ishlab turgan tizim. Sayt o‘z serverimizda jonli. Ichida ikki ming sakkiz yuz to‘qson yetti dona qidiriladigan bilim parchasi bor — bu qirq uch soatlik dars degani. Javob uch soniyada keladi va bizga sakson so‘m turadi. Butun tizimni sakkiz kunda qurdik. Barcha raqamlar o‘lchangan. Va biz tizimni ataylab aldashga urinib ko‘rdik — u aldanmadi.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So‘rovimiz uchta. Birinchi va eng muhimi — sinov maydoni: uchta ta’lim muassasasi. Texnologiya tayyor, bizga real o‘quvchilar kerak. Ikkinchi — bir yilga yuz ellik ming dollar, asosan jamoani uch kishidan yetti kishiga ko‘paytirish uchun. Uchinchi — maslahat va tanishtiruv, ayniqsa ta’lim sohasi va huquq bo‘yicha. Bir yildan keyin ellik ta ustoz egizagi va o‘n ming foydalanuvchini ko‘zlayapmiz.</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Rejamiz. Qurish bosqichi tugadi — endi o‘stirish qoldi. Birinchi yilda ustozlar o‘zi kelib egizak yaratadigan bo‘ladi va telefon orqali gaplashish qo‘shiladi. Ikkinchi yilda kompaniyalar va ta’lim muassasalari uchun alohida ko‘rinish, rus tili. Uchinchi yilda qo‘shni davlatlarga chiqamiz — qozoq, qirg‘iz, tojik tillari. Eslatib o‘taman: loyihani shu yilning iyul oyida boshlaganmiz.</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Jamoa. [Bu yerda o‘zingiz va hamkasblaringiz haqida gapirasiz: ism, nima qilishi, necha yillik tajriba.] Nima uchun aynan biz? Chunki bizda g‘oya emas, ishlab turgan mahsulot bor. Va ustozlar bilan tayyor ish aloqamiz bor — birinchi egizaklar real dars materiallaridan qurilgan.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Oxirgi slayd — savol berilsa aytadigan narsalar. Tizim hech narsani o‘zi o‘ylab topmaydi: faqat yuklangan bilimdan gapiradi. Isbotlab bo‘lmaydigan gap javobga tushmaydi. Har bir ustozning bilimi alohida saqlanadi va aralashmaydi. Pulga tegishli qarorlarni esa sun’iy intellekt emas, oddiy dastur qabul qiladi — chunki bu yerda xatoga o‘rin yo‘q. Biz tizimni ataylab aldashga urinib ko‘rdik: yuklangan hujjat ichiga yashirin buyruq yozdik. Tizim bo‘ysunmadi. Rahmat.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32720" cy="2011680"/>
          </a:xfrm>
          <a:prstGeom prst="rect">
            <a:avLst/>
          </a:prstGeom>
          <a:noFill/>
        </p:spPr>
        <p:txBody>
          <a:bodyPr wrap="square">
            <a:spAutoFit/>
          </a:bodyPr>
          <a:lstStyle/>
          <a:p>
            <a:pPr algn="ctr">
              <a:lnSpc>
                <a:spcPct val="110000"/>
              </a:lnSpc>
              <a:spcAft>
                <a:spcPts val="2600"/>
              </a:spcAft>
            </a:pPr>
            <a:r>
              <a:rPr sz="6800" b="0">
                <a:solidFill>
                  <a:srgbClr val="111111"/>
                </a:solidFill>
                <a:latin typeface="Arial"/>
              </a:rPr>
              <a:t>Digital Twin</a:t>
            </a:r>
          </a:p>
          <a:p>
            <a:pPr algn="ctr">
              <a:lnSpc>
                <a:spcPct val="110000"/>
              </a:lnSpc>
              <a:spcAft>
                <a:spcPts val="0"/>
              </a:spcAft>
            </a:pPr>
            <a:r>
              <a:rPr sz="2400" b="0">
                <a:solidFill>
                  <a:srgbClr val="8E8E8E"/>
                </a:solidFill>
                <a:latin typeface="Arial"/>
              </a:rPr>
              <a:t>Ustozning bilimi — har doim yoningizda</a:t>
            </a:r>
          </a:p>
        </p:txBody>
      </p:sp>
      <p:sp>
        <p:nvSpPr>
          <p:cNvPr id="3" name="TextBox 2"/>
          <p:cNvSpPr txBox="1"/>
          <p:nvPr/>
        </p:nvSpPr>
        <p:spPr>
          <a:xfrm>
            <a:off x="914400" y="5120640"/>
            <a:ext cx="10332720" cy="914400"/>
          </a:xfrm>
          <a:prstGeom prst="rect">
            <a:avLst/>
          </a:prstGeom>
          <a:noFill/>
        </p:spPr>
        <p:txBody>
          <a:bodyPr wrap="none">
            <a:spAutoFit/>
          </a:bodyPr>
          <a:lstStyle/>
          <a:p>
            <a:pPr algn="ctr">
              <a:lnSpc>
                <a:spcPct val="110000"/>
              </a:lnSpc>
              <a:spcAft>
                <a:spcPts val="600"/>
              </a:spcAft>
            </a:pPr>
            <a:r>
              <a:rPr sz="1700" b="1">
                <a:solidFill>
                  <a:srgbClr val="111111"/>
                </a:solidFill>
                <a:latin typeface="Arial"/>
              </a:rPr>
              <a:t>twin.bmslab.uz</a:t>
            </a:r>
          </a:p>
          <a:p>
            <a:pPr algn="ctr">
              <a:lnSpc>
                <a:spcPct val="110000"/>
              </a:lnSpc>
              <a:spcAft>
                <a:spcPts val="0"/>
              </a:spcAft>
            </a:pPr>
            <a:r>
              <a:rPr sz="1500" b="0">
                <a:solidFill>
                  <a:srgbClr val="8E8E8E"/>
                </a:solidFill>
                <a:latin typeface="Arial"/>
              </a:rPr>
              <a:t>Prezident Tech Award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QAYERDAN BOSHLANDI</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5200" b="0">
                <a:solidFill>
                  <a:srgbClr val="111111"/>
                </a:solidFill>
                <a:latin typeface="Arial"/>
              </a:rPr>
              <a:t>Bilim bor.
Uni topib bo‘lmaydi.</a:t>
            </a:r>
          </a:p>
        </p:txBody>
      </p:sp>
      <p:sp>
        <p:nvSpPr>
          <p:cNvPr id="4" name="TextBox 3"/>
          <p:cNvSpPr txBox="1"/>
          <p:nvPr/>
        </p:nvSpPr>
        <p:spPr>
          <a:xfrm>
            <a:off x="822960" y="3931920"/>
            <a:ext cx="10515600" cy="2743200"/>
          </a:xfrm>
          <a:prstGeom prst="rect">
            <a:avLst/>
          </a:prstGeom>
          <a:noFill/>
        </p:spPr>
        <p:txBody>
          <a:bodyPr wrap="square">
            <a:spAutoFit/>
          </a:bodyPr>
          <a:lstStyle/>
          <a:p>
            <a:pPr>
              <a:lnSpc>
                <a:spcPct val="110000"/>
              </a:lnSpc>
              <a:spcAft>
                <a:spcPts val="1600"/>
              </a:spcAft>
            </a:pPr>
            <a:r>
              <a:rPr sz="2200" b="0">
                <a:solidFill>
                  <a:srgbClr val="8E8E8E"/>
                </a:solidFill>
                <a:latin typeface="Arial"/>
              </a:rPr>
              <a:t>Darslar audio va videoda yozilgan. Kitoblar, slaydlar, hujjatlar bor.</a:t>
            </a:r>
          </a:p>
          <a:p>
            <a:pPr>
              <a:lnSpc>
                <a:spcPct val="110000"/>
              </a:lnSpc>
              <a:spcAft>
                <a:spcPts val="1600"/>
              </a:spcAft>
            </a:pPr>
            <a:r>
              <a:rPr sz="2200" b="0">
                <a:solidFill>
                  <a:srgbClr val="8E8E8E"/>
                </a:solidFill>
                <a:latin typeface="Arial"/>
              </a:rPr>
              <a:t>Lekin kerakli gap qaysi darsning qaysi daqiqasida — hech kim eslamaydi.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MUAMMO</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600" b="0">
                <a:solidFill>
                  <a:srgbClr val="111111"/>
                </a:solidFill>
                <a:latin typeface="Arial"/>
              </a:rPr>
              <a:t>Javob bor.
Lekin qayerdaligini hech kim bilmaydi.</a:t>
            </a:r>
          </a:p>
        </p:txBody>
      </p:sp>
      <p:sp>
        <p:nvSpPr>
          <p:cNvPr id="4" name="TextBox 3"/>
          <p:cNvSpPr txBox="1"/>
          <p:nvPr/>
        </p:nvSpPr>
        <p:spPr>
          <a:xfrm>
            <a:off x="822960" y="3886200"/>
            <a:ext cx="10515600" cy="2743200"/>
          </a:xfrm>
          <a:prstGeom prst="rect">
            <a:avLst/>
          </a:prstGeom>
          <a:noFill/>
        </p:spPr>
        <p:txBody>
          <a:bodyPr wrap="square">
            <a:spAutoFit/>
          </a:bodyPr>
          <a:lstStyle/>
          <a:p>
            <a:pPr>
              <a:lnSpc>
                <a:spcPct val="110000"/>
              </a:lnSpc>
              <a:spcAft>
                <a:spcPts val="1800"/>
              </a:spcAft>
            </a:pPr>
            <a:r>
              <a:rPr sz="2300" b="0">
                <a:solidFill>
                  <a:srgbClr val="111111"/>
                </a:solidFill>
                <a:latin typeface="Arial"/>
              </a:rPr>
              <a:t>O‘quvchi  —  darsni qayta eshitishga vaqti yo‘q.</a:t>
            </a:r>
          </a:p>
          <a:p>
            <a:pPr>
              <a:lnSpc>
                <a:spcPct val="110000"/>
              </a:lnSpc>
              <a:spcAft>
                <a:spcPts val="1800"/>
              </a:spcAft>
            </a:pPr>
            <a:r>
              <a:rPr sz="2300" b="0">
                <a:solidFill>
                  <a:srgbClr val="111111"/>
                </a:solidFill>
                <a:latin typeface="Arial"/>
              </a:rPr>
              <a:t>Ustoz  —  bir xil savolga har kuni qayta javob beradi.</a:t>
            </a:r>
          </a:p>
          <a:p>
            <a:pPr>
              <a:lnSpc>
                <a:spcPct val="110000"/>
              </a:lnSpc>
              <a:spcAft>
                <a:spcPts val="1800"/>
              </a:spcAft>
            </a:pPr>
            <a:r>
              <a:rPr sz="2300" b="0">
                <a:solidFill>
                  <a:srgbClr val="111111"/>
                </a:solidFill>
                <a:latin typeface="Arial"/>
              </a:rPr>
              <a:t>Kompyuter dasturlari  —  chiroyli gapiradi, lekin o‘zi o‘ylab topadi.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YECHIM</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800" b="0">
                <a:solidFill>
                  <a:srgbClr val="111111"/>
                </a:solidFill>
                <a:latin typeface="Arial"/>
              </a:rPr>
              <a:t>Ustozning javobi —
ustozning ovozi bilan.</a:t>
            </a:r>
          </a:p>
        </p:txBody>
      </p:sp>
      <p:sp>
        <p:nvSpPr>
          <p:cNvPr id="4" name="TextBox 3"/>
          <p:cNvSpPr txBox="1"/>
          <p:nvPr/>
        </p:nvSpPr>
        <p:spPr>
          <a:xfrm>
            <a:off x="822960" y="3840480"/>
            <a:ext cx="10515600" cy="2743200"/>
          </a:xfrm>
          <a:prstGeom prst="rect">
            <a:avLst/>
          </a:prstGeom>
          <a:noFill/>
        </p:spPr>
        <p:txBody>
          <a:bodyPr wrap="square">
            <a:spAutoFit/>
          </a:bodyPr>
          <a:lstStyle/>
          <a:p>
            <a:pPr>
              <a:lnSpc>
                <a:spcPct val="110000"/>
              </a:lnSpc>
              <a:spcAft>
                <a:spcPts val="1800"/>
              </a:spcAft>
            </a:pPr>
            <a:r>
              <a:rPr sz="2200" b="0">
                <a:solidFill>
                  <a:srgbClr val="111111"/>
                </a:solidFill>
                <a:latin typeface="Arial"/>
              </a:rPr>
              <a:t>Ustozning darslarini tizimga yuklaymiz.</a:t>
            </a:r>
          </a:p>
          <a:p>
            <a:pPr>
              <a:lnSpc>
                <a:spcPct val="110000"/>
              </a:lnSpc>
              <a:spcAft>
                <a:spcPts val="1800"/>
              </a:spcAft>
            </a:pPr>
            <a:r>
              <a:rPr sz="2200" b="0">
                <a:solidFill>
                  <a:srgbClr val="111111"/>
                </a:solidFill>
                <a:latin typeface="Arial"/>
              </a:rPr>
              <a:t>Savol berasiz — javob faqat o‘sha darslardan olinadi.</a:t>
            </a:r>
          </a:p>
          <a:p>
            <a:pPr>
              <a:lnSpc>
                <a:spcPct val="110000"/>
              </a:lnSpc>
              <a:spcAft>
                <a:spcPts val="1800"/>
              </a:spcAft>
            </a:pPr>
            <a:r>
              <a:rPr sz="2200" b="0">
                <a:solidFill>
                  <a:srgbClr val="111111"/>
                </a:solidFill>
                <a:latin typeface="Arial"/>
              </a:rPr>
              <a:t>Belgini bosasiz — ustoz o‘sha gapni aytayotgan daqiqa eshitiladi.</a:t>
            </a:r>
          </a:p>
        </p:txBody>
      </p:sp>
      <p:sp>
        <p:nvSpPr>
          <p:cNvPr id="5" name="TextBox 4"/>
          <p:cNvSpPr txBox="1"/>
          <p:nvPr/>
        </p:nvSpPr>
        <p:spPr>
          <a:xfrm>
            <a:off x="822960" y="5806440"/>
            <a:ext cx="10515600" cy="548640"/>
          </a:xfrm>
          <a:prstGeom prst="rect">
            <a:avLst/>
          </a:prstGeom>
          <a:noFill/>
        </p:spPr>
        <p:txBody>
          <a:bodyPr wrap="square">
            <a:spAutoFit/>
          </a:bodyPr>
          <a:lstStyle/>
          <a:p>
            <a:pPr>
              <a:lnSpc>
                <a:spcPct val="110000"/>
              </a:lnSpc>
              <a:spcAft>
                <a:spcPts val="0"/>
              </a:spcAft>
            </a:pPr>
            <a:r>
              <a:rPr sz="1300" b="0">
                <a:solidFill>
                  <a:srgbClr val="8E8E8E"/>
                </a:solidFill>
                <a:latin typeface="Arial"/>
              </a:rPr>
              <a:t>Isbotlab bo‘lmaydigan gap javobga umuman tushmaydi.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MAHSULOT</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600" b="0">
                <a:solidFill>
                  <a:srgbClr val="111111"/>
                </a:solidFill>
                <a:latin typeface="Arial"/>
              </a:rPr>
              <a:t>Yuklaysiz.  So‘raysiz.  Javob olasiz.</a:t>
            </a:r>
          </a:p>
        </p:txBody>
      </p:sp>
      <p:sp>
        <p:nvSpPr>
          <p:cNvPr id="4" name="TextBox 3"/>
          <p:cNvSpPr txBox="1"/>
          <p:nvPr/>
        </p:nvSpPr>
        <p:spPr>
          <a:xfrm>
            <a:off x="822960" y="3566160"/>
            <a:ext cx="10515600" cy="2743200"/>
          </a:xfrm>
          <a:prstGeom prst="rect">
            <a:avLst/>
          </a:prstGeom>
          <a:noFill/>
        </p:spPr>
        <p:txBody>
          <a:bodyPr wrap="square">
            <a:spAutoFit/>
          </a:bodyPr>
          <a:lstStyle/>
          <a:p>
            <a:pPr>
              <a:lnSpc>
                <a:spcPct val="110000"/>
              </a:lnSpc>
              <a:spcAft>
                <a:spcPts val="1800"/>
              </a:spcAft>
            </a:pPr>
            <a:r>
              <a:rPr sz="2300" b="0">
                <a:solidFill>
                  <a:srgbClr val="111111"/>
                </a:solidFill>
                <a:latin typeface="Arial"/>
              </a:rPr>
              <a:t>1.  Dars yozuvlari, kitob va slaydlarni yuklaysiz.</a:t>
            </a:r>
          </a:p>
          <a:p>
            <a:pPr>
              <a:lnSpc>
                <a:spcPct val="110000"/>
              </a:lnSpc>
              <a:spcAft>
                <a:spcPts val="1800"/>
              </a:spcAft>
            </a:pPr>
            <a:r>
              <a:rPr sz="2300" b="0">
                <a:solidFill>
                  <a:srgbClr val="111111"/>
                </a:solidFill>
                <a:latin typeface="Arial"/>
              </a:rPr>
              <a:t>2.  Telegramda yoki saytda savol berasiz.</a:t>
            </a:r>
          </a:p>
          <a:p>
            <a:pPr>
              <a:lnSpc>
                <a:spcPct val="110000"/>
              </a:lnSpc>
              <a:spcAft>
                <a:spcPts val="1800"/>
              </a:spcAft>
            </a:pPr>
            <a:r>
              <a:rPr sz="2300" b="0">
                <a:solidFill>
                  <a:srgbClr val="111111"/>
                </a:solidFill>
                <a:latin typeface="Arial"/>
              </a:rPr>
              <a:t>3.  Javob keladi — ichida ustozning ovozi va slayd surati.</a:t>
            </a:r>
          </a:p>
        </p:txBody>
      </p:sp>
      <p:sp>
        <p:nvSpPr>
          <p:cNvPr id="5" name="TextBox 4"/>
          <p:cNvSpPr txBox="1"/>
          <p:nvPr/>
        </p:nvSpPr>
        <p:spPr>
          <a:xfrm>
            <a:off x="822960" y="5577840"/>
            <a:ext cx="10515600" cy="2743200"/>
          </a:xfrm>
          <a:prstGeom prst="rect">
            <a:avLst/>
          </a:prstGeom>
          <a:noFill/>
        </p:spPr>
        <p:txBody>
          <a:bodyPr wrap="square">
            <a:spAutoFit/>
          </a:bodyPr>
          <a:lstStyle/>
          <a:p>
            <a:pPr>
              <a:lnSpc>
                <a:spcPct val="110000"/>
              </a:lnSpc>
              <a:spcAft>
                <a:spcPts val="1600"/>
              </a:spcAft>
            </a:pPr>
            <a:r>
              <a:rPr sz="1800" b="0">
                <a:solidFill>
                  <a:srgbClr val="8E8E8E"/>
                </a:solidFill>
                <a:latin typeface="Arial"/>
              </a:rPr>
              <a:t>Bundan tashqari: tizim o‘sha bilimdan sizga dars rejasi tuzadi va kerakli hujjatni to‘ldirib beradi.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NEGA AYNAN HOZIR</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5200" b="0">
                <a:solidFill>
                  <a:srgbClr val="111111"/>
                </a:solidFill>
                <a:latin typeface="Arial"/>
              </a:rPr>
              <a:t>Bitta javob endi
80 so‘m turadi.</a:t>
            </a:r>
          </a:p>
        </p:txBody>
      </p:sp>
      <p:sp>
        <p:nvSpPr>
          <p:cNvPr id="4" name="TextBox 3"/>
          <p:cNvSpPr txBox="1"/>
          <p:nvPr/>
        </p:nvSpPr>
        <p:spPr>
          <a:xfrm>
            <a:off x="822960" y="3840480"/>
            <a:ext cx="10515600" cy="2743200"/>
          </a:xfrm>
          <a:prstGeom prst="rect">
            <a:avLst/>
          </a:prstGeom>
          <a:noFill/>
        </p:spPr>
        <p:txBody>
          <a:bodyPr wrap="square">
            <a:spAutoFit/>
          </a:bodyPr>
          <a:lstStyle/>
          <a:p>
            <a:pPr>
              <a:lnSpc>
                <a:spcPct val="110000"/>
              </a:lnSpc>
              <a:spcAft>
                <a:spcPts val="1600"/>
              </a:spcAft>
            </a:pPr>
            <a:r>
              <a:rPr sz="2100" b="0">
                <a:solidFill>
                  <a:srgbClr val="111111"/>
                </a:solidFill>
                <a:latin typeface="Arial"/>
              </a:rPr>
              <a:t>Bir yil oldin bunday javob olti barobar qimmat edi — biznes oqlanmasdi.</a:t>
            </a:r>
          </a:p>
          <a:p>
            <a:pPr>
              <a:lnSpc>
                <a:spcPct val="110000"/>
              </a:lnSpc>
              <a:spcAft>
                <a:spcPts val="1600"/>
              </a:spcAft>
            </a:pPr>
            <a:r>
              <a:rPr sz="2100" b="0">
                <a:solidFill>
                  <a:srgbClr val="111111"/>
                </a:solidFill>
                <a:latin typeface="Arial"/>
              </a:rPr>
              <a:t>O‘zbek tili endi kompyuterga tushunarli: nutqni ham, slayddagi yozuvni ham o‘qiy oladi.</a:t>
            </a:r>
          </a:p>
          <a:p>
            <a:pPr>
              <a:lnSpc>
                <a:spcPct val="110000"/>
              </a:lnSpc>
              <a:spcAft>
                <a:spcPts val="1600"/>
              </a:spcAft>
            </a:pPr>
            <a:r>
              <a:rPr sz="2100" b="0">
                <a:solidFill>
                  <a:srgbClr val="111111"/>
                </a:solidFill>
                <a:latin typeface="Arial"/>
              </a:rPr>
              <a:t>Odamlar allaqachon Telegramda — yangi dastur o‘rnatishga majburlamaymiz.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HAYOTDAGI MISOL</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600" b="0">
                <a:solidFill>
                  <a:srgbClr val="111111"/>
                </a:solidFill>
                <a:latin typeface="Arial"/>
              </a:rPr>
              <a:t>40 soatlik dars —
3 soniyalik javobga aylandi.</a:t>
            </a:r>
          </a:p>
        </p:txBody>
      </p:sp>
      <p:sp>
        <p:nvSpPr>
          <p:cNvPr id="4" name="TextBox 3"/>
          <p:cNvSpPr txBox="1"/>
          <p:nvPr/>
        </p:nvSpPr>
        <p:spPr>
          <a:xfrm>
            <a:off x="822960" y="3794760"/>
            <a:ext cx="3230880" cy="1371600"/>
          </a:xfrm>
          <a:prstGeom prst="rect">
            <a:avLst/>
          </a:prstGeom>
          <a:noFill/>
        </p:spPr>
        <p:txBody>
          <a:bodyPr wrap="square">
            <a:spAutoFit/>
          </a:bodyPr>
          <a:lstStyle/>
          <a:p>
            <a:pPr>
              <a:lnSpc>
                <a:spcPct val="110000"/>
              </a:lnSpc>
              <a:spcAft>
                <a:spcPts val="400"/>
              </a:spcAft>
            </a:pPr>
            <a:r>
              <a:rPr sz="4000" b="1">
                <a:solidFill>
                  <a:srgbClr val="111111"/>
                </a:solidFill>
                <a:latin typeface="Arial"/>
              </a:rPr>
              <a:t>43 soat</a:t>
            </a:r>
          </a:p>
          <a:p>
            <a:pPr>
              <a:lnSpc>
                <a:spcPct val="115000"/>
              </a:lnSpc>
              <a:spcAft>
                <a:spcPts val="0"/>
              </a:spcAft>
            </a:pPr>
            <a:r>
              <a:rPr sz="1600" b="0">
                <a:solidFill>
                  <a:srgbClr val="8E8E8E"/>
                </a:solidFill>
                <a:latin typeface="Arial"/>
              </a:rPr>
              <a:t>ustoz darslari yozib olingan edi</a:t>
            </a:r>
          </a:p>
        </p:txBody>
      </p:sp>
      <p:sp>
        <p:nvSpPr>
          <p:cNvPr id="5" name="TextBox 4"/>
          <p:cNvSpPr txBox="1"/>
          <p:nvPr/>
        </p:nvSpPr>
        <p:spPr>
          <a:xfrm>
            <a:off x="4328160" y="3794760"/>
            <a:ext cx="3230880" cy="1371600"/>
          </a:xfrm>
          <a:prstGeom prst="rect">
            <a:avLst/>
          </a:prstGeom>
          <a:noFill/>
        </p:spPr>
        <p:txBody>
          <a:bodyPr wrap="square">
            <a:spAutoFit/>
          </a:bodyPr>
          <a:lstStyle/>
          <a:p>
            <a:pPr>
              <a:lnSpc>
                <a:spcPct val="110000"/>
              </a:lnSpc>
              <a:spcAft>
                <a:spcPts val="400"/>
              </a:spcAft>
            </a:pPr>
            <a:r>
              <a:rPr sz="4000" b="1">
                <a:solidFill>
                  <a:srgbClr val="111111"/>
                </a:solidFill>
                <a:latin typeface="Arial"/>
              </a:rPr>
              <a:t>3 soniya</a:t>
            </a:r>
          </a:p>
          <a:p>
            <a:pPr>
              <a:lnSpc>
                <a:spcPct val="115000"/>
              </a:lnSpc>
              <a:spcAft>
                <a:spcPts val="0"/>
              </a:spcAft>
            </a:pPr>
            <a:r>
              <a:rPr sz="1600" b="0">
                <a:solidFill>
                  <a:srgbClr val="8E8E8E"/>
                </a:solidFill>
                <a:latin typeface="Arial"/>
              </a:rPr>
              <a:t>endi savolga javob shuncha vaqtda keladi</a:t>
            </a:r>
          </a:p>
        </p:txBody>
      </p:sp>
      <p:sp>
        <p:nvSpPr>
          <p:cNvPr id="6" name="TextBox 5"/>
          <p:cNvSpPr txBox="1"/>
          <p:nvPr/>
        </p:nvSpPr>
        <p:spPr>
          <a:xfrm>
            <a:off x="7833360" y="3794760"/>
            <a:ext cx="3230880" cy="1371600"/>
          </a:xfrm>
          <a:prstGeom prst="rect">
            <a:avLst/>
          </a:prstGeom>
          <a:noFill/>
        </p:spPr>
        <p:txBody>
          <a:bodyPr wrap="square">
            <a:spAutoFit/>
          </a:bodyPr>
          <a:lstStyle/>
          <a:p>
            <a:pPr>
              <a:lnSpc>
                <a:spcPct val="110000"/>
              </a:lnSpc>
              <a:spcAft>
                <a:spcPts val="400"/>
              </a:spcAft>
            </a:pPr>
            <a:r>
              <a:rPr sz="4000" b="1">
                <a:solidFill>
                  <a:srgbClr val="111111"/>
                </a:solidFill>
                <a:latin typeface="Arial"/>
              </a:rPr>
              <a:t>21 dars</a:t>
            </a:r>
          </a:p>
          <a:p>
            <a:pPr>
              <a:lnSpc>
                <a:spcPct val="115000"/>
              </a:lnSpc>
              <a:spcAft>
                <a:spcPts val="0"/>
              </a:spcAft>
            </a:pPr>
            <a:r>
              <a:rPr sz="1600" b="0">
                <a:solidFill>
                  <a:srgbClr val="8E8E8E"/>
                </a:solidFill>
                <a:latin typeface="Arial"/>
              </a:rPr>
              <a:t>tizim o‘sha bilimdan kursni o‘zi yozdi</a:t>
            </a:r>
          </a:p>
        </p:txBody>
      </p:sp>
      <p:sp>
        <p:nvSpPr>
          <p:cNvPr id="7" name="TextBox 6"/>
          <p:cNvSpPr txBox="1"/>
          <p:nvPr/>
        </p:nvSpPr>
        <p:spPr>
          <a:xfrm>
            <a:off x="822960" y="5669280"/>
            <a:ext cx="10515600" cy="548640"/>
          </a:xfrm>
          <a:prstGeom prst="rect">
            <a:avLst/>
          </a:prstGeom>
          <a:noFill/>
        </p:spPr>
        <p:txBody>
          <a:bodyPr wrap="square">
            <a:spAutoFit/>
          </a:bodyPr>
          <a:lstStyle/>
          <a:p>
            <a:pPr>
              <a:lnSpc>
                <a:spcPct val="110000"/>
              </a:lnSpc>
              <a:spcAft>
                <a:spcPts val="0"/>
              </a:spcAft>
            </a:pPr>
            <a:r>
              <a:rPr sz="1300" b="0">
                <a:solidFill>
                  <a:srgbClr val="8E8E8E"/>
                </a:solidFill>
                <a:latin typeface="Arial"/>
              </a:rPr>
              <a:t>Kursni yozishga tizim 8 daqiqa vaqt va 2 200 so‘m sarfladi. Odam buni bir necha hafta yozgan bo‘lardi.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BOZOR</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600" b="0">
                <a:solidFill>
                  <a:srgbClr val="111111"/>
                </a:solidFill>
                <a:latin typeface="Arial"/>
              </a:rPr>
              <a:t>Har bir ustozning bilimi —
alohida bozor.</a:t>
            </a:r>
          </a:p>
        </p:txBody>
      </p:sp>
      <p:sp>
        <p:nvSpPr>
          <p:cNvPr id="4" name="TextBox 3"/>
          <p:cNvSpPr txBox="1"/>
          <p:nvPr/>
        </p:nvSpPr>
        <p:spPr>
          <a:xfrm>
            <a:off x="822960" y="3657600"/>
            <a:ext cx="3230880" cy="1371600"/>
          </a:xfrm>
          <a:prstGeom prst="rect">
            <a:avLst/>
          </a:prstGeom>
          <a:noFill/>
        </p:spPr>
        <p:txBody>
          <a:bodyPr wrap="square">
            <a:spAutoFit/>
          </a:bodyPr>
          <a:lstStyle/>
          <a:p>
            <a:pPr>
              <a:lnSpc>
                <a:spcPct val="110000"/>
              </a:lnSpc>
              <a:spcAft>
                <a:spcPts val="400"/>
              </a:spcAft>
            </a:pPr>
            <a:r>
              <a:rPr sz="4000" b="1">
                <a:solidFill>
                  <a:srgbClr val="111111"/>
                </a:solidFill>
                <a:latin typeface="Arial"/>
              </a:rPr>
              <a:t>1,5 mln</a:t>
            </a:r>
          </a:p>
          <a:p>
            <a:pPr>
              <a:lnSpc>
                <a:spcPct val="115000"/>
              </a:lnSpc>
              <a:spcAft>
                <a:spcPts val="0"/>
              </a:spcAft>
            </a:pPr>
            <a:r>
              <a:rPr sz="1500" b="0">
                <a:solidFill>
                  <a:srgbClr val="8E8E8E"/>
                </a:solidFill>
                <a:latin typeface="Arial"/>
              </a:rPr>
              <a:t>Markaziy Osiyoda kichik biznes egasi va tadbirkor</a:t>
            </a:r>
          </a:p>
        </p:txBody>
      </p:sp>
      <p:sp>
        <p:nvSpPr>
          <p:cNvPr id="5" name="TextBox 4"/>
          <p:cNvSpPr txBox="1"/>
          <p:nvPr/>
        </p:nvSpPr>
        <p:spPr>
          <a:xfrm>
            <a:off x="4328160" y="3657600"/>
            <a:ext cx="3230880" cy="1371600"/>
          </a:xfrm>
          <a:prstGeom prst="rect">
            <a:avLst/>
          </a:prstGeom>
          <a:noFill/>
        </p:spPr>
        <p:txBody>
          <a:bodyPr wrap="square">
            <a:spAutoFit/>
          </a:bodyPr>
          <a:lstStyle/>
          <a:p>
            <a:pPr>
              <a:lnSpc>
                <a:spcPct val="110000"/>
              </a:lnSpc>
              <a:spcAft>
                <a:spcPts val="400"/>
              </a:spcAft>
            </a:pPr>
            <a:r>
              <a:rPr sz="4000" b="1">
                <a:solidFill>
                  <a:srgbClr val="111111"/>
                </a:solidFill>
                <a:latin typeface="Arial"/>
              </a:rPr>
              <a:t>200 mln $</a:t>
            </a:r>
          </a:p>
          <a:p>
            <a:pPr>
              <a:lnSpc>
                <a:spcPct val="115000"/>
              </a:lnSpc>
              <a:spcAft>
                <a:spcPts val="0"/>
              </a:spcAft>
            </a:pPr>
            <a:r>
              <a:rPr sz="1500" b="0">
                <a:solidFill>
                  <a:srgbClr val="8E8E8E"/>
                </a:solidFill>
                <a:latin typeface="Arial"/>
              </a:rPr>
              <a:t>ular shunday xizmatga yiliga to‘lashi mumkin</a:t>
            </a:r>
          </a:p>
        </p:txBody>
      </p:sp>
      <p:sp>
        <p:nvSpPr>
          <p:cNvPr id="6" name="TextBox 5"/>
          <p:cNvSpPr txBox="1"/>
          <p:nvPr/>
        </p:nvSpPr>
        <p:spPr>
          <a:xfrm>
            <a:off x="7833360" y="3657600"/>
            <a:ext cx="3230880" cy="1371600"/>
          </a:xfrm>
          <a:prstGeom prst="rect">
            <a:avLst/>
          </a:prstGeom>
          <a:noFill/>
        </p:spPr>
        <p:txBody>
          <a:bodyPr wrap="square">
            <a:spAutoFit/>
          </a:bodyPr>
          <a:lstStyle/>
          <a:p>
            <a:pPr>
              <a:lnSpc>
                <a:spcPct val="110000"/>
              </a:lnSpc>
              <a:spcAft>
                <a:spcPts val="400"/>
              </a:spcAft>
            </a:pPr>
            <a:r>
              <a:rPr sz="4000" b="1">
                <a:solidFill>
                  <a:srgbClr val="111111"/>
                </a:solidFill>
                <a:latin typeface="Arial"/>
              </a:rPr>
              <a:t>1,5 mln $</a:t>
            </a:r>
          </a:p>
          <a:p>
            <a:pPr>
              <a:lnSpc>
                <a:spcPct val="115000"/>
              </a:lnSpc>
              <a:spcAft>
                <a:spcPts val="0"/>
              </a:spcAft>
            </a:pPr>
            <a:r>
              <a:rPr sz="1500" b="0">
                <a:solidFill>
                  <a:srgbClr val="8E8E8E"/>
                </a:solidFill>
                <a:latin typeface="Arial"/>
              </a:rPr>
              <a:t>biz 2 yil ichida olishni rejalashtirgan qism</a:t>
            </a:r>
          </a:p>
        </p:txBody>
      </p:sp>
      <p:sp>
        <p:nvSpPr>
          <p:cNvPr id="7" name="TextBox 6"/>
          <p:cNvSpPr txBox="1"/>
          <p:nvPr/>
        </p:nvSpPr>
        <p:spPr>
          <a:xfrm>
            <a:off x="822960" y="5623560"/>
            <a:ext cx="10515600" cy="548640"/>
          </a:xfrm>
          <a:prstGeom prst="rect">
            <a:avLst/>
          </a:prstGeom>
          <a:noFill/>
        </p:spPr>
        <p:txBody>
          <a:bodyPr wrap="square">
            <a:spAutoFit/>
          </a:bodyPr>
          <a:lstStyle/>
          <a:p>
            <a:pPr>
              <a:lnSpc>
                <a:spcPct val="110000"/>
              </a:lnSpc>
              <a:spcAft>
                <a:spcPts val="0"/>
              </a:spcAft>
            </a:pPr>
            <a:r>
              <a:rPr sz="1300" b="0">
                <a:solidFill>
                  <a:srgbClr val="8E8E8E"/>
                </a:solidFill>
                <a:latin typeface="Arial"/>
              </a:rPr>
              <a:t>Hisob oddiy: odam soni × bizning oylik narximiz. Raqamlar taxminiy, o‘z tarifimizdan hisoblangan.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QANDAY PUL ISHLAYMIZ</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400" b="0">
                <a:solidFill>
                  <a:srgbClr val="111111"/>
                </a:solidFill>
                <a:latin typeface="Arial"/>
              </a:rPr>
              <a:t>Oyiga to‘lanadi —
xuddi telefon aloqasi kabi.</a:t>
            </a:r>
          </a:p>
        </p:txBody>
      </p:sp>
      <p:sp>
        <p:nvSpPr>
          <p:cNvPr id="4" name="TextBox 3"/>
          <p:cNvSpPr txBox="1"/>
          <p:nvPr/>
        </p:nvSpPr>
        <p:spPr>
          <a:xfrm>
            <a:off x="822960" y="3520440"/>
            <a:ext cx="3230880" cy="1371600"/>
          </a:xfrm>
          <a:prstGeom prst="rect">
            <a:avLst/>
          </a:prstGeom>
          <a:noFill/>
        </p:spPr>
        <p:txBody>
          <a:bodyPr wrap="square">
            <a:spAutoFit/>
          </a:bodyPr>
          <a:lstStyle/>
          <a:p>
            <a:pPr>
              <a:lnSpc>
                <a:spcPct val="110000"/>
              </a:lnSpc>
              <a:spcAft>
                <a:spcPts val="400"/>
              </a:spcAft>
            </a:pPr>
            <a:r>
              <a:rPr sz="3200" b="1">
                <a:solidFill>
                  <a:srgbClr val="111111"/>
                </a:solidFill>
                <a:latin typeface="Arial"/>
              </a:rPr>
              <a:t>149 000 so‘m</a:t>
            </a:r>
          </a:p>
          <a:p>
            <a:pPr>
              <a:lnSpc>
                <a:spcPct val="115000"/>
              </a:lnSpc>
              <a:spcAft>
                <a:spcPts val="0"/>
              </a:spcAft>
            </a:pPr>
            <a:r>
              <a:rPr sz="1500" b="0">
                <a:solidFill>
                  <a:srgbClr val="8E8E8E"/>
                </a:solidFill>
                <a:latin typeface="Arial"/>
              </a:rPr>
              <a:t>oyiga — oddiy foydalanuvchi uchun</a:t>
            </a:r>
          </a:p>
        </p:txBody>
      </p:sp>
      <p:sp>
        <p:nvSpPr>
          <p:cNvPr id="5" name="TextBox 4"/>
          <p:cNvSpPr txBox="1"/>
          <p:nvPr/>
        </p:nvSpPr>
        <p:spPr>
          <a:xfrm>
            <a:off x="4328160" y="3520440"/>
            <a:ext cx="3230880" cy="1371600"/>
          </a:xfrm>
          <a:prstGeom prst="rect">
            <a:avLst/>
          </a:prstGeom>
          <a:noFill/>
        </p:spPr>
        <p:txBody>
          <a:bodyPr wrap="square">
            <a:spAutoFit/>
          </a:bodyPr>
          <a:lstStyle/>
          <a:p>
            <a:pPr>
              <a:lnSpc>
                <a:spcPct val="110000"/>
              </a:lnSpc>
              <a:spcAft>
                <a:spcPts val="400"/>
              </a:spcAft>
            </a:pPr>
            <a:r>
              <a:rPr sz="3200" b="1">
                <a:solidFill>
                  <a:srgbClr val="111111"/>
                </a:solidFill>
                <a:latin typeface="Arial"/>
              </a:rPr>
              <a:t>449 000 so‘m</a:t>
            </a:r>
          </a:p>
          <a:p>
            <a:pPr>
              <a:lnSpc>
                <a:spcPct val="115000"/>
              </a:lnSpc>
              <a:spcAft>
                <a:spcPts val="0"/>
              </a:spcAft>
            </a:pPr>
            <a:r>
              <a:rPr sz="1500" b="0">
                <a:solidFill>
                  <a:srgbClr val="8E8E8E"/>
                </a:solidFill>
                <a:latin typeface="Arial"/>
              </a:rPr>
              <a:t>oyiga — ko‘p ishlatadiganlar uchun</a:t>
            </a:r>
          </a:p>
        </p:txBody>
      </p:sp>
      <p:sp>
        <p:nvSpPr>
          <p:cNvPr id="6" name="TextBox 5"/>
          <p:cNvSpPr txBox="1"/>
          <p:nvPr/>
        </p:nvSpPr>
        <p:spPr>
          <a:xfrm>
            <a:off x="7833360" y="3520440"/>
            <a:ext cx="3230880" cy="1371600"/>
          </a:xfrm>
          <a:prstGeom prst="rect">
            <a:avLst/>
          </a:prstGeom>
          <a:noFill/>
        </p:spPr>
        <p:txBody>
          <a:bodyPr wrap="square">
            <a:spAutoFit/>
          </a:bodyPr>
          <a:lstStyle/>
          <a:p>
            <a:pPr>
              <a:lnSpc>
                <a:spcPct val="110000"/>
              </a:lnSpc>
              <a:spcAft>
                <a:spcPts val="400"/>
              </a:spcAft>
            </a:pPr>
            <a:r>
              <a:rPr sz="3200" b="1">
                <a:solidFill>
                  <a:srgbClr val="111111"/>
                </a:solidFill>
                <a:latin typeface="Arial"/>
              </a:rPr>
              <a:t>Kelishuv</a:t>
            </a:r>
          </a:p>
          <a:p>
            <a:pPr>
              <a:lnSpc>
                <a:spcPct val="115000"/>
              </a:lnSpc>
              <a:spcAft>
                <a:spcPts val="0"/>
              </a:spcAft>
            </a:pPr>
            <a:r>
              <a:rPr sz="1500" b="0">
                <a:solidFill>
                  <a:srgbClr val="8E8E8E"/>
                </a:solidFill>
                <a:latin typeface="Arial"/>
              </a:rPr>
              <a:t>kompaniyalar uchun alohida shart</a:t>
            </a:r>
          </a:p>
        </p:txBody>
      </p:sp>
      <p:sp>
        <p:nvSpPr>
          <p:cNvPr id="7" name="TextBox 6"/>
          <p:cNvSpPr txBox="1"/>
          <p:nvPr/>
        </p:nvSpPr>
        <p:spPr>
          <a:xfrm>
            <a:off x="822960" y="5029200"/>
            <a:ext cx="10515600" cy="2743200"/>
          </a:xfrm>
          <a:prstGeom prst="rect">
            <a:avLst/>
          </a:prstGeom>
          <a:noFill/>
        </p:spPr>
        <p:txBody>
          <a:bodyPr wrap="square">
            <a:spAutoFit/>
          </a:bodyPr>
          <a:lstStyle/>
          <a:p>
            <a:pPr>
              <a:lnSpc>
                <a:spcPct val="110000"/>
              </a:lnSpc>
              <a:spcAft>
                <a:spcPts val="1000"/>
              </a:spcAft>
            </a:pPr>
            <a:r>
              <a:rPr sz="1900" b="0">
                <a:solidFill>
                  <a:srgbClr val="111111"/>
                </a:solidFill>
                <a:latin typeface="Arial"/>
              </a:rPr>
              <a:t>Bitta javob bizga 80 so‘m turadi. Ya’ni har bir obunachidan foyda qoladi.</a:t>
            </a:r>
          </a:p>
          <a:p>
            <a:pPr>
              <a:lnSpc>
                <a:spcPct val="110000"/>
              </a:lnSpc>
              <a:spcAft>
                <a:spcPts val="1000"/>
              </a:spcAft>
            </a:pPr>
            <a:r>
              <a:rPr sz="1900" b="0">
                <a:solidFill>
                  <a:srgbClr val="111111"/>
                </a:solidFill>
                <a:latin typeface="Arial"/>
              </a:rPr>
              <a:t>Ustozlar o‘z egizagini qo‘yadi va obunachilaridan ulush oladi.</a:t>
            </a:r>
          </a:p>
          <a:p>
            <a:pPr>
              <a:lnSpc>
                <a:spcPct val="110000"/>
              </a:lnSpc>
              <a:spcAft>
                <a:spcPts val="1000"/>
              </a:spcAft>
            </a:pPr>
            <a:r>
              <a:rPr sz="1900" b="0">
                <a:solidFill>
                  <a:srgbClr val="111111"/>
                </a:solidFill>
                <a:latin typeface="Arial"/>
              </a:rPr>
              <a:t>Boshlash bepul: 3 ta savol pulsiz.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RAQOBAT</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600" b="0">
                <a:solidFill>
                  <a:srgbClr val="111111"/>
                </a:solidFill>
                <a:latin typeface="Arial"/>
              </a:rPr>
              <a:t>Boshqalar javob beradi.
Biz javobni isbotlaymiz.</a:t>
            </a:r>
          </a:p>
        </p:txBody>
      </p:sp>
      <p:sp>
        <p:nvSpPr>
          <p:cNvPr id="4" name="TextBox 3"/>
          <p:cNvSpPr txBox="1"/>
          <p:nvPr/>
        </p:nvSpPr>
        <p:spPr>
          <a:xfrm>
            <a:off x="822960" y="3749039"/>
            <a:ext cx="10515600" cy="2743200"/>
          </a:xfrm>
          <a:prstGeom prst="rect">
            <a:avLst/>
          </a:prstGeom>
          <a:noFill/>
        </p:spPr>
        <p:txBody>
          <a:bodyPr wrap="square">
            <a:spAutoFit/>
          </a:bodyPr>
          <a:lstStyle/>
          <a:p>
            <a:pPr>
              <a:lnSpc>
                <a:spcPct val="110000"/>
              </a:lnSpc>
              <a:spcAft>
                <a:spcPts val="1500"/>
              </a:spcAft>
            </a:pPr>
            <a:r>
              <a:rPr sz="2100" b="0">
                <a:solidFill>
                  <a:srgbClr val="8E8E8E"/>
                </a:solidFill>
                <a:latin typeface="Arial"/>
              </a:rPr>
              <a:t>Umumiy suhbat dasturlari  —  chiroyli gapiradi, lekin qayerdan olganini aytmaydi.</a:t>
            </a:r>
          </a:p>
          <a:p>
            <a:pPr>
              <a:lnSpc>
                <a:spcPct val="110000"/>
              </a:lnSpc>
              <a:spcAft>
                <a:spcPts val="1500"/>
              </a:spcAft>
            </a:pPr>
            <a:r>
              <a:rPr sz="2100" b="0">
                <a:solidFill>
                  <a:srgbClr val="8E8E8E"/>
                </a:solidFill>
                <a:latin typeface="Arial"/>
              </a:rPr>
              <a:t>Kurs saytlari  —  video beradi, sizning savolingizga javob bermaydi.</a:t>
            </a:r>
          </a:p>
          <a:p>
            <a:pPr>
              <a:lnSpc>
                <a:spcPct val="110000"/>
              </a:lnSpc>
              <a:spcAft>
                <a:spcPts val="1500"/>
              </a:spcAft>
            </a:pPr>
            <a:r>
              <a:rPr sz="2100" b="0">
                <a:solidFill>
                  <a:srgbClr val="8E8E8E"/>
                </a:solidFill>
                <a:latin typeface="Arial"/>
              </a:rPr>
              <a:t>Idoraviy qidiruv tizimlari  —  hujjatni topadi, lekin o‘rgatmaydi.</a:t>
            </a:r>
          </a:p>
        </p:txBody>
      </p:sp>
      <p:sp>
        <p:nvSpPr>
          <p:cNvPr id="5" name="TextBox 4"/>
          <p:cNvSpPr txBox="1"/>
          <p:nvPr/>
        </p:nvSpPr>
        <p:spPr>
          <a:xfrm>
            <a:off x="822960" y="5623560"/>
            <a:ext cx="10515600" cy="2743200"/>
          </a:xfrm>
          <a:prstGeom prst="rect">
            <a:avLst/>
          </a:prstGeom>
          <a:noFill/>
        </p:spPr>
        <p:txBody>
          <a:bodyPr wrap="square">
            <a:spAutoFit/>
          </a:bodyPr>
          <a:lstStyle/>
          <a:p>
            <a:pPr>
              <a:lnSpc>
                <a:spcPct val="110000"/>
              </a:lnSpc>
              <a:spcAft>
                <a:spcPts val="1600"/>
              </a:spcAft>
            </a:pPr>
            <a:r>
              <a:rPr sz="2300" b="0">
                <a:solidFill>
                  <a:srgbClr val="111111"/>
                </a:solidFill>
                <a:latin typeface="Arial"/>
              </a:rPr>
              <a:t>Biz  —  javob beramiz, ustoz ovozi bilan isbotlaymiz va o‘rgatamiz.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BUGUNGI HOLAT</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800" b="0">
                <a:solidFill>
                  <a:srgbClr val="111111"/>
                </a:solidFill>
                <a:latin typeface="Arial"/>
              </a:rPr>
              <a:t>Bu g‘oya emas —
bugun ishlab turibdi.</a:t>
            </a:r>
          </a:p>
        </p:txBody>
      </p:sp>
      <p:sp>
        <p:nvSpPr>
          <p:cNvPr id="4" name="TextBox 3"/>
          <p:cNvSpPr txBox="1"/>
          <p:nvPr/>
        </p:nvSpPr>
        <p:spPr>
          <a:xfrm>
            <a:off x="822960" y="3246120"/>
            <a:ext cx="3230880" cy="1371600"/>
          </a:xfrm>
          <a:prstGeom prst="rect">
            <a:avLst/>
          </a:prstGeom>
          <a:noFill/>
        </p:spPr>
        <p:txBody>
          <a:bodyPr wrap="square">
            <a:spAutoFit/>
          </a:bodyPr>
          <a:lstStyle/>
          <a:p>
            <a:pPr>
              <a:lnSpc>
                <a:spcPct val="110000"/>
              </a:lnSpc>
              <a:spcAft>
                <a:spcPts val="400"/>
              </a:spcAft>
            </a:pPr>
            <a:r>
              <a:rPr sz="3400" b="1">
                <a:solidFill>
                  <a:srgbClr val="111111"/>
                </a:solidFill>
                <a:latin typeface="Arial"/>
              </a:rPr>
              <a:t>Ishlayapti</a:t>
            </a:r>
          </a:p>
          <a:p>
            <a:pPr>
              <a:lnSpc>
                <a:spcPct val="115000"/>
              </a:lnSpc>
              <a:spcAft>
                <a:spcPts val="0"/>
              </a:spcAft>
            </a:pPr>
            <a:r>
              <a:rPr sz="1500" b="0">
                <a:solidFill>
                  <a:srgbClr val="8E8E8E"/>
                </a:solidFill>
                <a:latin typeface="Arial"/>
              </a:rPr>
              <a:t>twin.bmslab.uz — o‘z serverimizda</a:t>
            </a:r>
          </a:p>
        </p:txBody>
      </p:sp>
      <p:sp>
        <p:nvSpPr>
          <p:cNvPr id="5" name="TextBox 4"/>
          <p:cNvSpPr txBox="1"/>
          <p:nvPr/>
        </p:nvSpPr>
        <p:spPr>
          <a:xfrm>
            <a:off x="4328160" y="3246120"/>
            <a:ext cx="3230880" cy="1371600"/>
          </a:xfrm>
          <a:prstGeom prst="rect">
            <a:avLst/>
          </a:prstGeom>
          <a:noFill/>
        </p:spPr>
        <p:txBody>
          <a:bodyPr wrap="square">
            <a:spAutoFit/>
          </a:bodyPr>
          <a:lstStyle/>
          <a:p>
            <a:pPr>
              <a:lnSpc>
                <a:spcPct val="110000"/>
              </a:lnSpc>
              <a:spcAft>
                <a:spcPts val="400"/>
              </a:spcAft>
            </a:pPr>
            <a:r>
              <a:rPr sz="3400" b="1">
                <a:solidFill>
                  <a:srgbClr val="111111"/>
                </a:solidFill>
                <a:latin typeface="Arial"/>
              </a:rPr>
              <a:t>2 897</a:t>
            </a:r>
          </a:p>
          <a:p>
            <a:pPr>
              <a:lnSpc>
                <a:spcPct val="115000"/>
              </a:lnSpc>
              <a:spcAft>
                <a:spcPts val="0"/>
              </a:spcAft>
            </a:pPr>
            <a:r>
              <a:rPr sz="1500" b="0">
                <a:solidFill>
                  <a:srgbClr val="8E8E8E"/>
                </a:solidFill>
                <a:latin typeface="Arial"/>
              </a:rPr>
              <a:t>qidiriladigan bilim parchasi</a:t>
            </a:r>
          </a:p>
        </p:txBody>
      </p:sp>
      <p:sp>
        <p:nvSpPr>
          <p:cNvPr id="6" name="TextBox 5"/>
          <p:cNvSpPr txBox="1"/>
          <p:nvPr/>
        </p:nvSpPr>
        <p:spPr>
          <a:xfrm>
            <a:off x="7833360" y="3246120"/>
            <a:ext cx="3230880" cy="1371600"/>
          </a:xfrm>
          <a:prstGeom prst="rect">
            <a:avLst/>
          </a:prstGeom>
          <a:noFill/>
        </p:spPr>
        <p:txBody>
          <a:bodyPr wrap="square">
            <a:spAutoFit/>
          </a:bodyPr>
          <a:lstStyle/>
          <a:p>
            <a:pPr>
              <a:lnSpc>
                <a:spcPct val="110000"/>
              </a:lnSpc>
              <a:spcAft>
                <a:spcPts val="400"/>
              </a:spcAft>
            </a:pPr>
            <a:r>
              <a:rPr sz="3400" b="1">
                <a:solidFill>
                  <a:srgbClr val="111111"/>
                </a:solidFill>
                <a:latin typeface="Arial"/>
              </a:rPr>
              <a:t>43 soat</a:t>
            </a:r>
          </a:p>
          <a:p>
            <a:pPr>
              <a:lnSpc>
                <a:spcPct val="115000"/>
              </a:lnSpc>
              <a:spcAft>
                <a:spcPts val="0"/>
              </a:spcAft>
            </a:pPr>
            <a:r>
              <a:rPr sz="1500" b="0">
                <a:solidFill>
                  <a:srgbClr val="8E8E8E"/>
                </a:solidFill>
                <a:latin typeface="Arial"/>
              </a:rPr>
              <a:t>ustoz darslari ichiga kiritilgan</a:t>
            </a:r>
          </a:p>
        </p:txBody>
      </p:sp>
      <p:sp>
        <p:nvSpPr>
          <p:cNvPr id="7" name="TextBox 6"/>
          <p:cNvSpPr txBox="1"/>
          <p:nvPr/>
        </p:nvSpPr>
        <p:spPr>
          <a:xfrm>
            <a:off x="822960" y="4754879"/>
            <a:ext cx="3230880" cy="1371600"/>
          </a:xfrm>
          <a:prstGeom prst="rect">
            <a:avLst/>
          </a:prstGeom>
          <a:noFill/>
        </p:spPr>
        <p:txBody>
          <a:bodyPr wrap="square">
            <a:spAutoFit/>
          </a:bodyPr>
          <a:lstStyle/>
          <a:p>
            <a:pPr>
              <a:lnSpc>
                <a:spcPct val="110000"/>
              </a:lnSpc>
              <a:spcAft>
                <a:spcPts val="400"/>
              </a:spcAft>
            </a:pPr>
            <a:r>
              <a:rPr sz="3400" b="1">
                <a:solidFill>
                  <a:srgbClr val="111111"/>
                </a:solidFill>
                <a:latin typeface="Arial"/>
              </a:rPr>
              <a:t>3 soniya</a:t>
            </a:r>
          </a:p>
          <a:p>
            <a:pPr>
              <a:lnSpc>
                <a:spcPct val="115000"/>
              </a:lnSpc>
              <a:spcAft>
                <a:spcPts val="0"/>
              </a:spcAft>
            </a:pPr>
            <a:r>
              <a:rPr sz="1500" b="0">
                <a:solidFill>
                  <a:srgbClr val="8E8E8E"/>
                </a:solidFill>
                <a:latin typeface="Arial"/>
              </a:rPr>
              <a:t>javobning kelish vaqti</a:t>
            </a:r>
          </a:p>
        </p:txBody>
      </p:sp>
      <p:sp>
        <p:nvSpPr>
          <p:cNvPr id="8" name="TextBox 7"/>
          <p:cNvSpPr txBox="1"/>
          <p:nvPr/>
        </p:nvSpPr>
        <p:spPr>
          <a:xfrm>
            <a:off x="4328160" y="4754879"/>
            <a:ext cx="3230880" cy="1371600"/>
          </a:xfrm>
          <a:prstGeom prst="rect">
            <a:avLst/>
          </a:prstGeom>
          <a:noFill/>
        </p:spPr>
        <p:txBody>
          <a:bodyPr wrap="square">
            <a:spAutoFit/>
          </a:bodyPr>
          <a:lstStyle/>
          <a:p>
            <a:pPr>
              <a:lnSpc>
                <a:spcPct val="110000"/>
              </a:lnSpc>
              <a:spcAft>
                <a:spcPts val="400"/>
              </a:spcAft>
            </a:pPr>
            <a:r>
              <a:rPr sz="3400" b="1">
                <a:solidFill>
                  <a:srgbClr val="111111"/>
                </a:solidFill>
                <a:latin typeface="Arial"/>
              </a:rPr>
              <a:t>80 so‘m</a:t>
            </a:r>
          </a:p>
          <a:p>
            <a:pPr>
              <a:lnSpc>
                <a:spcPct val="115000"/>
              </a:lnSpc>
              <a:spcAft>
                <a:spcPts val="0"/>
              </a:spcAft>
            </a:pPr>
            <a:r>
              <a:rPr sz="1500" b="0">
                <a:solidFill>
                  <a:srgbClr val="8E8E8E"/>
                </a:solidFill>
                <a:latin typeface="Arial"/>
              </a:rPr>
              <a:t>bitta javobning tannarxi</a:t>
            </a:r>
          </a:p>
        </p:txBody>
      </p:sp>
      <p:sp>
        <p:nvSpPr>
          <p:cNvPr id="9" name="TextBox 8"/>
          <p:cNvSpPr txBox="1"/>
          <p:nvPr/>
        </p:nvSpPr>
        <p:spPr>
          <a:xfrm>
            <a:off x="7833360" y="4754879"/>
            <a:ext cx="3230880" cy="1371600"/>
          </a:xfrm>
          <a:prstGeom prst="rect">
            <a:avLst/>
          </a:prstGeom>
          <a:noFill/>
        </p:spPr>
        <p:txBody>
          <a:bodyPr wrap="square">
            <a:spAutoFit/>
          </a:bodyPr>
          <a:lstStyle/>
          <a:p>
            <a:pPr>
              <a:lnSpc>
                <a:spcPct val="110000"/>
              </a:lnSpc>
              <a:spcAft>
                <a:spcPts val="400"/>
              </a:spcAft>
            </a:pPr>
            <a:r>
              <a:rPr sz="3400" b="1">
                <a:solidFill>
                  <a:srgbClr val="111111"/>
                </a:solidFill>
                <a:latin typeface="Arial"/>
              </a:rPr>
              <a:t>8 kun</a:t>
            </a:r>
          </a:p>
          <a:p>
            <a:pPr>
              <a:lnSpc>
                <a:spcPct val="115000"/>
              </a:lnSpc>
              <a:spcAft>
                <a:spcPts val="0"/>
              </a:spcAft>
            </a:pPr>
            <a:r>
              <a:rPr sz="1500" b="0">
                <a:solidFill>
                  <a:srgbClr val="8E8E8E"/>
                </a:solidFill>
                <a:latin typeface="Arial"/>
              </a:rPr>
              <a:t>shu tizimni qurishga ketgan vaqt</a:t>
            </a:r>
          </a:p>
        </p:txBody>
      </p:sp>
      <p:sp>
        <p:nvSpPr>
          <p:cNvPr id="10" name="TextBox 9"/>
          <p:cNvSpPr txBox="1"/>
          <p:nvPr/>
        </p:nvSpPr>
        <p:spPr>
          <a:xfrm>
            <a:off x="822960" y="6172200"/>
            <a:ext cx="10515600" cy="548640"/>
          </a:xfrm>
          <a:prstGeom prst="rect">
            <a:avLst/>
          </a:prstGeom>
          <a:noFill/>
        </p:spPr>
        <p:txBody>
          <a:bodyPr wrap="square">
            <a:spAutoFit/>
          </a:bodyPr>
          <a:lstStyle/>
          <a:p>
            <a:pPr>
              <a:lnSpc>
                <a:spcPct val="110000"/>
              </a:lnSpc>
              <a:spcAft>
                <a:spcPts val="0"/>
              </a:spcAft>
            </a:pPr>
            <a:r>
              <a:rPr sz="1300" b="0">
                <a:solidFill>
                  <a:srgbClr val="8E8E8E"/>
                </a:solidFill>
                <a:latin typeface="Arial"/>
              </a:rPr>
              <a:t>Barcha raqamlar ishlab turgan tizimda o‘lchangan. Tizimni aldashga urinib ham ko‘rdik — aldanmadi.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SO‘ROVIMIZ</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5200" b="0">
                <a:solidFill>
                  <a:srgbClr val="111111"/>
                </a:solidFill>
                <a:latin typeface="Arial"/>
              </a:rPr>
              <a:t>Bizga sinov maydoni kerak.</a:t>
            </a:r>
          </a:p>
        </p:txBody>
      </p:sp>
      <p:sp>
        <p:nvSpPr>
          <p:cNvPr id="4" name="TextBox 3"/>
          <p:cNvSpPr txBox="1"/>
          <p:nvPr/>
        </p:nvSpPr>
        <p:spPr>
          <a:xfrm>
            <a:off x="822960" y="3246120"/>
            <a:ext cx="10515600" cy="2743200"/>
          </a:xfrm>
          <a:prstGeom prst="rect">
            <a:avLst/>
          </a:prstGeom>
          <a:noFill/>
        </p:spPr>
        <p:txBody>
          <a:bodyPr wrap="square">
            <a:spAutoFit/>
          </a:bodyPr>
          <a:lstStyle/>
          <a:p>
            <a:pPr>
              <a:lnSpc>
                <a:spcPct val="110000"/>
              </a:lnSpc>
              <a:spcAft>
                <a:spcPts val="1800"/>
              </a:spcAft>
            </a:pPr>
            <a:r>
              <a:rPr sz="2100" b="0">
                <a:solidFill>
                  <a:srgbClr val="111111"/>
                </a:solidFill>
                <a:latin typeface="Arial"/>
              </a:rPr>
              <a:t>1.  Sinov uchun 3 ta ta’lim muassasasi  —  bizga real o‘quvchi kerak.</a:t>
            </a:r>
          </a:p>
          <a:p>
            <a:pPr>
              <a:lnSpc>
                <a:spcPct val="110000"/>
              </a:lnSpc>
              <a:spcAft>
                <a:spcPts val="1800"/>
              </a:spcAft>
            </a:pPr>
            <a:r>
              <a:rPr sz="2100" b="0">
                <a:solidFill>
                  <a:srgbClr val="111111"/>
                </a:solidFill>
                <a:latin typeface="Arial"/>
              </a:rPr>
              <a:t>2.  Bir yilga 150 000 dollar  —  asosan jamoani 3 kishidan 7 kishiga ko‘paytirishga.</a:t>
            </a:r>
          </a:p>
          <a:p>
            <a:pPr>
              <a:lnSpc>
                <a:spcPct val="110000"/>
              </a:lnSpc>
              <a:spcAft>
                <a:spcPts val="1800"/>
              </a:spcAft>
            </a:pPr>
            <a:r>
              <a:rPr sz="2100" b="0">
                <a:solidFill>
                  <a:srgbClr val="111111"/>
                </a:solidFill>
                <a:latin typeface="Arial"/>
              </a:rPr>
              <a:t>3.  Maslahat va tanishtiruv  —  ta’lim sohasi va huquq bo‘yicha.</a:t>
            </a:r>
          </a:p>
        </p:txBody>
      </p:sp>
      <p:sp>
        <p:nvSpPr>
          <p:cNvPr id="5" name="TextBox 4"/>
          <p:cNvSpPr txBox="1"/>
          <p:nvPr/>
        </p:nvSpPr>
        <p:spPr>
          <a:xfrm>
            <a:off x="822960" y="5349240"/>
            <a:ext cx="10515600" cy="2743200"/>
          </a:xfrm>
          <a:prstGeom prst="rect">
            <a:avLst/>
          </a:prstGeom>
          <a:noFill/>
        </p:spPr>
        <p:txBody>
          <a:bodyPr wrap="square">
            <a:spAutoFit/>
          </a:bodyPr>
          <a:lstStyle/>
          <a:p>
            <a:pPr>
              <a:lnSpc>
                <a:spcPct val="110000"/>
              </a:lnSpc>
              <a:spcAft>
                <a:spcPts val="1600"/>
              </a:spcAft>
            </a:pPr>
            <a:r>
              <a:rPr sz="2100" b="0">
                <a:solidFill>
                  <a:srgbClr val="111111"/>
                </a:solidFill>
                <a:latin typeface="Arial"/>
              </a:rPr>
              <a:t>Bir yildan keyin kutayotganimiz: 50 ta ustoz egizagi va 10 000 foydalanuvchi.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REJA</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5000" b="0">
                <a:solidFill>
                  <a:srgbClr val="111111"/>
                </a:solidFill>
                <a:latin typeface="Arial"/>
              </a:rPr>
              <a:t>Qurish tugadi.
Endi o‘stiramiz.</a:t>
            </a:r>
          </a:p>
        </p:txBody>
      </p:sp>
      <p:sp>
        <p:nvSpPr>
          <p:cNvPr id="4" name="TextBox 3"/>
          <p:cNvSpPr txBox="1"/>
          <p:nvPr/>
        </p:nvSpPr>
        <p:spPr>
          <a:xfrm>
            <a:off x="822960" y="3611880"/>
            <a:ext cx="10515600" cy="2743200"/>
          </a:xfrm>
          <a:prstGeom prst="rect">
            <a:avLst/>
          </a:prstGeom>
          <a:noFill/>
        </p:spPr>
        <p:txBody>
          <a:bodyPr wrap="square">
            <a:spAutoFit/>
          </a:bodyPr>
          <a:lstStyle/>
          <a:p>
            <a:pPr>
              <a:lnSpc>
                <a:spcPct val="110000"/>
              </a:lnSpc>
              <a:spcAft>
                <a:spcPts val="2000"/>
              </a:spcAft>
            </a:pPr>
            <a:r>
              <a:rPr sz="2100" b="0">
                <a:solidFill>
                  <a:srgbClr val="111111"/>
                </a:solidFill>
                <a:latin typeface="Arial"/>
              </a:rPr>
              <a:t>1-yil   —   Ustozlar o‘zi kelib egizak yaratadi. Telefon orqali gaplashish qo‘shiladi.</a:t>
            </a:r>
          </a:p>
          <a:p>
            <a:pPr>
              <a:lnSpc>
                <a:spcPct val="110000"/>
              </a:lnSpc>
              <a:spcAft>
                <a:spcPts val="2000"/>
              </a:spcAft>
            </a:pPr>
            <a:r>
              <a:rPr sz="2100" b="0">
                <a:solidFill>
                  <a:srgbClr val="111111"/>
                </a:solidFill>
                <a:latin typeface="Arial"/>
              </a:rPr>
              <a:t>2-yil   —   Kompaniyalar va ta’lim muassasalari uchun alohida ko‘rinish. Rus tili.</a:t>
            </a:r>
          </a:p>
          <a:p>
            <a:pPr>
              <a:lnSpc>
                <a:spcPct val="110000"/>
              </a:lnSpc>
              <a:spcAft>
                <a:spcPts val="2000"/>
              </a:spcAft>
            </a:pPr>
            <a:r>
              <a:rPr sz="2100" b="0">
                <a:solidFill>
                  <a:srgbClr val="111111"/>
                </a:solidFill>
                <a:latin typeface="Arial"/>
              </a:rPr>
              <a:t>3-yil   —   Qo‘shni davlatlar: qozoq, qirg‘iz, tojik tillari.</a:t>
            </a:r>
          </a:p>
        </p:txBody>
      </p:sp>
      <p:sp>
        <p:nvSpPr>
          <p:cNvPr id="5" name="TextBox 4"/>
          <p:cNvSpPr txBox="1"/>
          <p:nvPr/>
        </p:nvSpPr>
        <p:spPr>
          <a:xfrm>
            <a:off x="822960" y="5760720"/>
            <a:ext cx="10515600" cy="548640"/>
          </a:xfrm>
          <a:prstGeom prst="rect">
            <a:avLst/>
          </a:prstGeom>
          <a:noFill/>
        </p:spPr>
        <p:txBody>
          <a:bodyPr wrap="square">
            <a:spAutoFit/>
          </a:bodyPr>
          <a:lstStyle/>
          <a:p>
            <a:pPr>
              <a:lnSpc>
                <a:spcPct val="110000"/>
              </a:lnSpc>
              <a:spcAft>
                <a:spcPts val="0"/>
              </a:spcAft>
            </a:pPr>
            <a:r>
              <a:rPr sz="1300" b="0">
                <a:solidFill>
                  <a:srgbClr val="8E8E8E"/>
                </a:solidFill>
                <a:latin typeface="Arial"/>
              </a:rPr>
              <a:t>Loyiha 2026-yil iyulda boshlangan. Bir oyda mahsulot jonli holatga chiqdi.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JAMOA</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400" b="0">
                <a:solidFill>
                  <a:srgbClr val="111111"/>
                </a:solidFill>
                <a:latin typeface="Arial"/>
              </a:rPr>
              <a:t>Biz bu ishni allaqachon qilib ko‘rsatdik.</a:t>
            </a:r>
          </a:p>
        </p:txBody>
      </p:sp>
      <p:sp>
        <p:nvSpPr>
          <p:cNvPr id="4" name="TextBox 3"/>
          <p:cNvSpPr txBox="1"/>
          <p:nvPr/>
        </p:nvSpPr>
        <p:spPr>
          <a:xfrm>
            <a:off x="822960" y="3383280"/>
            <a:ext cx="10515600" cy="2743200"/>
          </a:xfrm>
          <a:prstGeom prst="rect">
            <a:avLst/>
          </a:prstGeom>
          <a:noFill/>
        </p:spPr>
        <p:txBody>
          <a:bodyPr wrap="square">
            <a:spAutoFit/>
          </a:bodyPr>
          <a:lstStyle/>
          <a:p>
            <a:pPr>
              <a:lnSpc>
                <a:spcPct val="110000"/>
              </a:lnSpc>
              <a:spcAft>
                <a:spcPts val="2000"/>
              </a:spcAft>
            </a:pPr>
            <a:r>
              <a:rPr sz="2100" b="0">
                <a:solidFill>
                  <a:srgbClr val="111111"/>
                </a:solidFill>
                <a:latin typeface="Arial"/>
              </a:rPr>
              <a:t>‹Ism Familiya›   —   rahbar.   ‹Nima qiladi, necha yil tajriba›</a:t>
            </a:r>
          </a:p>
          <a:p>
            <a:pPr>
              <a:lnSpc>
                <a:spcPct val="110000"/>
              </a:lnSpc>
              <a:spcAft>
                <a:spcPts val="2000"/>
              </a:spcAft>
            </a:pPr>
            <a:r>
              <a:rPr sz="2100" b="0">
                <a:solidFill>
                  <a:srgbClr val="111111"/>
                </a:solidFill>
                <a:latin typeface="Arial"/>
              </a:rPr>
              <a:t>‹Ism Familiya›   —   dasturchi.   ‹Nima qiladi, necha yil tajriba›</a:t>
            </a:r>
          </a:p>
          <a:p>
            <a:pPr>
              <a:lnSpc>
                <a:spcPct val="110000"/>
              </a:lnSpc>
              <a:spcAft>
                <a:spcPts val="2000"/>
              </a:spcAft>
            </a:pPr>
            <a:r>
              <a:rPr sz="2100" b="0">
                <a:solidFill>
                  <a:srgbClr val="111111"/>
                </a:solidFill>
                <a:latin typeface="Arial"/>
              </a:rPr>
              <a:t>‹Ism Familiya›   —   ustozlar bilan ishlaydi.   ‹Nima qiladi, necha yil tajriba›</a:t>
            </a:r>
          </a:p>
        </p:txBody>
      </p:sp>
      <p:sp>
        <p:nvSpPr>
          <p:cNvPr id="5" name="TextBox 4"/>
          <p:cNvSpPr txBox="1"/>
          <p:nvPr/>
        </p:nvSpPr>
        <p:spPr>
          <a:xfrm>
            <a:off x="822960" y="5486400"/>
            <a:ext cx="10515600" cy="2743200"/>
          </a:xfrm>
          <a:prstGeom prst="rect">
            <a:avLst/>
          </a:prstGeom>
          <a:noFill/>
        </p:spPr>
        <p:txBody>
          <a:bodyPr wrap="square">
            <a:spAutoFit/>
          </a:bodyPr>
          <a:lstStyle/>
          <a:p>
            <a:pPr>
              <a:lnSpc>
                <a:spcPct val="110000"/>
              </a:lnSpc>
              <a:spcAft>
                <a:spcPts val="1600"/>
              </a:spcAft>
            </a:pPr>
            <a:r>
              <a:rPr sz="2100" b="0">
                <a:solidFill>
                  <a:srgbClr val="111111"/>
                </a:solidFill>
                <a:latin typeface="Arial"/>
              </a:rPr>
              <a:t>Bizda g‘oya emas, ishlab turgan mahsulot bor. Va ustozlar bilan tayyor ish aloqasi bor.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15600" cy="365760"/>
          </a:xfrm>
          <a:prstGeom prst="rect">
            <a:avLst/>
          </a:prstGeom>
          <a:noFill/>
        </p:spPr>
        <p:txBody>
          <a:bodyPr wrap="none">
            <a:spAutoFit/>
          </a:bodyPr>
          <a:lstStyle/>
          <a:p>
            <a:pPr>
              <a:lnSpc>
                <a:spcPct val="110000"/>
              </a:lnSpc>
              <a:spcAft>
                <a:spcPts val="0"/>
              </a:spcAft>
            </a:pPr>
            <a:r>
              <a:rPr sz="1300" b="1">
                <a:solidFill>
                  <a:srgbClr val="8E8E8E"/>
                </a:solidFill>
                <a:latin typeface="Arial"/>
              </a:rPr>
              <a:t>QO‘SHIMCHA</a:t>
            </a:r>
          </a:p>
        </p:txBody>
      </p:sp>
      <p:sp>
        <p:nvSpPr>
          <p:cNvPr id="3" name="TextBox 2"/>
          <p:cNvSpPr txBox="1"/>
          <p:nvPr/>
        </p:nvSpPr>
        <p:spPr>
          <a:xfrm>
            <a:off x="822960" y="1325880"/>
            <a:ext cx="10515600" cy="1828800"/>
          </a:xfrm>
          <a:prstGeom prst="rect">
            <a:avLst/>
          </a:prstGeom>
          <a:noFill/>
        </p:spPr>
        <p:txBody>
          <a:bodyPr wrap="square">
            <a:spAutoFit/>
          </a:bodyPr>
          <a:lstStyle/>
          <a:p>
            <a:pPr>
              <a:lnSpc>
                <a:spcPct val="112000"/>
              </a:lnSpc>
              <a:spcAft>
                <a:spcPts val="0"/>
              </a:spcAft>
            </a:pPr>
            <a:r>
              <a:rPr sz="4800" b="0">
                <a:solidFill>
                  <a:srgbClr val="111111"/>
                </a:solidFill>
                <a:latin typeface="Arial"/>
              </a:rPr>
              <a:t>Tizim hech narsani
o‘zi o‘ylab topmaydi.</a:t>
            </a:r>
          </a:p>
        </p:txBody>
      </p:sp>
      <p:sp>
        <p:nvSpPr>
          <p:cNvPr id="4" name="TextBox 3"/>
          <p:cNvSpPr txBox="1"/>
          <p:nvPr/>
        </p:nvSpPr>
        <p:spPr>
          <a:xfrm>
            <a:off x="822960" y="3611880"/>
            <a:ext cx="10515600" cy="2743200"/>
          </a:xfrm>
          <a:prstGeom prst="rect">
            <a:avLst/>
          </a:prstGeom>
          <a:noFill/>
        </p:spPr>
        <p:txBody>
          <a:bodyPr wrap="square">
            <a:spAutoFit/>
          </a:bodyPr>
          <a:lstStyle/>
          <a:p>
            <a:pPr>
              <a:lnSpc>
                <a:spcPct val="110000"/>
              </a:lnSpc>
              <a:spcAft>
                <a:spcPts val="1500"/>
              </a:spcAft>
            </a:pPr>
            <a:r>
              <a:rPr sz="2100" b="0">
                <a:solidFill>
                  <a:srgbClr val="111111"/>
                </a:solidFill>
                <a:latin typeface="Arial"/>
              </a:rPr>
              <a:t>Faqat yuklangan bilimdan gapiradi  —  boshqa joydan emas.</a:t>
            </a:r>
          </a:p>
          <a:p>
            <a:pPr>
              <a:lnSpc>
                <a:spcPct val="110000"/>
              </a:lnSpc>
              <a:spcAft>
                <a:spcPts val="1500"/>
              </a:spcAft>
            </a:pPr>
            <a:r>
              <a:rPr sz="2100" b="0">
                <a:solidFill>
                  <a:srgbClr val="111111"/>
                </a:solidFill>
                <a:latin typeface="Arial"/>
              </a:rPr>
              <a:t>Isbotlab bo‘lmaydigan gap javobga tushmaydi.</a:t>
            </a:r>
          </a:p>
          <a:p>
            <a:pPr>
              <a:lnSpc>
                <a:spcPct val="110000"/>
              </a:lnSpc>
              <a:spcAft>
                <a:spcPts val="1500"/>
              </a:spcAft>
            </a:pPr>
            <a:r>
              <a:rPr sz="2100" b="0">
                <a:solidFill>
                  <a:srgbClr val="111111"/>
                </a:solidFill>
                <a:latin typeface="Arial"/>
              </a:rPr>
              <a:t>Har ustozning bilimi alohida saqlanadi, aralashmaydi.</a:t>
            </a:r>
          </a:p>
          <a:p>
            <a:pPr>
              <a:lnSpc>
                <a:spcPct val="110000"/>
              </a:lnSpc>
              <a:spcAft>
                <a:spcPts val="1500"/>
              </a:spcAft>
            </a:pPr>
            <a:r>
              <a:rPr sz="2100" b="0">
                <a:solidFill>
                  <a:srgbClr val="111111"/>
                </a:solidFill>
                <a:latin typeface="Arial"/>
              </a:rPr>
              <a:t>Pulga tegishli qarorlarni sun’iy intellekt emas, oddiy dastur qabul qiladi.</a:t>
            </a:r>
          </a:p>
        </p:txBody>
      </p:sp>
      <p:sp>
        <p:nvSpPr>
          <p:cNvPr id="5" name="TextBox 4"/>
          <p:cNvSpPr txBox="1"/>
          <p:nvPr/>
        </p:nvSpPr>
        <p:spPr>
          <a:xfrm>
            <a:off x="822960" y="5943600"/>
            <a:ext cx="10515600" cy="548640"/>
          </a:xfrm>
          <a:prstGeom prst="rect">
            <a:avLst/>
          </a:prstGeom>
          <a:noFill/>
        </p:spPr>
        <p:txBody>
          <a:bodyPr wrap="square">
            <a:spAutoFit/>
          </a:bodyPr>
          <a:lstStyle/>
          <a:p>
            <a:pPr>
              <a:lnSpc>
                <a:spcPct val="110000"/>
              </a:lnSpc>
              <a:spcAft>
                <a:spcPts val="0"/>
              </a:spcAft>
            </a:pPr>
            <a:r>
              <a:rPr sz="1300" b="0">
                <a:solidFill>
                  <a:srgbClr val="8E8E8E"/>
                </a:solidFill>
                <a:latin typeface="Arial"/>
              </a:rPr>
              <a:t>Yuklangan hujjat ichiga yashirin buyruq yozib tizimni aldash urinishlari sinab ko‘rildi — tizim ularga bo‘ysunmadi.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