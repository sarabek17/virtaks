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c:ser>
          <c:idx val="0"/>
          <c:order val="0"/>
          <c:tx>
            <c:strRef>
              <c:f>Sheet1!$B$1</c:f>
              <c:strCache>
                <c:ptCount val="1"/>
                <c:pt idx="0">
                  <c:v>Taqsimot</c:v>
                </c:pt>
              </c:strCache>
            </c:strRef>
          </c:tx>
          <c:dPt>
            <c:idx val="0"/>
            <c:spPr>
              <a:solidFill>
                <a:srgbClr val="C15F3C"/>
              </a:solidFill>
              <a:ln w="38100">
                <a:solidFill>
                  <a:srgbClr val="FAF9F7"/>
                </a:solidFill>
              </a:ln>
            </c:spPr>
          </c:dPt>
          <c:dPt>
            <c:idx val="1"/>
            <c:spPr>
              <a:solidFill>
                <a:srgbClr val="252422"/>
              </a:solidFill>
              <a:ln w="38100">
                <a:solidFill>
                  <a:srgbClr val="FAF9F7"/>
                </a:solidFill>
              </a:ln>
            </c:spPr>
          </c:dPt>
          <c:dPt>
            <c:idx val="2"/>
            <c:spPr>
              <a:solidFill>
                <a:srgbClr val="D9A584"/>
              </a:solidFill>
              <a:ln w="38100">
                <a:solidFill>
                  <a:srgbClr val="FAF9F7"/>
                </a:solidFill>
              </a:ln>
            </c:spPr>
          </c:dPt>
          <c:dPt>
            <c:idx val="3"/>
            <c:spPr>
              <a:solidFill>
                <a:srgbClr val="8E462C"/>
              </a:solidFill>
              <a:ln w="38100">
                <a:solidFill>
                  <a:srgbClr val="FAF9F7"/>
                </a:solidFill>
              </a:ln>
            </c:spPr>
          </c:dPt>
          <c:cat>
            <c:strRef>
              <c:f>Sheet1!$A$2:$A$5</c:f>
              <c:strCache>
                <c:ptCount val="4"/>
                <c:pt idx="0">
                  <c:v>Jamoa va ish haqi</c:v>
                </c:pt>
                <c:pt idx="1">
                  <c:v>Mahsulotni rivojlantirish</c:v>
                </c:pt>
                <c:pt idx="2">
                  <c:v>Server va model xarajati</c:v>
                </c:pt>
                <c:pt idx="3">
                  <c:v>Sotuv va marketing</c:v>
                </c:pt>
              </c:strCache>
            </c:strRef>
          </c:cat>
          <c:val>
            <c:numRef>
              <c:f>Sheet1!$B$2:$B$5</c:f>
              <c:numCache>
                <c:formatCode>General</c:formatCode>
                <c:ptCount val="4"/>
                <c:pt idx="0">
                  <c:v>0.35</c:v>
                </c:pt>
                <c:pt idx="1">
                  <c:v>0.25</c:v>
                </c:pt>
                <c:pt idx="2">
                  <c:v>0.15</c:v>
                </c:pt>
                <c:pt idx="3">
                  <c:v>0.25</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Salom. Bizning loyihamiz — Digital Twin. Biz ustozning butun bilimini raqamli egizakka aylantiramiz: o'quvchi savol beradi, egizak ustozning o'z darslariga tayanib javob beradi va javob ostida manbani ko'rsatadi. Platforma bugun jonli ishlaydi — twin.bmslab.uz.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Muammo oddiy. Ustoz o'n yillab bilim to'playdi — darslar, kitoblar, vebinarlar. Lekin bu bilim tartibsiz turadi. O'quvchi savol berganda javob qayerdaligini hech kim bilmaydi. Shu sababli ustoz bir xil savolga yuz marta javob beradi, o'quvchi esa kutadi.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Bitta fikrni yodda tuting: bilim allaqachon mavjud, uni yaratish shart emas. Muammo — uni topib bo'lmasligi. Biz aynan shuni hal qilamiz.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Mahsulot ikki qadamdan iborat. Birinchi qadam — ustozning bilimi platformaga yuklanadi: video, audio, kitob, slayd, havola. Gapirilgan so'z matnga aylanadi. Ikkinchi qadam — o'quvchi savol beradi va javob oladi. Eng muhimi: har javob ostida manba turadi. Bosasiz — o'sha darsning aynan o'sha daqiqasi ochiladi. Ya'ni javobni tekshirib ko'rish mumkin.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Raqobatni brend bo'yicha emas, toifa bo'yicha taqqoslaymiz. Umumiy suhbat dasturlari hamma narsani biladi, lekin sizning ustozingizni bilmaydi. Onlayn kurslar bilim beradi, lekin savolga javob bermaydi. Ichki qidiruv hujjatni topadi, lekin javob yozmaydi. Biz to'rttasini birlashtirdik va ustiga eng muhimini qo'shdik — har javob manbaga bog'langan.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Bizga to'laydigan to'rt toifa bor. Birinchisi — ustozlar va murabbiylar. Ikkinchisi — o'quv markazlari. Uchinchisi — korxonalar: tajribali xodim ishdan ketganda uning bilimi qolishi kerak. To'rtinchisi — nashriyot va media. Maqsadimiz — Markaziy Osiyoda bilim egalari uchun asosiy platformaga aylanish.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Daromad modeli oddiy. Uch savol bepul — odam kartasiz sinab ko'radi. Keyin oylik obuna: bazaviy 149 ming so'm, professional 449 ming, korxona uchun kelishuv asosida. Nega bu ishlaydi? Chunki bitta javob bizga 80 so'm turadi. Hatto eng ko'p savol beradigan mijozda ham ustama uch yarim barobardan kam tushmaydi.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Yo'l xaritasi. Birinchi chorakda uchta sinov muassasasi, keyin 50, 200 va yil oxirida 500 obunachi. Bu yiliga taxminan 894 million so'm takrorlanuvchi daromad. 2027 yilda O'zbekiston bo'ylab kengayamiz, 2028 da Markaziy Osiyoga chiqamiz. Raqamlar — reja, kafolat emas.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g'oya emas. Platforma bugun ishlab turibdi: twin.bmslab.uz. Ikki ming sakkiz yuz to'qson yetti bilim parchasi qidiruvda, qirq uch soat dars matnga aylantirilgan, javob uch soniyada boshlanadi va bitta javob bizga sakson so'm turadi. Yigirma bir mavzuli kurs avtomatik qurildi, vazifa avtomatik baholanadi.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Bozor. Dunyo bo'ylab onlayn ta'lim va korporativ o'quv bozori taxminan 350 milliard dollar. Markaziy Osiyoda bizga tegishli qism 200 million dollar atrofida. Ikki yil ichida biz bir yarim million dollarni olishni rejalashtiramiz — bu mintaqadagi bir yarim million ustoz va o'quv markazining ikki foizi.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So'rovimiz — 150 ming dollar. Uchdan bir qismi jamoaga, chorak qismi mahsulotni rivojlantirishga, o'n besh foizi server va model xarajatiga, chorak qismi sotuv va marketingga. Muhimi shuki: platforma allaqachon qurilgan va ishlayapti — pul mijoz orttirishga ketadi, noldan qurishga emas.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Jamoa. [Bu yerda har bir a'zoning ismi, roli va eng kuchli tajribasini ayting — nega aynan siz bu ishni uddalay olasiz.]</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E'tiboringiz uchun rahmat. Bilim yo'qolmasligi kerak — u ishlashi kerak. Platforma jonli: twin.bmslab.uz. Savollaringizni kutamiz.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298680" y="1051560"/>
            <a:ext cx="61722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161520" y="982980"/>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685800"/>
            <a:ext cx="8229600" cy="1005840"/>
          </a:xfrm>
          <a:prstGeom prst="rect">
            <a:avLst/>
          </a:prstGeom>
          <a:noFill/>
        </p:spPr>
        <p:txBody>
          <a:bodyPr wrap="square" anchor="t" lIns="0" rIns="0" tIns="0" bIns="0">
            <a:spAutoFit/>
          </a:bodyPr>
          <a:lstStyle/>
          <a:p>
            <a:pPr>
              <a:lnSpc>
                <a:spcPct val="100000"/>
              </a:lnSpc>
            </a:pPr>
            <a:r>
              <a:rPr sz="4800" b="1">
                <a:solidFill>
                  <a:srgbClr val="C15F3C"/>
                </a:solidFill>
                <a:latin typeface="Arial Black"/>
              </a:rPr>
              <a:t>DIGITAL </a:t>
            </a:r>
            <a:r>
              <a:rPr sz="4800" b="1">
                <a:solidFill>
                  <a:srgbClr val="1F1E1C"/>
                </a:solidFill>
                <a:latin typeface="Arial Black"/>
              </a:rPr>
              <a:t>TWIN</a:t>
            </a:r>
          </a:p>
        </p:txBody>
      </p:sp>
      <p:sp>
        <p:nvSpPr>
          <p:cNvPr id="6" name="Rectangle 5"/>
          <p:cNvSpPr/>
          <p:nvPr/>
        </p:nvSpPr>
        <p:spPr>
          <a:xfrm>
            <a:off x="1005840" y="1572768"/>
            <a:ext cx="5989320" cy="45720"/>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80360"/>
            <a:ext cx="9418320" cy="1266092"/>
          </a:xfrm>
          <a:prstGeom prst="rect">
            <a:avLst/>
          </a:prstGeom>
          <a:noFill/>
        </p:spPr>
        <p:txBody>
          <a:bodyPr wrap="square" anchor="t" lIns="0" rIns="0" tIns="0" bIns="0">
            <a:spAutoFit/>
          </a:bodyPr>
          <a:lstStyle/>
          <a:p>
            <a:pPr algn="l">
              <a:lnSpc>
                <a:spcPct val="118000"/>
              </a:lnSpc>
              <a:spcAft>
                <a:spcPts val="0"/>
              </a:spcAft>
            </a:pPr>
            <a:r>
              <a:rPr sz="4600" b="1" i="0">
                <a:solidFill>
                  <a:srgbClr val="1F1E1C"/>
                </a:solidFill>
                <a:latin typeface="Arial Black"/>
              </a:rPr>
              <a:t>Ustozning bilimini
har doim javob beradigan
raqamli egizakka aylantiramiz</a:t>
            </a:r>
          </a:p>
        </p:txBody>
      </p:sp>
      <p:sp>
        <p:nvSpPr>
          <p:cNvPr id="8" name="TextBox 7"/>
          <p:cNvSpPr txBox="1"/>
          <p:nvPr/>
        </p:nvSpPr>
        <p:spPr>
          <a:xfrm>
            <a:off x="1005840" y="8092440"/>
            <a:ext cx="9144000" cy="914400"/>
          </a:xfrm>
          <a:prstGeom prst="rect">
            <a:avLst/>
          </a:prstGeom>
          <a:noFill/>
        </p:spPr>
        <p:txBody>
          <a:bodyPr wrap="square" anchor="t" lIns="0" rIns="0" tIns="0" bIns="0">
            <a:spAutoFit/>
          </a:bodyPr>
          <a:lstStyle/>
          <a:p>
            <a:pPr algn="l">
              <a:lnSpc>
                <a:spcPct val="120000"/>
              </a:lnSpc>
              <a:spcAft>
                <a:spcPts val="0"/>
              </a:spcAft>
            </a:pPr>
            <a:r>
              <a:rPr sz="2200" b="1" i="0">
                <a:solidFill>
                  <a:srgbClr val="1F1E1C"/>
                </a:solidFill>
                <a:latin typeface="Segoe UI"/>
              </a:rPr>
              <a:t>Bilim va ta'lim uchun AI platforma</a:t>
            </a:r>
          </a:p>
        </p:txBody>
      </p:sp>
      <p:sp>
        <p:nvSpPr>
          <p:cNvPr id="9" name="Rectangle 8"/>
          <p:cNvSpPr/>
          <p:nvPr/>
        </p:nvSpPr>
        <p:spPr>
          <a:xfrm>
            <a:off x="-182880" y="8796528"/>
            <a:ext cx="137160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395960" y="8727948"/>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9006840"/>
            <a:ext cx="10972800" cy="914400"/>
          </a:xfrm>
          <a:prstGeom prst="rect">
            <a:avLst/>
          </a:prstGeom>
          <a:noFill/>
        </p:spPr>
        <p:txBody>
          <a:bodyPr wrap="square" anchor="t" lIns="0" rIns="0" tIns="0" bIns="0">
            <a:spAutoFit/>
          </a:bodyPr>
          <a:lstStyle/>
          <a:p>
            <a:pPr algn="l">
              <a:lnSpc>
                <a:spcPct val="120000"/>
              </a:lnSpc>
              <a:spcAft>
                <a:spcPts val="0"/>
              </a:spcAft>
            </a:pPr>
            <a:r>
              <a:rPr sz="1800" b="1" i="0">
                <a:solidFill>
                  <a:srgbClr val="C15F3C"/>
                </a:solidFill>
                <a:latin typeface="Segoe UI"/>
              </a:rPr>
              <a:t>https://twin.bmslab.uz     ·     Prezident Tech Award 2026</a:t>
            </a:r>
          </a:p>
        </p:txBody>
      </p:sp>
      <p:sp>
        <p:nvSpPr>
          <p:cNvPr id="12" name="Rounded Rectangle 11"/>
          <p:cNvSpPr/>
          <p:nvPr/>
        </p:nvSpPr>
        <p:spPr>
          <a:xfrm>
            <a:off x="11109960" y="2057400"/>
            <a:ext cx="6355080" cy="5989320"/>
          </a:xfrm>
          <a:prstGeom prst="roundRect">
            <a:avLst>
              <a:gd name="adj" fmla="val 3500"/>
            </a:avLst>
          </a:prstGeom>
          <a:solidFill>
            <a:srgbClr val="FFFFFF"/>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430000" y="2331720"/>
            <a:ext cx="146304" cy="146304"/>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04320" y="2331720"/>
            <a:ext cx="146304" cy="146304"/>
          </a:xfrm>
          <a:prstGeom prst="ellipse">
            <a:avLst/>
          </a:prstGeom>
          <a:solidFill>
            <a:srgbClr val="A8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978640" y="2331720"/>
            <a:ext cx="146304" cy="146304"/>
          </a:xfrm>
          <a:prstGeom prst="ellipse">
            <a:avLst/>
          </a:prstGeom>
          <a:solidFill>
            <a:srgbClr val="A8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109960" y="2788920"/>
            <a:ext cx="6355080" cy="18288"/>
          </a:xfrm>
          <a:prstGeom prst="rect">
            <a:avLst/>
          </a:prstGeom>
          <a:solidFill>
            <a:srgbClr val="E4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430000" y="3063240"/>
            <a:ext cx="566928" cy="566928"/>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0" y="3172968"/>
            <a:ext cx="566928" cy="914400"/>
          </a:xfrm>
          <a:prstGeom prst="rect">
            <a:avLst/>
          </a:prstGeom>
          <a:noFill/>
        </p:spPr>
        <p:txBody>
          <a:bodyPr wrap="square" anchor="t" lIns="0" rIns="0" tIns="0" bIns="0">
            <a:spAutoFit/>
          </a:bodyPr>
          <a:lstStyle/>
          <a:p>
            <a:pPr algn="ctr">
              <a:lnSpc>
                <a:spcPct val="120000"/>
              </a:lnSpc>
              <a:spcAft>
                <a:spcPts val="0"/>
              </a:spcAft>
            </a:pPr>
            <a:r>
              <a:rPr sz="2200" b="1" i="0">
                <a:solidFill>
                  <a:srgbClr val="FFFFFF"/>
                </a:solidFill>
                <a:latin typeface="Segoe UI"/>
              </a:rPr>
              <a:t>U</a:t>
            </a:r>
          </a:p>
        </p:txBody>
      </p:sp>
      <p:sp>
        <p:nvSpPr>
          <p:cNvPr id="19" name="TextBox 18"/>
          <p:cNvSpPr txBox="1"/>
          <p:nvPr/>
        </p:nvSpPr>
        <p:spPr>
          <a:xfrm>
            <a:off x="12161520" y="3127248"/>
            <a:ext cx="4572000" cy="914400"/>
          </a:xfrm>
          <a:prstGeom prst="rect">
            <a:avLst/>
          </a:prstGeom>
          <a:noFill/>
        </p:spPr>
        <p:txBody>
          <a:bodyPr wrap="square" anchor="t" lIns="0" rIns="0" tIns="0" bIns="0">
            <a:spAutoFit/>
          </a:bodyPr>
          <a:lstStyle/>
          <a:p>
            <a:pPr algn="l">
              <a:lnSpc>
                <a:spcPct val="120000"/>
              </a:lnSpc>
              <a:spcAft>
                <a:spcPts val="0"/>
              </a:spcAft>
            </a:pPr>
            <a:r>
              <a:rPr sz="1700" b="1" i="0">
                <a:solidFill>
                  <a:srgbClr val="1F1E1C"/>
                </a:solidFill>
                <a:latin typeface="Segoe UI"/>
              </a:rPr>
              <a:t>Ustoz — raqamli egizak</a:t>
            </a:r>
          </a:p>
        </p:txBody>
      </p:sp>
      <p:sp>
        <p:nvSpPr>
          <p:cNvPr id="20" name="TextBox 19"/>
          <p:cNvSpPr txBox="1"/>
          <p:nvPr/>
        </p:nvSpPr>
        <p:spPr>
          <a:xfrm>
            <a:off x="12161520" y="3401568"/>
            <a:ext cx="4572000" cy="914400"/>
          </a:xfrm>
          <a:prstGeom prst="rect">
            <a:avLst/>
          </a:prstGeom>
          <a:noFill/>
        </p:spPr>
        <p:txBody>
          <a:bodyPr wrap="square" anchor="t" lIns="0" rIns="0" tIns="0" bIns="0">
            <a:spAutoFit/>
          </a:bodyPr>
          <a:lstStyle/>
          <a:p>
            <a:pPr algn="l">
              <a:lnSpc>
                <a:spcPct val="120000"/>
              </a:lnSpc>
              <a:spcAft>
                <a:spcPts val="0"/>
              </a:spcAft>
            </a:pPr>
            <a:r>
              <a:rPr sz="1300" b="0" i="0">
                <a:solidFill>
                  <a:srgbClr val="C15F3C"/>
                </a:solidFill>
                <a:latin typeface="Segoe UI"/>
              </a:rPr>
              <a:t>onlayn</a:t>
            </a:r>
          </a:p>
        </p:txBody>
      </p:sp>
      <p:sp>
        <p:nvSpPr>
          <p:cNvPr id="21" name="Rounded Rectangle 20"/>
          <p:cNvSpPr/>
          <p:nvPr/>
        </p:nvSpPr>
        <p:spPr>
          <a:xfrm>
            <a:off x="13304520" y="3977639"/>
            <a:ext cx="3977639" cy="658368"/>
          </a:xfrm>
          <a:prstGeom prst="roundRect">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487400" y="4160520"/>
            <a:ext cx="3657600" cy="914400"/>
          </a:xfrm>
          <a:prstGeom prst="rect">
            <a:avLst/>
          </a:prstGeom>
          <a:noFill/>
        </p:spPr>
        <p:txBody>
          <a:bodyPr wrap="square" anchor="t" lIns="0" rIns="0" tIns="0" bIns="0">
            <a:spAutoFit/>
          </a:bodyPr>
          <a:lstStyle/>
          <a:p>
            <a:pPr algn="l">
              <a:lnSpc>
                <a:spcPct val="120000"/>
              </a:lnSpc>
              <a:spcAft>
                <a:spcPts val="0"/>
              </a:spcAft>
            </a:pPr>
            <a:r>
              <a:rPr sz="1500" b="0" i="0">
                <a:solidFill>
                  <a:srgbClr val="1F1E1C"/>
                </a:solidFill>
                <a:latin typeface="Segoe UI"/>
              </a:rPr>
              <a:t>Hisobotni qanday boshlayman?</a:t>
            </a:r>
          </a:p>
        </p:txBody>
      </p:sp>
      <p:sp>
        <p:nvSpPr>
          <p:cNvPr id="23" name="Rounded Rectangle 22"/>
          <p:cNvSpPr/>
          <p:nvPr/>
        </p:nvSpPr>
        <p:spPr>
          <a:xfrm>
            <a:off x="11384280" y="4846320"/>
            <a:ext cx="5074920" cy="1965960"/>
          </a:xfrm>
          <a:prstGeom prst="roundRect">
            <a:avLst/>
          </a:prstGeom>
          <a:solidFill>
            <a:srgbClr val="FFFFFF"/>
          </a:solidFill>
          <a:ln w="12700">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12880" y="5047488"/>
            <a:ext cx="4617720" cy="1554480"/>
          </a:xfrm>
          <a:prstGeom prst="rect">
            <a:avLst/>
          </a:prstGeom>
          <a:noFill/>
        </p:spPr>
        <p:txBody>
          <a:bodyPr wrap="square" anchor="t" lIns="0" rIns="0" tIns="0" bIns="0">
            <a:spAutoFit/>
          </a:bodyPr>
          <a:lstStyle/>
          <a:p>
            <a:pPr algn="l">
              <a:lnSpc>
                <a:spcPct val="130000"/>
              </a:lnSpc>
              <a:spcAft>
                <a:spcPts val="0"/>
              </a:spcAft>
            </a:pPr>
            <a:r>
              <a:rPr sz="1500" b="0" i="0">
                <a:solidFill>
                  <a:srgbClr val="1F1E1C"/>
                </a:solidFill>
                <a:latin typeface="Segoe UI"/>
              </a:rPr>
              <a:t>Avval maqsadni bitta jumlada yozing. Keyin uchta raqam qo'ying: hozirgi holat, kutilgan natija va muddat.</a:t>
            </a:r>
          </a:p>
        </p:txBody>
      </p:sp>
      <p:sp>
        <p:nvSpPr>
          <p:cNvPr id="25" name="Rounded Rectangle 24"/>
          <p:cNvSpPr/>
          <p:nvPr/>
        </p:nvSpPr>
        <p:spPr>
          <a:xfrm>
            <a:off x="11384280" y="6967728"/>
            <a:ext cx="3246120" cy="475488"/>
          </a:xfrm>
          <a:prstGeom prst="round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384280" y="7086600"/>
            <a:ext cx="3246120" cy="914400"/>
          </a:xfrm>
          <a:prstGeom prst="rect">
            <a:avLst/>
          </a:prstGeom>
          <a:noFill/>
        </p:spPr>
        <p:txBody>
          <a:bodyPr wrap="square" anchor="t" lIns="0" rIns="0" tIns="0" bIns="0">
            <a:spAutoFit/>
          </a:bodyPr>
          <a:lstStyle/>
          <a:p>
            <a:pPr algn="ctr">
              <a:lnSpc>
                <a:spcPct val="120000"/>
              </a:lnSpc>
              <a:spcAft>
                <a:spcPts val="0"/>
              </a:spcAft>
            </a:pPr>
            <a:r>
              <a:rPr sz="1400" b="1" i="0">
                <a:solidFill>
                  <a:srgbClr val="FFFFFF"/>
                </a:solidFill>
                <a:latin typeface="Segoe UI"/>
              </a:rPr>
              <a:t>12-dars · 41:20</a:t>
            </a:r>
          </a:p>
        </p:txBody>
      </p:sp>
      <p:sp>
        <p:nvSpPr>
          <p:cNvPr id="27" name="TextBox 26"/>
          <p:cNvSpPr txBox="1"/>
          <p:nvPr/>
        </p:nvSpPr>
        <p:spPr>
          <a:xfrm>
            <a:off x="14767559" y="7095744"/>
            <a:ext cx="2743200" cy="914400"/>
          </a:xfrm>
          <a:prstGeom prst="rect">
            <a:avLst/>
          </a:prstGeom>
          <a:noFill/>
        </p:spPr>
        <p:txBody>
          <a:bodyPr wrap="square" anchor="t" lIns="0" rIns="0" tIns="0" bIns="0">
            <a:spAutoFit/>
          </a:bodyPr>
          <a:lstStyle/>
          <a:p>
            <a:pPr algn="l">
              <a:lnSpc>
                <a:spcPct val="120000"/>
              </a:lnSpc>
              <a:spcAft>
                <a:spcPts val="0"/>
              </a:spcAft>
            </a:pPr>
            <a:r>
              <a:rPr sz="1400" b="0" i="0">
                <a:solidFill>
                  <a:srgbClr val="6F6B63"/>
                </a:solidFill>
                <a:latin typeface="Segoe UI"/>
              </a:rPr>
              <a:t>manbani ochish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298680" y="1051560"/>
            <a:ext cx="61722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161520" y="982980"/>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86868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86868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4208" y="86868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91640"/>
            <a:ext cx="8778240" cy="2926080"/>
          </a:xfrm>
          <a:prstGeom prst="rect">
            <a:avLst/>
          </a:prstGeom>
          <a:noFill/>
        </p:spPr>
        <p:txBody>
          <a:bodyPr wrap="square" anchor="t" lIns="0" rIns="0" tIns="0" bIns="0">
            <a:spAutoFit/>
          </a:bodyPr>
          <a:lstStyle/>
          <a:p>
            <a:pPr algn="l">
              <a:lnSpc>
                <a:spcPct val="122000"/>
              </a:lnSpc>
              <a:spcAft>
                <a:spcPts val="0"/>
              </a:spcAft>
            </a:pPr>
            <a:r>
              <a:rPr sz="4000" b="1" i="0">
                <a:solidFill>
                  <a:srgbClr val="1F1E1C"/>
                </a:solidFill>
                <a:latin typeface="Arial Black"/>
              </a:rPr>
              <a:t>Ustoz yillar davomida to'plagan bilim </a:t>
            </a:r>
            <a:r>
              <a:rPr sz="5800" b="1">
                <a:solidFill>
                  <a:srgbClr val="C15F3C"/>
                </a:solidFill>
                <a:latin typeface="Arial Black"/>
              </a:rPr>
              <a:t>yo'qoladi.</a:t>
            </a:r>
          </a:p>
        </p:txBody>
      </p:sp>
      <p:sp>
        <p:nvSpPr>
          <p:cNvPr id="11" name="TextBox 10"/>
          <p:cNvSpPr txBox="1"/>
          <p:nvPr/>
        </p:nvSpPr>
        <p:spPr>
          <a:xfrm>
            <a:off x="1005840" y="5440680"/>
            <a:ext cx="8961120" cy="914400"/>
          </a:xfrm>
          <a:prstGeom prst="rect">
            <a:avLst/>
          </a:prstGeom>
          <a:noFill/>
        </p:spPr>
        <p:txBody>
          <a:bodyPr wrap="square" anchor="t" lIns="0" rIns="0" tIns="0" bIns="0">
            <a:spAutoFit/>
          </a:bodyPr>
          <a:lstStyle/>
          <a:p>
            <a:pPr algn="l">
              <a:lnSpc>
                <a:spcPct val="120000"/>
              </a:lnSpc>
              <a:spcAft>
                <a:spcPts val="0"/>
              </a:spcAft>
            </a:pPr>
            <a:r>
              <a:rPr sz="1900" b="0" i="0">
                <a:solidFill>
                  <a:srgbClr val="1F1E1C"/>
                </a:solidFill>
                <a:latin typeface="Segoe UI"/>
              </a:rPr>
              <a:t>Darslar yozib olinadi, kitoblar yoziladi, vebinarlar o'tkaziladi — lekin kerak bo'lgan payt kerakli javobni topib bo'lmaydi.</a:t>
            </a:r>
          </a:p>
        </p:txBody>
      </p:sp>
      <p:sp>
        <p:nvSpPr>
          <p:cNvPr id="12" name="TextBox 11"/>
          <p:cNvSpPr txBox="1"/>
          <p:nvPr/>
        </p:nvSpPr>
        <p:spPr>
          <a:xfrm>
            <a:off x="1005840" y="6720840"/>
            <a:ext cx="8961120" cy="914400"/>
          </a:xfrm>
          <a:prstGeom prst="rect">
            <a:avLst/>
          </a:prstGeom>
          <a:noFill/>
        </p:spPr>
        <p:txBody>
          <a:bodyPr wrap="square" anchor="t" lIns="0" rIns="0" tIns="0" bIns="0">
            <a:spAutoFit/>
          </a:bodyPr>
          <a:lstStyle/>
          <a:p>
            <a:pPr algn="l">
              <a:lnSpc>
                <a:spcPct val="120000"/>
              </a:lnSpc>
              <a:spcAft>
                <a:spcPts val="0"/>
              </a:spcAft>
            </a:pPr>
            <a:r>
              <a:rPr sz="1900" b="0" i="0">
                <a:solidFill>
                  <a:srgbClr val="1F1E1C"/>
                </a:solidFill>
                <a:latin typeface="Segoe UI"/>
              </a:rPr>
              <a:t>O'quvchi bir xil savolni takrorlaydi, ustoz bir xil javobni yuz marta beradi. Ikkalasining ham vaqti ketadi, bilim esa hech qayerda to'planmaydi.</a:t>
            </a:r>
          </a:p>
        </p:txBody>
      </p:sp>
      <p:sp>
        <p:nvSpPr>
          <p:cNvPr id="13" name="Rounded Rectangle 12"/>
          <p:cNvSpPr/>
          <p:nvPr/>
        </p:nvSpPr>
        <p:spPr>
          <a:xfrm>
            <a:off x="11109960" y="1874519"/>
            <a:ext cx="6355080" cy="5989320"/>
          </a:xfrm>
          <a:prstGeom prst="round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58600" y="2331720"/>
            <a:ext cx="5303520" cy="914400"/>
          </a:xfrm>
          <a:prstGeom prst="rect">
            <a:avLst/>
          </a:prstGeom>
          <a:noFill/>
        </p:spPr>
        <p:txBody>
          <a:bodyPr wrap="square" anchor="t" lIns="0" rIns="0" tIns="0" bIns="0">
            <a:spAutoFit/>
          </a:bodyPr>
          <a:lstStyle/>
          <a:p>
            <a:pPr algn="l">
              <a:lnSpc>
                <a:spcPct val="120000"/>
              </a:lnSpc>
              <a:spcAft>
                <a:spcPts val="0"/>
              </a:spcAft>
            </a:pPr>
            <a:r>
              <a:rPr sz="1500" b="1" i="0">
                <a:solidFill>
                  <a:srgbClr val="E39B76"/>
                </a:solidFill>
                <a:latin typeface="Segoe UI"/>
              </a:rPr>
              <a:t>BILIM QAYERDA?</a:t>
            </a:r>
          </a:p>
        </p:txBody>
      </p:sp>
      <p:sp>
        <p:nvSpPr>
          <p:cNvPr id="15" name="Rounded Rectangle 14"/>
          <p:cNvSpPr/>
          <p:nvPr/>
        </p:nvSpPr>
        <p:spPr>
          <a:xfrm>
            <a:off x="11658600" y="3063240"/>
            <a:ext cx="5303520" cy="658368"/>
          </a:xfrm>
          <a:prstGeom prst="roundRect">
            <a:avLst/>
          </a:prstGeom>
          <a:solidFill>
            <a:srgbClr val="605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32920" y="3246120"/>
            <a:ext cx="4754880" cy="914400"/>
          </a:xfrm>
          <a:prstGeom prst="rect">
            <a:avLst/>
          </a:prstGeom>
          <a:noFill/>
        </p:spPr>
        <p:txBody>
          <a:bodyPr wrap="square" anchor="t" lIns="0" rIns="0" tIns="0" bIns="0">
            <a:spAutoFit/>
          </a:bodyPr>
          <a:lstStyle/>
          <a:p>
            <a:pPr algn="l">
              <a:lnSpc>
                <a:spcPct val="120000"/>
              </a:lnSpc>
              <a:spcAft>
                <a:spcPts val="0"/>
              </a:spcAft>
            </a:pPr>
            <a:r>
              <a:rPr sz="1700" b="0" i="0">
                <a:solidFill>
                  <a:srgbClr val="FFFFFF"/>
                </a:solidFill>
                <a:latin typeface="Segoe UI"/>
              </a:rPr>
              <a:t>43 soat video dars</a:t>
            </a:r>
          </a:p>
        </p:txBody>
      </p:sp>
      <p:sp>
        <p:nvSpPr>
          <p:cNvPr id="17" name="Rounded Rectangle 16"/>
          <p:cNvSpPr/>
          <p:nvPr/>
        </p:nvSpPr>
        <p:spPr>
          <a:xfrm>
            <a:off x="11658600" y="3959352"/>
            <a:ext cx="5303520" cy="658368"/>
          </a:xfrm>
          <a:prstGeom prst="roundRect">
            <a:avLst/>
          </a:prstGeom>
          <a:solidFill>
            <a:srgbClr val="4F4E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932920" y="4142232"/>
            <a:ext cx="4754880" cy="914400"/>
          </a:xfrm>
          <a:prstGeom prst="rect">
            <a:avLst/>
          </a:prstGeom>
          <a:noFill/>
        </p:spPr>
        <p:txBody>
          <a:bodyPr wrap="square" anchor="t" lIns="0" rIns="0" tIns="0" bIns="0">
            <a:spAutoFit/>
          </a:bodyPr>
          <a:lstStyle/>
          <a:p>
            <a:pPr algn="l">
              <a:lnSpc>
                <a:spcPct val="120000"/>
              </a:lnSpc>
              <a:spcAft>
                <a:spcPts val="0"/>
              </a:spcAft>
            </a:pPr>
            <a:r>
              <a:rPr sz="1700" b="0" i="0">
                <a:solidFill>
                  <a:srgbClr val="D2D1CF"/>
                </a:solidFill>
                <a:latin typeface="Segoe UI"/>
              </a:rPr>
              <a:t>2 897 sahifa matn</a:t>
            </a:r>
          </a:p>
        </p:txBody>
      </p:sp>
      <p:sp>
        <p:nvSpPr>
          <p:cNvPr id="19" name="Rounded Rectangle 18"/>
          <p:cNvSpPr/>
          <p:nvPr/>
        </p:nvSpPr>
        <p:spPr>
          <a:xfrm>
            <a:off x="11658600" y="4855464"/>
            <a:ext cx="5303520" cy="658368"/>
          </a:xfrm>
          <a:prstGeom prst="roundRect">
            <a:avLst/>
          </a:prstGeom>
          <a:solidFill>
            <a:srgbClr val="424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932920" y="5038344"/>
            <a:ext cx="4754880" cy="914400"/>
          </a:xfrm>
          <a:prstGeom prst="rect">
            <a:avLst/>
          </a:prstGeom>
          <a:noFill/>
        </p:spPr>
        <p:txBody>
          <a:bodyPr wrap="square" anchor="t" lIns="0" rIns="0" tIns="0" bIns="0">
            <a:spAutoFit/>
          </a:bodyPr>
          <a:lstStyle/>
          <a:p>
            <a:pPr algn="l">
              <a:lnSpc>
                <a:spcPct val="120000"/>
              </a:lnSpc>
              <a:spcAft>
                <a:spcPts val="0"/>
              </a:spcAft>
            </a:pPr>
            <a:r>
              <a:rPr sz="1700" b="0" i="0">
                <a:solidFill>
                  <a:srgbClr val="AFADAA"/>
                </a:solidFill>
                <a:latin typeface="Segoe UI"/>
              </a:rPr>
              <a:t>Kitoblar va slaydlar</a:t>
            </a:r>
          </a:p>
        </p:txBody>
      </p:sp>
      <p:sp>
        <p:nvSpPr>
          <p:cNvPr id="21" name="Rounded Rectangle 20"/>
          <p:cNvSpPr/>
          <p:nvPr/>
        </p:nvSpPr>
        <p:spPr>
          <a:xfrm>
            <a:off x="11658600" y="5751576"/>
            <a:ext cx="5303520" cy="658368"/>
          </a:xfrm>
          <a:prstGeom prst="roundRect">
            <a:avLst/>
          </a:prstGeom>
          <a:solidFill>
            <a:srgbClr val="3837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932920" y="5934456"/>
            <a:ext cx="4754880" cy="914400"/>
          </a:xfrm>
          <a:prstGeom prst="rect">
            <a:avLst/>
          </a:prstGeom>
          <a:noFill/>
        </p:spPr>
        <p:txBody>
          <a:bodyPr wrap="square" anchor="t" lIns="0" rIns="0" tIns="0" bIns="0">
            <a:spAutoFit/>
          </a:bodyPr>
          <a:lstStyle/>
          <a:p>
            <a:pPr algn="l">
              <a:lnSpc>
                <a:spcPct val="120000"/>
              </a:lnSpc>
              <a:spcAft>
                <a:spcPts val="0"/>
              </a:spcAft>
            </a:pPr>
            <a:r>
              <a:rPr sz="1700" b="0" i="0">
                <a:solidFill>
                  <a:srgbClr val="92908C"/>
                </a:solidFill>
                <a:latin typeface="Segoe UI"/>
              </a:rPr>
              <a:t>Telegram yozishmalari</a:t>
            </a:r>
          </a:p>
        </p:txBody>
      </p:sp>
      <p:sp>
        <p:nvSpPr>
          <p:cNvPr id="23" name="Rounded Rectangle 22"/>
          <p:cNvSpPr/>
          <p:nvPr/>
        </p:nvSpPr>
        <p:spPr>
          <a:xfrm>
            <a:off x="11658600" y="6647688"/>
            <a:ext cx="5303520" cy="658368"/>
          </a:xfrm>
          <a:prstGeom prst="roundRect">
            <a:avLst/>
          </a:prstGeom>
          <a:solidFill>
            <a:srgbClr val="2F2E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932920" y="6830568"/>
            <a:ext cx="4754880" cy="914400"/>
          </a:xfrm>
          <a:prstGeom prst="rect">
            <a:avLst/>
          </a:prstGeom>
          <a:noFill/>
        </p:spPr>
        <p:txBody>
          <a:bodyPr wrap="square" anchor="t" lIns="0" rIns="0" tIns="0" bIns="0">
            <a:spAutoFit/>
          </a:bodyPr>
          <a:lstStyle/>
          <a:p>
            <a:pPr algn="l">
              <a:lnSpc>
                <a:spcPct val="120000"/>
              </a:lnSpc>
              <a:spcAft>
                <a:spcPts val="0"/>
              </a:spcAft>
            </a:pPr>
            <a:r>
              <a:rPr sz="1700" b="0" i="0">
                <a:solidFill>
                  <a:srgbClr val="7C7974"/>
                </a:solidFill>
                <a:latin typeface="Segoe UI"/>
              </a:rPr>
              <a:t>Ustozning xotirasi</a:t>
            </a:r>
          </a:p>
        </p:txBody>
      </p:sp>
      <p:sp>
        <p:nvSpPr>
          <p:cNvPr id="25" name="Freeform 24"/>
          <p:cNvSpPr/>
          <p:nvPr/>
        </p:nvSpPr>
        <p:spPr>
          <a:xfrm>
            <a:off x="0" y="9528048"/>
            <a:ext cx="6903720" cy="758952"/>
          </a:xfrm>
          <a:custGeom>
            <a:avLst/>
            <a:gdLst/>
            <a:ahLst/>
            <a:cxnLst/>
            <a:rect l="l" t="t" r="r" b="b"/>
            <a:pathLst>
              <a:path w="6903720" h="758952">
                <a:moveTo>
                  <a:pt x="0" y="0"/>
                </a:moveTo>
                <a:lnTo>
                  <a:pt x="6903720" y="0"/>
                </a:lnTo>
                <a:lnTo>
                  <a:pt x="6126480" y="758952"/>
                </a:lnTo>
                <a:lnTo>
                  <a:pt x="0" y="758952"/>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5577840" y="9528048"/>
            <a:ext cx="12710160" cy="758952"/>
          </a:xfrm>
          <a:custGeom>
            <a:avLst/>
            <a:gdLst/>
            <a:ahLst/>
            <a:cxnLst/>
            <a:rect l="l" t="t" r="r" b="b"/>
            <a:pathLst>
              <a:path w="12710160" h="758952">
                <a:moveTo>
                  <a:pt x="777240" y="0"/>
                </a:moveTo>
                <a:lnTo>
                  <a:pt x="12710160" y="0"/>
                </a:lnTo>
                <a:lnTo>
                  <a:pt x="12710160" y="758952"/>
                </a:lnTo>
                <a:lnTo>
                  <a:pt x="0" y="758952"/>
                </a:lnTo>
                <a:close/>
              </a:path>
            </a:pathLst>
          </a:cu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14081760" y="10040112"/>
            <a:ext cx="4206240" cy="246888"/>
          </a:xfrm>
          <a:custGeom>
            <a:avLst/>
            <a:gdLst/>
            <a:ahLst/>
            <a:cxnLst/>
            <a:rect l="l" t="t" r="r" b="b"/>
            <a:pathLst>
              <a:path w="4206240" h="246888">
                <a:moveTo>
                  <a:pt x="182880" y="0"/>
                </a:moveTo>
                <a:lnTo>
                  <a:pt x="4206240" y="0"/>
                </a:lnTo>
                <a:lnTo>
                  <a:pt x="4206240" y="246888"/>
                </a:lnTo>
                <a:lnTo>
                  <a:pt x="0" y="246888"/>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298680" y="1051560"/>
            <a:ext cx="61722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161520" y="982980"/>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94560" y="3063240"/>
            <a:ext cx="13898880" cy="1793630"/>
          </a:xfrm>
          <a:prstGeom prst="rect">
            <a:avLst/>
          </a:prstGeom>
          <a:noFill/>
        </p:spPr>
        <p:txBody>
          <a:bodyPr wrap="square" anchor="t" lIns="0" rIns="0" tIns="0" bIns="0">
            <a:spAutoFit/>
          </a:bodyPr>
          <a:lstStyle/>
          <a:p>
            <a:pPr algn="ctr">
              <a:lnSpc>
                <a:spcPct val="115000"/>
              </a:lnSpc>
              <a:spcAft>
                <a:spcPts val="0"/>
              </a:spcAft>
            </a:pPr>
            <a:r>
              <a:rPr sz="7600" b="1" i="0">
                <a:solidFill>
                  <a:srgbClr val="1F1E1C"/>
                </a:solidFill>
                <a:latin typeface="Arial Black"/>
              </a:rPr>
              <a:t>Bilim allaqachon bor.
Uni topib bo'lmaydi.</a:t>
            </a:r>
          </a:p>
        </p:txBody>
      </p:sp>
      <p:sp>
        <p:nvSpPr>
          <p:cNvPr id="8" name="TextBox 7"/>
          <p:cNvSpPr txBox="1"/>
          <p:nvPr/>
        </p:nvSpPr>
        <p:spPr>
          <a:xfrm>
            <a:off x="3200400" y="8275320"/>
            <a:ext cx="11887200" cy="914400"/>
          </a:xfrm>
          <a:prstGeom prst="rect">
            <a:avLst/>
          </a:prstGeom>
          <a:noFill/>
        </p:spPr>
        <p:txBody>
          <a:bodyPr wrap="square" anchor="t" lIns="0" rIns="0" tIns="0" bIns="0">
            <a:spAutoFit/>
          </a:bodyPr>
          <a:lstStyle/>
          <a:p>
            <a:pPr algn="ctr">
              <a:lnSpc>
                <a:spcPct val="120000"/>
              </a:lnSpc>
              <a:spcAft>
                <a:spcPts val="0"/>
              </a:spcAft>
            </a:pPr>
            <a:r>
              <a:rPr sz="2000" b="1" i="0">
                <a:solidFill>
                  <a:srgbClr val="1F1E1C"/>
                </a:solidFill>
                <a:latin typeface="Segoe UI"/>
              </a:rPr>
              <a:t>Digital Twin ustozning darslarini savolga javob beradigan raqamli egizakka aylantiradi.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298680" y="1051560"/>
            <a:ext cx="61722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161520" y="982980"/>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86868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86868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4208" y="86868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00200"/>
            <a:ext cx="16276319" cy="1055076"/>
          </a:xfrm>
          <a:prstGeom prst="rect">
            <a:avLst/>
          </a:prstGeom>
          <a:noFill/>
        </p:spPr>
        <p:txBody>
          <a:bodyPr wrap="square" anchor="t" lIns="0" rIns="0" tIns="0" bIns="0">
            <a:spAutoFit/>
          </a:bodyPr>
          <a:lstStyle/>
          <a:p>
            <a:pPr algn="l">
              <a:lnSpc>
                <a:spcPct val="100000"/>
              </a:lnSpc>
              <a:spcAft>
                <a:spcPts val="0"/>
              </a:spcAft>
            </a:pPr>
            <a:r>
              <a:rPr sz="3400" b="1" i="0">
                <a:solidFill>
                  <a:srgbClr val="1F1E1C"/>
                </a:solidFill>
                <a:latin typeface="Arial Black"/>
              </a:rPr>
              <a:t>Har bir ustoz — o'z raqamli egizagiga ega</a:t>
            </a:r>
          </a:p>
        </p:txBody>
      </p:sp>
      <p:sp>
        <p:nvSpPr>
          <p:cNvPr id="11" name="Rounded Rectangle 10"/>
          <p:cNvSpPr/>
          <p:nvPr/>
        </p:nvSpPr>
        <p:spPr>
          <a:xfrm>
            <a:off x="1005840" y="2788920"/>
            <a:ext cx="7635240" cy="4892040"/>
          </a:xfrm>
          <a:prstGeom prst="roundRect">
            <a:avLst/>
          </a:prstGeom>
          <a:solidFill>
            <a:srgbClr val="FFFFFF"/>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2788920"/>
            <a:ext cx="1874519" cy="566928"/>
          </a:xfrm>
          <a:prstGeom prst="round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935224"/>
            <a:ext cx="1874519" cy="914400"/>
          </a:xfrm>
          <a:prstGeom prst="rect">
            <a:avLst/>
          </a:prstGeom>
          <a:noFill/>
        </p:spPr>
        <p:txBody>
          <a:bodyPr wrap="square" anchor="t" lIns="0" rIns="0" tIns="0" bIns="0">
            <a:spAutoFit/>
          </a:bodyPr>
          <a:lstStyle/>
          <a:p>
            <a:pPr algn="ctr">
              <a:lnSpc>
                <a:spcPct val="120000"/>
              </a:lnSpc>
              <a:spcAft>
                <a:spcPts val="0"/>
              </a:spcAft>
            </a:pPr>
            <a:r>
              <a:rPr sz="1400" b="1" i="0">
                <a:solidFill>
                  <a:srgbClr val="FFFFFF"/>
                </a:solidFill>
                <a:latin typeface="Segoe UI"/>
              </a:rPr>
              <a:t>1-QADAM</a:t>
            </a:r>
          </a:p>
        </p:txBody>
      </p:sp>
      <p:sp>
        <p:nvSpPr>
          <p:cNvPr id="14" name="TextBox 13"/>
          <p:cNvSpPr txBox="1"/>
          <p:nvPr/>
        </p:nvSpPr>
        <p:spPr>
          <a:xfrm>
            <a:off x="1417320" y="3611880"/>
            <a:ext cx="6858000" cy="914400"/>
          </a:xfrm>
          <a:prstGeom prst="rect">
            <a:avLst/>
          </a:prstGeom>
          <a:noFill/>
        </p:spPr>
        <p:txBody>
          <a:bodyPr wrap="square" anchor="t" lIns="0" rIns="0" tIns="0" bIns="0">
            <a:spAutoFit/>
          </a:bodyPr>
          <a:lstStyle/>
          <a:p>
            <a:pPr algn="l">
              <a:lnSpc>
                <a:spcPct val="120000"/>
              </a:lnSpc>
              <a:spcAft>
                <a:spcPts val="0"/>
              </a:spcAft>
            </a:pPr>
            <a:r>
              <a:rPr sz="2500" b="1" i="0">
                <a:solidFill>
                  <a:srgbClr val="1F1E1C"/>
                </a:solidFill>
                <a:latin typeface="Segoe UI"/>
              </a:rPr>
              <a:t>Bilim yuklanadi</a:t>
            </a:r>
          </a:p>
        </p:txBody>
      </p:sp>
      <p:sp>
        <p:nvSpPr>
          <p:cNvPr id="15" name="Oval 14"/>
          <p:cNvSpPr/>
          <p:nvPr/>
        </p:nvSpPr>
        <p:spPr>
          <a:xfrm>
            <a:off x="1417320" y="4544568"/>
            <a:ext cx="310896" cy="310896"/>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11680" y="4434840"/>
            <a:ext cx="6309360" cy="914400"/>
          </a:xfrm>
          <a:prstGeom prst="rect">
            <a:avLst/>
          </a:prstGeom>
          <a:noFill/>
        </p:spPr>
        <p:txBody>
          <a:bodyPr wrap="square" anchor="t" lIns="0" rIns="0" tIns="0" bIns="0">
            <a:spAutoFit/>
          </a:bodyPr>
          <a:lstStyle/>
          <a:p>
            <a:pPr algn="l">
              <a:lnSpc>
                <a:spcPct val="120000"/>
              </a:lnSpc>
              <a:spcAft>
                <a:spcPts val="0"/>
              </a:spcAft>
            </a:pPr>
            <a:r>
              <a:rPr sz="1900" b="1" i="0">
                <a:solidFill>
                  <a:srgbClr val="1F1E1C"/>
                </a:solidFill>
                <a:latin typeface="Segoe UI"/>
              </a:rPr>
              <a:t>Video va audio darslar</a:t>
            </a:r>
          </a:p>
        </p:txBody>
      </p:sp>
      <p:sp>
        <p:nvSpPr>
          <p:cNvPr id="17" name="TextBox 16"/>
          <p:cNvSpPr txBox="1"/>
          <p:nvPr/>
        </p:nvSpPr>
        <p:spPr>
          <a:xfrm>
            <a:off x="2011680" y="4782312"/>
            <a:ext cx="6309360" cy="914400"/>
          </a:xfrm>
          <a:prstGeom prst="rect">
            <a:avLst/>
          </a:prstGeom>
          <a:noFill/>
        </p:spPr>
        <p:txBody>
          <a:bodyPr wrap="square" anchor="t" lIns="0" rIns="0" tIns="0" bIns="0">
            <a:spAutoFit/>
          </a:bodyPr>
          <a:lstStyle/>
          <a:p>
            <a:pPr algn="l">
              <a:lnSpc>
                <a:spcPct val="120000"/>
              </a:lnSpc>
              <a:spcAft>
                <a:spcPts val="0"/>
              </a:spcAft>
            </a:pPr>
            <a:r>
              <a:rPr sz="1500" b="0" i="0">
                <a:solidFill>
                  <a:srgbClr val="6F6B63"/>
                </a:solidFill>
                <a:latin typeface="Segoe UI"/>
              </a:rPr>
              <a:t>gapirilgan so'z matnga aylanadi</a:t>
            </a:r>
          </a:p>
        </p:txBody>
      </p:sp>
      <p:sp>
        <p:nvSpPr>
          <p:cNvPr id="18" name="Oval 17"/>
          <p:cNvSpPr/>
          <p:nvPr/>
        </p:nvSpPr>
        <p:spPr>
          <a:xfrm>
            <a:off x="1417320" y="5550407"/>
            <a:ext cx="310896" cy="310896"/>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0" y="5440679"/>
            <a:ext cx="6309360" cy="914400"/>
          </a:xfrm>
          <a:prstGeom prst="rect">
            <a:avLst/>
          </a:prstGeom>
          <a:noFill/>
        </p:spPr>
        <p:txBody>
          <a:bodyPr wrap="square" anchor="t" lIns="0" rIns="0" tIns="0" bIns="0">
            <a:spAutoFit/>
          </a:bodyPr>
          <a:lstStyle/>
          <a:p>
            <a:pPr algn="l">
              <a:lnSpc>
                <a:spcPct val="120000"/>
              </a:lnSpc>
              <a:spcAft>
                <a:spcPts val="0"/>
              </a:spcAft>
            </a:pPr>
            <a:r>
              <a:rPr sz="1900" b="1" i="0">
                <a:solidFill>
                  <a:srgbClr val="1F1E1C"/>
                </a:solidFill>
                <a:latin typeface="Segoe UI"/>
              </a:rPr>
              <a:t>Kitob, PDF, slayd, jadval</a:t>
            </a:r>
          </a:p>
        </p:txBody>
      </p:sp>
      <p:sp>
        <p:nvSpPr>
          <p:cNvPr id="20" name="TextBox 19"/>
          <p:cNvSpPr txBox="1"/>
          <p:nvPr/>
        </p:nvSpPr>
        <p:spPr>
          <a:xfrm>
            <a:off x="2011680" y="5788151"/>
            <a:ext cx="6309360" cy="914400"/>
          </a:xfrm>
          <a:prstGeom prst="rect">
            <a:avLst/>
          </a:prstGeom>
          <a:noFill/>
        </p:spPr>
        <p:txBody>
          <a:bodyPr wrap="square" anchor="t" lIns="0" rIns="0" tIns="0" bIns="0">
            <a:spAutoFit/>
          </a:bodyPr>
          <a:lstStyle/>
          <a:p>
            <a:pPr algn="l">
              <a:lnSpc>
                <a:spcPct val="120000"/>
              </a:lnSpc>
              <a:spcAft>
                <a:spcPts val="0"/>
              </a:spcAft>
            </a:pPr>
            <a:r>
              <a:rPr sz="1500" b="0" i="0">
                <a:solidFill>
                  <a:srgbClr val="6F6B63"/>
                </a:solidFill>
                <a:latin typeface="Segoe UI"/>
              </a:rPr>
              <a:t>sahifasigacha o'qiladi</a:t>
            </a:r>
          </a:p>
        </p:txBody>
      </p:sp>
      <p:sp>
        <p:nvSpPr>
          <p:cNvPr id="21" name="Oval 20"/>
          <p:cNvSpPr/>
          <p:nvPr/>
        </p:nvSpPr>
        <p:spPr>
          <a:xfrm>
            <a:off x="1417320" y="6556248"/>
            <a:ext cx="310896" cy="310896"/>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0" y="6446520"/>
            <a:ext cx="6309360" cy="914400"/>
          </a:xfrm>
          <a:prstGeom prst="rect">
            <a:avLst/>
          </a:prstGeom>
          <a:noFill/>
        </p:spPr>
        <p:txBody>
          <a:bodyPr wrap="square" anchor="t" lIns="0" rIns="0" tIns="0" bIns="0">
            <a:spAutoFit/>
          </a:bodyPr>
          <a:lstStyle/>
          <a:p>
            <a:pPr algn="l">
              <a:lnSpc>
                <a:spcPct val="120000"/>
              </a:lnSpc>
              <a:spcAft>
                <a:spcPts val="0"/>
              </a:spcAft>
            </a:pPr>
            <a:r>
              <a:rPr sz="1900" b="1" i="0">
                <a:solidFill>
                  <a:srgbClr val="1F1E1C"/>
                </a:solidFill>
                <a:latin typeface="Segoe UI"/>
              </a:rPr>
              <a:t>Havolalar va yozishmalar</a:t>
            </a:r>
          </a:p>
        </p:txBody>
      </p:sp>
      <p:sp>
        <p:nvSpPr>
          <p:cNvPr id="23" name="TextBox 22"/>
          <p:cNvSpPr txBox="1"/>
          <p:nvPr/>
        </p:nvSpPr>
        <p:spPr>
          <a:xfrm>
            <a:off x="2011680" y="6793992"/>
            <a:ext cx="6309360" cy="914400"/>
          </a:xfrm>
          <a:prstGeom prst="rect">
            <a:avLst/>
          </a:prstGeom>
          <a:noFill/>
        </p:spPr>
        <p:txBody>
          <a:bodyPr wrap="square" anchor="t" lIns="0" rIns="0" tIns="0" bIns="0">
            <a:spAutoFit/>
          </a:bodyPr>
          <a:lstStyle/>
          <a:p>
            <a:pPr algn="l">
              <a:lnSpc>
                <a:spcPct val="120000"/>
              </a:lnSpc>
              <a:spcAft>
                <a:spcPts val="0"/>
              </a:spcAft>
            </a:pPr>
            <a:r>
              <a:rPr sz="1500" b="0" i="0">
                <a:solidFill>
                  <a:srgbClr val="6F6B63"/>
                </a:solidFill>
                <a:latin typeface="Segoe UI"/>
              </a:rPr>
              <a:t>bir joyga yig'iladi</a:t>
            </a:r>
          </a:p>
        </p:txBody>
      </p:sp>
      <p:sp>
        <p:nvSpPr>
          <p:cNvPr id="24" name="Rounded Rectangle 23"/>
          <p:cNvSpPr/>
          <p:nvPr/>
        </p:nvSpPr>
        <p:spPr>
          <a:xfrm>
            <a:off x="9646920" y="2788920"/>
            <a:ext cx="7635240" cy="4892040"/>
          </a:xfrm>
          <a:prstGeom prst="roundRect">
            <a:avLst/>
          </a:prstGeom>
          <a:solidFill>
            <a:srgbClr val="FFFFFF"/>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46920" y="2788920"/>
            <a:ext cx="1874519" cy="566928"/>
          </a:xfrm>
          <a:prstGeom prst="round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2935224"/>
            <a:ext cx="1874519" cy="914400"/>
          </a:xfrm>
          <a:prstGeom prst="rect">
            <a:avLst/>
          </a:prstGeom>
          <a:noFill/>
        </p:spPr>
        <p:txBody>
          <a:bodyPr wrap="square" anchor="t" lIns="0" rIns="0" tIns="0" bIns="0">
            <a:spAutoFit/>
          </a:bodyPr>
          <a:lstStyle/>
          <a:p>
            <a:pPr algn="ctr">
              <a:lnSpc>
                <a:spcPct val="120000"/>
              </a:lnSpc>
              <a:spcAft>
                <a:spcPts val="0"/>
              </a:spcAft>
            </a:pPr>
            <a:r>
              <a:rPr sz="1400" b="1" i="0">
                <a:solidFill>
                  <a:srgbClr val="FFFFFF"/>
                </a:solidFill>
                <a:latin typeface="Segoe UI"/>
              </a:rPr>
              <a:t>2-QADAM</a:t>
            </a:r>
          </a:p>
        </p:txBody>
      </p:sp>
      <p:sp>
        <p:nvSpPr>
          <p:cNvPr id="27" name="TextBox 26"/>
          <p:cNvSpPr txBox="1"/>
          <p:nvPr/>
        </p:nvSpPr>
        <p:spPr>
          <a:xfrm>
            <a:off x="10058400" y="3611880"/>
            <a:ext cx="6858000" cy="914400"/>
          </a:xfrm>
          <a:prstGeom prst="rect">
            <a:avLst/>
          </a:prstGeom>
          <a:noFill/>
        </p:spPr>
        <p:txBody>
          <a:bodyPr wrap="square" anchor="t" lIns="0" rIns="0" tIns="0" bIns="0">
            <a:spAutoFit/>
          </a:bodyPr>
          <a:lstStyle/>
          <a:p>
            <a:pPr algn="l">
              <a:lnSpc>
                <a:spcPct val="120000"/>
              </a:lnSpc>
              <a:spcAft>
                <a:spcPts val="0"/>
              </a:spcAft>
            </a:pPr>
            <a:r>
              <a:rPr sz="2500" b="1" i="0">
                <a:solidFill>
                  <a:srgbClr val="1F1E1C"/>
                </a:solidFill>
                <a:latin typeface="Segoe UI"/>
              </a:rPr>
              <a:t>Javob keladi</a:t>
            </a:r>
          </a:p>
        </p:txBody>
      </p:sp>
      <p:sp>
        <p:nvSpPr>
          <p:cNvPr id="28" name="Rounded Rectangle 27"/>
          <p:cNvSpPr/>
          <p:nvPr/>
        </p:nvSpPr>
        <p:spPr>
          <a:xfrm>
            <a:off x="12710160" y="4389120"/>
            <a:ext cx="4160520" cy="621792"/>
          </a:xfrm>
          <a:prstGeom prst="roundRect">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93040" y="4553712"/>
            <a:ext cx="3840480" cy="914400"/>
          </a:xfrm>
          <a:prstGeom prst="rect">
            <a:avLst/>
          </a:prstGeom>
          <a:noFill/>
        </p:spPr>
        <p:txBody>
          <a:bodyPr wrap="square" anchor="t" lIns="0" rIns="0" tIns="0" bIns="0">
            <a:spAutoFit/>
          </a:bodyPr>
          <a:lstStyle/>
          <a:p>
            <a:pPr algn="l">
              <a:lnSpc>
                <a:spcPct val="120000"/>
              </a:lnSpc>
              <a:spcAft>
                <a:spcPts val="0"/>
              </a:spcAft>
            </a:pPr>
            <a:r>
              <a:rPr sz="1500" b="0" i="0">
                <a:solidFill>
                  <a:srgbClr val="1F1E1C"/>
                </a:solidFill>
                <a:latin typeface="Segoe UI"/>
              </a:rPr>
              <a:t>Bu mavzuni qayerdan boshlay?</a:t>
            </a:r>
          </a:p>
        </p:txBody>
      </p:sp>
      <p:sp>
        <p:nvSpPr>
          <p:cNvPr id="30" name="Rounded Rectangle 29"/>
          <p:cNvSpPr/>
          <p:nvPr/>
        </p:nvSpPr>
        <p:spPr>
          <a:xfrm>
            <a:off x="10058400" y="5230368"/>
            <a:ext cx="5257800" cy="1417320"/>
          </a:xfrm>
          <a:prstGeom prst="roundRect">
            <a:avLst/>
          </a:prstGeom>
          <a:solidFill>
            <a:srgbClr val="FAF9F7"/>
          </a:solidFill>
          <a:ln w="12700">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87000" y="5413248"/>
            <a:ext cx="4800600" cy="1097280"/>
          </a:xfrm>
          <a:prstGeom prst="rect">
            <a:avLst/>
          </a:prstGeom>
          <a:noFill/>
        </p:spPr>
        <p:txBody>
          <a:bodyPr wrap="square" anchor="t" lIns="0" rIns="0" tIns="0" bIns="0">
            <a:spAutoFit/>
          </a:bodyPr>
          <a:lstStyle/>
          <a:p>
            <a:pPr algn="l">
              <a:lnSpc>
                <a:spcPct val="130000"/>
              </a:lnSpc>
              <a:spcAft>
                <a:spcPts val="0"/>
              </a:spcAft>
            </a:pPr>
            <a:r>
              <a:rPr sz="1500" b="0" i="0">
                <a:solidFill>
                  <a:srgbClr val="1F1E1C"/>
                </a:solidFill>
                <a:latin typeface="Segoe UI"/>
              </a:rPr>
              <a:t>Ustozning 12-darsida aynan shu savolga javob bor. Qisqasi: avval maqsadni yozing…</a:t>
            </a:r>
          </a:p>
        </p:txBody>
      </p:sp>
      <p:sp>
        <p:nvSpPr>
          <p:cNvPr id="32" name="Rounded Rectangle 31"/>
          <p:cNvSpPr/>
          <p:nvPr/>
        </p:nvSpPr>
        <p:spPr>
          <a:xfrm>
            <a:off x="10058400" y="6784848"/>
            <a:ext cx="3246120" cy="475488"/>
          </a:xfrm>
          <a:prstGeom prst="round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0" y="6903720"/>
            <a:ext cx="3246120" cy="914400"/>
          </a:xfrm>
          <a:prstGeom prst="rect">
            <a:avLst/>
          </a:prstGeom>
          <a:noFill/>
        </p:spPr>
        <p:txBody>
          <a:bodyPr wrap="square" anchor="t" lIns="0" rIns="0" tIns="0" bIns="0">
            <a:spAutoFit/>
          </a:bodyPr>
          <a:lstStyle/>
          <a:p>
            <a:pPr algn="ctr">
              <a:lnSpc>
                <a:spcPct val="120000"/>
              </a:lnSpc>
              <a:spcAft>
                <a:spcPts val="0"/>
              </a:spcAft>
            </a:pPr>
            <a:r>
              <a:rPr sz="1400" b="1" i="0">
                <a:solidFill>
                  <a:srgbClr val="FFFFFF"/>
                </a:solidFill>
                <a:latin typeface="Segoe UI"/>
              </a:rPr>
              <a:t>12-dars · 41:20</a:t>
            </a:r>
          </a:p>
        </p:txBody>
      </p:sp>
      <p:sp>
        <p:nvSpPr>
          <p:cNvPr id="34" name="TextBox 33"/>
          <p:cNvSpPr txBox="1"/>
          <p:nvPr/>
        </p:nvSpPr>
        <p:spPr>
          <a:xfrm>
            <a:off x="13441680" y="6912864"/>
            <a:ext cx="3657600" cy="914400"/>
          </a:xfrm>
          <a:prstGeom prst="rect">
            <a:avLst/>
          </a:prstGeom>
          <a:noFill/>
        </p:spPr>
        <p:txBody>
          <a:bodyPr wrap="square" anchor="t" lIns="0" rIns="0" tIns="0" bIns="0">
            <a:spAutoFit/>
          </a:bodyPr>
          <a:lstStyle/>
          <a:p>
            <a:pPr algn="l">
              <a:lnSpc>
                <a:spcPct val="120000"/>
              </a:lnSpc>
              <a:spcAft>
                <a:spcPts val="0"/>
              </a:spcAft>
            </a:pPr>
            <a:r>
              <a:rPr sz="1400" b="0" i="0">
                <a:solidFill>
                  <a:srgbClr val="6F6B63"/>
                </a:solidFill>
                <a:latin typeface="Segoe UI"/>
              </a:rPr>
              <a:t>bosing — o'sha joy ochiladi</a:t>
            </a:r>
          </a:p>
        </p:txBody>
      </p:sp>
      <p:sp>
        <p:nvSpPr>
          <p:cNvPr id="35" name="TextBox 34"/>
          <p:cNvSpPr txBox="1"/>
          <p:nvPr/>
        </p:nvSpPr>
        <p:spPr>
          <a:xfrm>
            <a:off x="4480560" y="8549640"/>
            <a:ext cx="10972800" cy="914400"/>
          </a:xfrm>
          <a:prstGeom prst="rect">
            <a:avLst/>
          </a:prstGeom>
          <a:noFill/>
        </p:spPr>
        <p:txBody>
          <a:bodyPr wrap="square" anchor="t" lIns="0" rIns="0" tIns="0" bIns="0">
            <a:spAutoFit/>
          </a:bodyPr>
          <a:lstStyle/>
          <a:p>
            <a:pPr algn="ctr">
              <a:lnSpc>
                <a:spcPct val="120000"/>
              </a:lnSpc>
              <a:spcAft>
                <a:spcPts val="0"/>
              </a:spcAft>
            </a:pPr>
            <a:r>
              <a:rPr sz="1800" b="1" i="0">
                <a:solidFill>
                  <a:srgbClr val="1F1E1C"/>
                </a:solidFill>
                <a:latin typeface="Segoe UI"/>
              </a:rPr>
              <a:t>Har javob ostida manba turadi: qaysi darsning qaysi daqiqasi, qaysi kitobning qaysi sahifasi.</a:t>
            </a:r>
          </a:p>
        </p:txBody>
      </p:sp>
      <p:sp>
        <p:nvSpPr>
          <p:cNvPr id="36" name="Freeform 35"/>
          <p:cNvSpPr/>
          <p:nvPr/>
        </p:nvSpPr>
        <p:spPr>
          <a:xfrm>
            <a:off x="0" y="9528048"/>
            <a:ext cx="6903720" cy="758952"/>
          </a:xfrm>
          <a:custGeom>
            <a:avLst/>
            <a:gdLst/>
            <a:ahLst/>
            <a:cxnLst/>
            <a:rect l="l" t="t" r="r" b="b"/>
            <a:pathLst>
              <a:path w="6903720" h="758952">
                <a:moveTo>
                  <a:pt x="0" y="0"/>
                </a:moveTo>
                <a:lnTo>
                  <a:pt x="6903720" y="0"/>
                </a:lnTo>
                <a:lnTo>
                  <a:pt x="6126480" y="758952"/>
                </a:lnTo>
                <a:lnTo>
                  <a:pt x="0" y="758952"/>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5577840" y="9528048"/>
            <a:ext cx="12710160" cy="758952"/>
          </a:xfrm>
          <a:custGeom>
            <a:avLst/>
            <a:gdLst/>
            <a:ahLst/>
            <a:cxnLst/>
            <a:rect l="l" t="t" r="r" b="b"/>
            <a:pathLst>
              <a:path w="12710160" h="758952">
                <a:moveTo>
                  <a:pt x="777240" y="0"/>
                </a:moveTo>
                <a:lnTo>
                  <a:pt x="12710160" y="0"/>
                </a:lnTo>
                <a:lnTo>
                  <a:pt x="12710160" y="758952"/>
                </a:lnTo>
                <a:lnTo>
                  <a:pt x="0" y="758952"/>
                </a:lnTo>
                <a:close/>
              </a:path>
            </a:pathLst>
          </a:cu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14081760" y="10040112"/>
            <a:ext cx="4206240" cy="246888"/>
          </a:xfrm>
          <a:custGeom>
            <a:avLst/>
            <a:gdLst/>
            <a:ahLst/>
            <a:cxnLst/>
            <a:rect l="l" t="t" r="r" b="b"/>
            <a:pathLst>
              <a:path w="4206240" h="246888">
                <a:moveTo>
                  <a:pt x="182880" y="0"/>
                </a:moveTo>
                <a:lnTo>
                  <a:pt x="4206240" y="0"/>
                </a:lnTo>
                <a:lnTo>
                  <a:pt x="4206240" y="246888"/>
                </a:lnTo>
                <a:lnTo>
                  <a:pt x="0" y="246888"/>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298680" y="1051560"/>
            <a:ext cx="61722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161520" y="982980"/>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234440"/>
            <a:ext cx="16276320" cy="1652953"/>
          </a:xfrm>
          <a:prstGeom prst="rect">
            <a:avLst/>
          </a:prstGeom>
          <a:noFill/>
        </p:spPr>
        <p:txBody>
          <a:bodyPr wrap="square" anchor="t" lIns="0" rIns="0" tIns="0" bIns="0">
            <a:spAutoFit/>
          </a:bodyPr>
          <a:lstStyle/>
          <a:p>
            <a:pPr algn="ctr">
              <a:lnSpc>
                <a:spcPct val="100000"/>
              </a:lnSpc>
              <a:spcAft>
                <a:spcPts val="0"/>
              </a:spcAft>
            </a:pPr>
            <a:r>
              <a:rPr sz="6800" b="1" i="0">
                <a:solidFill>
                  <a:srgbClr val="1F1E1C"/>
                </a:solidFill>
                <a:latin typeface="Arial Black"/>
              </a:rPr>
              <a:t>Raqobat tahlili</a:t>
            </a:r>
          </a:p>
        </p:txBody>
      </p:sp>
      <p:sp>
        <p:nvSpPr>
          <p:cNvPr id="8" name="Rounded Rectangle 7"/>
          <p:cNvSpPr/>
          <p:nvPr/>
        </p:nvSpPr>
        <p:spPr>
          <a:xfrm>
            <a:off x="14447519" y="2377440"/>
            <a:ext cx="3246120" cy="6089904"/>
          </a:xfrm>
          <a:prstGeom prst="roundRect">
            <a:avLst/>
          </a:prstGeom>
          <a:solidFill>
            <a:srgbClr val="F7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468880"/>
            <a:ext cx="4937760" cy="868680"/>
          </a:xfrm>
          <a:prstGeom prst="rect">
            <a:avLst/>
          </a:prstGeom>
          <a:noFill/>
        </p:spPr>
        <p:txBody>
          <a:bodyPr wrap="square" anchor="t" lIns="0" rIns="0" tIns="0" bIns="0">
            <a:spAutoFit/>
          </a:bodyPr>
          <a:lstStyle/>
          <a:p>
            <a:pPr algn="l">
              <a:lnSpc>
                <a:spcPct val="110000"/>
              </a:lnSpc>
              <a:spcAft>
                <a:spcPts val="0"/>
              </a:spcAft>
            </a:pPr>
            <a:r>
              <a:rPr sz="1900" b="1" i="0">
                <a:solidFill>
                  <a:srgbClr val="1F1E1C"/>
                </a:solidFill>
                <a:latin typeface="Segoe UI"/>
              </a:rPr>
              <a:t>Imkoniyat</a:t>
            </a:r>
          </a:p>
        </p:txBody>
      </p:sp>
      <p:sp>
        <p:nvSpPr>
          <p:cNvPr id="10" name="TextBox 9"/>
          <p:cNvSpPr txBox="1"/>
          <p:nvPr/>
        </p:nvSpPr>
        <p:spPr>
          <a:xfrm>
            <a:off x="6309360" y="2468880"/>
            <a:ext cx="2788920" cy="868680"/>
          </a:xfrm>
          <a:prstGeom prst="rect">
            <a:avLst/>
          </a:prstGeom>
          <a:noFill/>
        </p:spPr>
        <p:txBody>
          <a:bodyPr wrap="square" anchor="t" lIns="0" rIns="0" tIns="0" bIns="0">
            <a:spAutoFit/>
          </a:bodyPr>
          <a:lstStyle/>
          <a:p>
            <a:pPr algn="ctr">
              <a:lnSpc>
                <a:spcPct val="110000"/>
              </a:lnSpc>
              <a:spcAft>
                <a:spcPts val="0"/>
              </a:spcAft>
            </a:pPr>
            <a:r>
              <a:rPr sz="1900" b="1" i="0">
                <a:solidFill>
                  <a:srgbClr val="1F1E1C"/>
                </a:solidFill>
                <a:latin typeface="Segoe UI"/>
              </a:rPr>
              <a:t>Umumiy suhbat
dasturlari</a:t>
            </a:r>
          </a:p>
        </p:txBody>
      </p:sp>
      <p:sp>
        <p:nvSpPr>
          <p:cNvPr id="11" name="TextBox 10"/>
          <p:cNvSpPr txBox="1"/>
          <p:nvPr/>
        </p:nvSpPr>
        <p:spPr>
          <a:xfrm>
            <a:off x="9098280" y="2468880"/>
            <a:ext cx="2788920" cy="868680"/>
          </a:xfrm>
          <a:prstGeom prst="rect">
            <a:avLst/>
          </a:prstGeom>
          <a:noFill/>
        </p:spPr>
        <p:txBody>
          <a:bodyPr wrap="square" anchor="t" lIns="0" rIns="0" tIns="0" bIns="0">
            <a:spAutoFit/>
          </a:bodyPr>
          <a:lstStyle/>
          <a:p>
            <a:pPr algn="ctr">
              <a:lnSpc>
                <a:spcPct val="110000"/>
              </a:lnSpc>
              <a:spcAft>
                <a:spcPts val="0"/>
              </a:spcAft>
            </a:pPr>
            <a:r>
              <a:rPr sz="1900" b="1" i="0">
                <a:solidFill>
                  <a:srgbClr val="1F1E1C"/>
                </a:solidFill>
                <a:latin typeface="Segoe UI"/>
              </a:rPr>
              <a:t>Onlayn
kurslar</a:t>
            </a:r>
          </a:p>
        </p:txBody>
      </p:sp>
      <p:sp>
        <p:nvSpPr>
          <p:cNvPr id="12" name="TextBox 11"/>
          <p:cNvSpPr txBox="1"/>
          <p:nvPr/>
        </p:nvSpPr>
        <p:spPr>
          <a:xfrm>
            <a:off x="11887200" y="2468880"/>
            <a:ext cx="2788920" cy="868680"/>
          </a:xfrm>
          <a:prstGeom prst="rect">
            <a:avLst/>
          </a:prstGeom>
          <a:noFill/>
        </p:spPr>
        <p:txBody>
          <a:bodyPr wrap="square" anchor="t" lIns="0" rIns="0" tIns="0" bIns="0">
            <a:spAutoFit/>
          </a:bodyPr>
          <a:lstStyle/>
          <a:p>
            <a:pPr algn="ctr">
              <a:lnSpc>
                <a:spcPct val="110000"/>
              </a:lnSpc>
              <a:spcAft>
                <a:spcPts val="0"/>
              </a:spcAft>
            </a:pPr>
            <a:r>
              <a:rPr sz="1900" b="1" i="0">
                <a:solidFill>
                  <a:srgbClr val="1F1E1C"/>
                </a:solidFill>
                <a:latin typeface="Segoe UI"/>
              </a:rPr>
              <a:t>Ichki qidiruv
tizimlari</a:t>
            </a:r>
          </a:p>
        </p:txBody>
      </p:sp>
      <p:sp>
        <p:nvSpPr>
          <p:cNvPr id="13" name="TextBox 12"/>
          <p:cNvSpPr txBox="1"/>
          <p:nvPr/>
        </p:nvSpPr>
        <p:spPr>
          <a:xfrm>
            <a:off x="14676119" y="2468880"/>
            <a:ext cx="2788920" cy="868680"/>
          </a:xfrm>
          <a:prstGeom prst="rect">
            <a:avLst/>
          </a:prstGeom>
          <a:noFill/>
        </p:spPr>
        <p:txBody>
          <a:bodyPr wrap="square" anchor="t" lIns="0" rIns="0" tIns="0" bIns="0">
            <a:spAutoFit/>
          </a:bodyPr>
          <a:lstStyle/>
          <a:p>
            <a:pPr algn="ctr">
              <a:lnSpc>
                <a:spcPct val="110000"/>
              </a:lnSpc>
              <a:spcAft>
                <a:spcPts val="0"/>
              </a:spcAft>
            </a:pPr>
            <a:r>
              <a:rPr sz="1900" b="1" i="0">
                <a:solidFill>
                  <a:srgbClr val="C15F3C"/>
                </a:solidFill>
                <a:latin typeface="Segoe UI"/>
              </a:rPr>
              <a:t>Digital Twin</a:t>
            </a:r>
          </a:p>
        </p:txBody>
      </p:sp>
      <p:sp>
        <p:nvSpPr>
          <p:cNvPr id="14" name="Rectangle 13"/>
          <p:cNvSpPr/>
          <p:nvPr/>
        </p:nvSpPr>
        <p:spPr>
          <a:xfrm>
            <a:off x="1371600" y="3282696"/>
            <a:ext cx="16322040" cy="22860"/>
          </a:xfrm>
          <a:prstGeom prst="rect">
            <a:avLst/>
          </a:prstGeom>
          <a:solidFill>
            <a:srgbClr val="E4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3538728"/>
            <a:ext cx="4663440" cy="914400"/>
          </a:xfrm>
          <a:prstGeom prst="rect">
            <a:avLst/>
          </a:prstGeom>
          <a:noFill/>
        </p:spPr>
        <p:txBody>
          <a:bodyPr wrap="square" anchor="t" lIns="0" rIns="0" tIns="0" bIns="0">
            <a:spAutoFit/>
          </a:bodyPr>
          <a:lstStyle/>
          <a:p>
            <a:pPr algn="l">
              <a:lnSpc>
                <a:spcPct val="120000"/>
              </a:lnSpc>
              <a:spcAft>
                <a:spcPts val="0"/>
              </a:spcAft>
            </a:pPr>
            <a:r>
              <a:rPr sz="1900" b="0" i="0">
                <a:solidFill>
                  <a:srgbClr val="1F1E1C"/>
                </a:solidFill>
                <a:latin typeface="Segoe UI"/>
              </a:rPr>
              <a:t>Aynan shu ustozning bilimi</a:t>
            </a:r>
          </a:p>
        </p:txBody>
      </p:sp>
      <p:sp>
        <p:nvSpPr>
          <p:cNvPr id="16" name="TextBox 15"/>
          <p:cNvSpPr txBox="1"/>
          <p:nvPr/>
        </p:nvSpPr>
        <p:spPr>
          <a:xfrm>
            <a:off x="6309360" y="3483864"/>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17" name="TextBox 16"/>
          <p:cNvSpPr txBox="1"/>
          <p:nvPr/>
        </p:nvSpPr>
        <p:spPr>
          <a:xfrm>
            <a:off x="9098280" y="3483864"/>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1F1E1C"/>
                </a:solidFill>
                <a:latin typeface="Segoe UI"/>
              </a:rPr>
              <a:t>✓</a:t>
            </a:r>
          </a:p>
        </p:txBody>
      </p:sp>
      <p:sp>
        <p:nvSpPr>
          <p:cNvPr id="18" name="TextBox 17"/>
          <p:cNvSpPr txBox="1"/>
          <p:nvPr/>
        </p:nvSpPr>
        <p:spPr>
          <a:xfrm>
            <a:off x="11887200" y="3483864"/>
            <a:ext cx="2788920" cy="502920"/>
          </a:xfrm>
          <a:prstGeom prst="rect">
            <a:avLst/>
          </a:prstGeom>
          <a:noFill/>
        </p:spPr>
        <p:txBody>
          <a:bodyPr wrap="square" anchor="t" lIns="0" rIns="0" tIns="0" bIns="0">
            <a:spAutoFit/>
          </a:bodyPr>
          <a:lstStyle/>
          <a:p>
            <a:pPr algn="ctr">
              <a:lnSpc>
                <a:spcPct val="100000"/>
              </a:lnSpc>
              <a:spcAft>
                <a:spcPts val="0"/>
              </a:spcAft>
            </a:pPr>
            <a:r>
              <a:rPr sz="2200" b="1" i="0">
                <a:solidFill>
                  <a:srgbClr val="A8A39B"/>
                </a:solidFill>
                <a:latin typeface="Segoe UI"/>
              </a:rPr>
              <a:t>~</a:t>
            </a:r>
          </a:p>
        </p:txBody>
      </p:sp>
      <p:sp>
        <p:nvSpPr>
          <p:cNvPr id="19" name="TextBox 18"/>
          <p:cNvSpPr txBox="1"/>
          <p:nvPr/>
        </p:nvSpPr>
        <p:spPr>
          <a:xfrm>
            <a:off x="14676119" y="3483864"/>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C15F3C"/>
                </a:solidFill>
                <a:latin typeface="Segoe UI"/>
              </a:rPr>
              <a:t>✓</a:t>
            </a:r>
          </a:p>
        </p:txBody>
      </p:sp>
      <p:sp>
        <p:nvSpPr>
          <p:cNvPr id="20" name="TextBox 19"/>
          <p:cNvSpPr txBox="1"/>
          <p:nvPr/>
        </p:nvSpPr>
        <p:spPr>
          <a:xfrm>
            <a:off x="1371600" y="4325112"/>
            <a:ext cx="4663440" cy="914400"/>
          </a:xfrm>
          <a:prstGeom prst="rect">
            <a:avLst/>
          </a:prstGeom>
          <a:noFill/>
        </p:spPr>
        <p:txBody>
          <a:bodyPr wrap="square" anchor="t" lIns="0" rIns="0" tIns="0" bIns="0">
            <a:spAutoFit/>
          </a:bodyPr>
          <a:lstStyle/>
          <a:p>
            <a:pPr algn="l">
              <a:lnSpc>
                <a:spcPct val="120000"/>
              </a:lnSpc>
              <a:spcAft>
                <a:spcPts val="0"/>
              </a:spcAft>
            </a:pPr>
            <a:r>
              <a:rPr sz="1900" b="0" i="0">
                <a:solidFill>
                  <a:srgbClr val="1F1E1C"/>
                </a:solidFill>
                <a:latin typeface="Segoe UI"/>
              </a:rPr>
              <a:t>Har javobda aniq manba</a:t>
            </a:r>
          </a:p>
        </p:txBody>
      </p:sp>
      <p:sp>
        <p:nvSpPr>
          <p:cNvPr id="21" name="TextBox 20"/>
          <p:cNvSpPr txBox="1"/>
          <p:nvPr/>
        </p:nvSpPr>
        <p:spPr>
          <a:xfrm>
            <a:off x="6309360" y="4270248"/>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22" name="TextBox 21"/>
          <p:cNvSpPr txBox="1"/>
          <p:nvPr/>
        </p:nvSpPr>
        <p:spPr>
          <a:xfrm>
            <a:off x="9098280" y="4270248"/>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23" name="TextBox 22"/>
          <p:cNvSpPr txBox="1"/>
          <p:nvPr/>
        </p:nvSpPr>
        <p:spPr>
          <a:xfrm>
            <a:off x="11887200" y="4270248"/>
            <a:ext cx="2788920" cy="502920"/>
          </a:xfrm>
          <a:prstGeom prst="rect">
            <a:avLst/>
          </a:prstGeom>
          <a:noFill/>
        </p:spPr>
        <p:txBody>
          <a:bodyPr wrap="square" anchor="t" lIns="0" rIns="0" tIns="0" bIns="0">
            <a:spAutoFit/>
          </a:bodyPr>
          <a:lstStyle/>
          <a:p>
            <a:pPr algn="ctr">
              <a:lnSpc>
                <a:spcPct val="100000"/>
              </a:lnSpc>
              <a:spcAft>
                <a:spcPts val="0"/>
              </a:spcAft>
            </a:pPr>
            <a:r>
              <a:rPr sz="2200" b="1" i="0">
                <a:solidFill>
                  <a:srgbClr val="A8A39B"/>
                </a:solidFill>
                <a:latin typeface="Segoe UI"/>
              </a:rPr>
              <a:t>~</a:t>
            </a:r>
          </a:p>
        </p:txBody>
      </p:sp>
      <p:sp>
        <p:nvSpPr>
          <p:cNvPr id="24" name="TextBox 23"/>
          <p:cNvSpPr txBox="1"/>
          <p:nvPr/>
        </p:nvSpPr>
        <p:spPr>
          <a:xfrm>
            <a:off x="14676119" y="4270248"/>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C15F3C"/>
                </a:solidFill>
                <a:latin typeface="Segoe UI"/>
              </a:rPr>
              <a:t>✓</a:t>
            </a:r>
          </a:p>
        </p:txBody>
      </p:sp>
      <p:sp>
        <p:nvSpPr>
          <p:cNvPr id="25" name="TextBox 24"/>
          <p:cNvSpPr txBox="1"/>
          <p:nvPr/>
        </p:nvSpPr>
        <p:spPr>
          <a:xfrm>
            <a:off x="1371600" y="5111496"/>
            <a:ext cx="4663440" cy="914400"/>
          </a:xfrm>
          <a:prstGeom prst="rect">
            <a:avLst/>
          </a:prstGeom>
          <a:noFill/>
        </p:spPr>
        <p:txBody>
          <a:bodyPr wrap="square" anchor="t" lIns="0" rIns="0" tIns="0" bIns="0">
            <a:spAutoFit/>
          </a:bodyPr>
          <a:lstStyle/>
          <a:p>
            <a:pPr algn="l">
              <a:lnSpc>
                <a:spcPct val="120000"/>
              </a:lnSpc>
              <a:spcAft>
                <a:spcPts val="0"/>
              </a:spcAft>
            </a:pPr>
            <a:r>
              <a:rPr sz="1900" b="0" i="0">
                <a:solidFill>
                  <a:srgbClr val="1F1E1C"/>
                </a:solidFill>
                <a:latin typeface="Segoe UI"/>
              </a:rPr>
              <a:t>Dars parchasini ochish</a:t>
            </a:r>
          </a:p>
        </p:txBody>
      </p:sp>
      <p:sp>
        <p:nvSpPr>
          <p:cNvPr id="26" name="TextBox 25"/>
          <p:cNvSpPr txBox="1"/>
          <p:nvPr/>
        </p:nvSpPr>
        <p:spPr>
          <a:xfrm>
            <a:off x="6309360" y="5056632"/>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27" name="TextBox 26"/>
          <p:cNvSpPr txBox="1"/>
          <p:nvPr/>
        </p:nvSpPr>
        <p:spPr>
          <a:xfrm>
            <a:off x="9098280" y="5056632"/>
            <a:ext cx="2788920" cy="502920"/>
          </a:xfrm>
          <a:prstGeom prst="rect">
            <a:avLst/>
          </a:prstGeom>
          <a:noFill/>
        </p:spPr>
        <p:txBody>
          <a:bodyPr wrap="square" anchor="t" lIns="0" rIns="0" tIns="0" bIns="0">
            <a:spAutoFit/>
          </a:bodyPr>
          <a:lstStyle/>
          <a:p>
            <a:pPr algn="ctr">
              <a:lnSpc>
                <a:spcPct val="100000"/>
              </a:lnSpc>
              <a:spcAft>
                <a:spcPts val="0"/>
              </a:spcAft>
            </a:pPr>
            <a:r>
              <a:rPr sz="2200" b="1" i="0">
                <a:solidFill>
                  <a:srgbClr val="A8A39B"/>
                </a:solidFill>
                <a:latin typeface="Segoe UI"/>
              </a:rPr>
              <a:t>~</a:t>
            </a:r>
          </a:p>
        </p:txBody>
      </p:sp>
      <p:sp>
        <p:nvSpPr>
          <p:cNvPr id="28" name="TextBox 27"/>
          <p:cNvSpPr txBox="1"/>
          <p:nvPr/>
        </p:nvSpPr>
        <p:spPr>
          <a:xfrm>
            <a:off x="11887200" y="5056632"/>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29" name="TextBox 28"/>
          <p:cNvSpPr txBox="1"/>
          <p:nvPr/>
        </p:nvSpPr>
        <p:spPr>
          <a:xfrm>
            <a:off x="14676119" y="5056632"/>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C15F3C"/>
                </a:solidFill>
                <a:latin typeface="Segoe UI"/>
              </a:rPr>
              <a:t>✓</a:t>
            </a:r>
          </a:p>
        </p:txBody>
      </p:sp>
      <p:sp>
        <p:nvSpPr>
          <p:cNvPr id="30" name="TextBox 29"/>
          <p:cNvSpPr txBox="1"/>
          <p:nvPr/>
        </p:nvSpPr>
        <p:spPr>
          <a:xfrm>
            <a:off x="1371600" y="5897880"/>
            <a:ext cx="4663440" cy="914400"/>
          </a:xfrm>
          <a:prstGeom prst="rect">
            <a:avLst/>
          </a:prstGeom>
          <a:noFill/>
        </p:spPr>
        <p:txBody>
          <a:bodyPr wrap="square" anchor="t" lIns="0" rIns="0" tIns="0" bIns="0">
            <a:spAutoFit/>
          </a:bodyPr>
          <a:lstStyle/>
          <a:p>
            <a:pPr algn="l">
              <a:lnSpc>
                <a:spcPct val="120000"/>
              </a:lnSpc>
              <a:spcAft>
                <a:spcPts val="0"/>
              </a:spcAft>
            </a:pPr>
            <a:r>
              <a:rPr sz="1900" b="0" i="0">
                <a:solidFill>
                  <a:srgbClr val="1F1E1C"/>
                </a:solidFill>
                <a:latin typeface="Segoe UI"/>
              </a:rPr>
              <a:t>Shaxsiy o'quv rejasi</a:t>
            </a:r>
          </a:p>
        </p:txBody>
      </p:sp>
      <p:sp>
        <p:nvSpPr>
          <p:cNvPr id="31" name="TextBox 30"/>
          <p:cNvSpPr txBox="1"/>
          <p:nvPr/>
        </p:nvSpPr>
        <p:spPr>
          <a:xfrm>
            <a:off x="6309360" y="5843016"/>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32" name="TextBox 31"/>
          <p:cNvSpPr txBox="1"/>
          <p:nvPr/>
        </p:nvSpPr>
        <p:spPr>
          <a:xfrm>
            <a:off x="9098280" y="5843016"/>
            <a:ext cx="2788920" cy="502920"/>
          </a:xfrm>
          <a:prstGeom prst="rect">
            <a:avLst/>
          </a:prstGeom>
          <a:noFill/>
        </p:spPr>
        <p:txBody>
          <a:bodyPr wrap="square" anchor="t" lIns="0" rIns="0" tIns="0" bIns="0">
            <a:spAutoFit/>
          </a:bodyPr>
          <a:lstStyle/>
          <a:p>
            <a:pPr algn="ctr">
              <a:lnSpc>
                <a:spcPct val="100000"/>
              </a:lnSpc>
              <a:spcAft>
                <a:spcPts val="0"/>
              </a:spcAft>
            </a:pPr>
            <a:r>
              <a:rPr sz="2200" b="1" i="0">
                <a:solidFill>
                  <a:srgbClr val="A8A39B"/>
                </a:solidFill>
                <a:latin typeface="Segoe UI"/>
              </a:rPr>
              <a:t>~</a:t>
            </a:r>
          </a:p>
        </p:txBody>
      </p:sp>
      <p:sp>
        <p:nvSpPr>
          <p:cNvPr id="33" name="TextBox 32"/>
          <p:cNvSpPr txBox="1"/>
          <p:nvPr/>
        </p:nvSpPr>
        <p:spPr>
          <a:xfrm>
            <a:off x="11887200" y="5843016"/>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34" name="TextBox 33"/>
          <p:cNvSpPr txBox="1"/>
          <p:nvPr/>
        </p:nvSpPr>
        <p:spPr>
          <a:xfrm>
            <a:off x="14676119" y="5843016"/>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C15F3C"/>
                </a:solidFill>
                <a:latin typeface="Segoe UI"/>
              </a:rPr>
              <a:t>✓</a:t>
            </a:r>
          </a:p>
        </p:txBody>
      </p:sp>
      <p:sp>
        <p:nvSpPr>
          <p:cNvPr id="35" name="TextBox 34"/>
          <p:cNvSpPr txBox="1"/>
          <p:nvPr/>
        </p:nvSpPr>
        <p:spPr>
          <a:xfrm>
            <a:off x="1371600" y="6684264"/>
            <a:ext cx="4663440" cy="914400"/>
          </a:xfrm>
          <a:prstGeom prst="rect">
            <a:avLst/>
          </a:prstGeom>
          <a:noFill/>
        </p:spPr>
        <p:txBody>
          <a:bodyPr wrap="square" anchor="t" lIns="0" rIns="0" tIns="0" bIns="0">
            <a:spAutoFit/>
          </a:bodyPr>
          <a:lstStyle/>
          <a:p>
            <a:pPr algn="l">
              <a:lnSpc>
                <a:spcPct val="120000"/>
              </a:lnSpc>
              <a:spcAft>
                <a:spcPts val="0"/>
              </a:spcAft>
            </a:pPr>
            <a:r>
              <a:rPr sz="1900" b="0" i="0">
                <a:solidFill>
                  <a:srgbClr val="1F1E1C"/>
                </a:solidFill>
                <a:latin typeface="Segoe UI"/>
              </a:rPr>
              <a:t>Vazifani tekshirib baholash</a:t>
            </a:r>
          </a:p>
        </p:txBody>
      </p:sp>
      <p:sp>
        <p:nvSpPr>
          <p:cNvPr id="36" name="TextBox 35"/>
          <p:cNvSpPr txBox="1"/>
          <p:nvPr/>
        </p:nvSpPr>
        <p:spPr>
          <a:xfrm>
            <a:off x="6309360" y="6629400"/>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37" name="TextBox 36"/>
          <p:cNvSpPr txBox="1"/>
          <p:nvPr/>
        </p:nvSpPr>
        <p:spPr>
          <a:xfrm>
            <a:off x="9098280" y="6629400"/>
            <a:ext cx="2788920" cy="502920"/>
          </a:xfrm>
          <a:prstGeom prst="rect">
            <a:avLst/>
          </a:prstGeom>
          <a:noFill/>
        </p:spPr>
        <p:txBody>
          <a:bodyPr wrap="square" anchor="t" lIns="0" rIns="0" tIns="0" bIns="0">
            <a:spAutoFit/>
          </a:bodyPr>
          <a:lstStyle/>
          <a:p>
            <a:pPr algn="ctr">
              <a:lnSpc>
                <a:spcPct val="100000"/>
              </a:lnSpc>
              <a:spcAft>
                <a:spcPts val="0"/>
              </a:spcAft>
            </a:pPr>
            <a:r>
              <a:rPr sz="2200" b="1" i="0">
                <a:solidFill>
                  <a:srgbClr val="A8A39B"/>
                </a:solidFill>
                <a:latin typeface="Segoe UI"/>
              </a:rPr>
              <a:t>~</a:t>
            </a:r>
          </a:p>
        </p:txBody>
      </p:sp>
      <p:sp>
        <p:nvSpPr>
          <p:cNvPr id="38" name="TextBox 37"/>
          <p:cNvSpPr txBox="1"/>
          <p:nvPr/>
        </p:nvSpPr>
        <p:spPr>
          <a:xfrm>
            <a:off x="11887200" y="6629400"/>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39" name="TextBox 38"/>
          <p:cNvSpPr txBox="1"/>
          <p:nvPr/>
        </p:nvSpPr>
        <p:spPr>
          <a:xfrm>
            <a:off x="14676119" y="6629400"/>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C15F3C"/>
                </a:solidFill>
                <a:latin typeface="Segoe UI"/>
              </a:rPr>
              <a:t>✓</a:t>
            </a:r>
          </a:p>
        </p:txBody>
      </p:sp>
      <p:sp>
        <p:nvSpPr>
          <p:cNvPr id="40" name="TextBox 39"/>
          <p:cNvSpPr txBox="1"/>
          <p:nvPr/>
        </p:nvSpPr>
        <p:spPr>
          <a:xfrm>
            <a:off x="1371600" y="7470648"/>
            <a:ext cx="4663440" cy="914400"/>
          </a:xfrm>
          <a:prstGeom prst="rect">
            <a:avLst/>
          </a:prstGeom>
          <a:noFill/>
        </p:spPr>
        <p:txBody>
          <a:bodyPr wrap="square" anchor="t" lIns="0" rIns="0" tIns="0" bIns="0">
            <a:spAutoFit/>
          </a:bodyPr>
          <a:lstStyle/>
          <a:p>
            <a:pPr algn="l">
              <a:lnSpc>
                <a:spcPct val="120000"/>
              </a:lnSpc>
              <a:spcAft>
                <a:spcPts val="0"/>
              </a:spcAft>
            </a:pPr>
            <a:r>
              <a:rPr sz="1900" b="0" i="0">
                <a:solidFill>
                  <a:srgbClr val="1F1E1C"/>
                </a:solidFill>
                <a:latin typeface="Segoe UI"/>
              </a:rPr>
              <a:t>Kechayu kunduz javob</a:t>
            </a:r>
          </a:p>
        </p:txBody>
      </p:sp>
      <p:sp>
        <p:nvSpPr>
          <p:cNvPr id="41" name="TextBox 40"/>
          <p:cNvSpPr txBox="1"/>
          <p:nvPr/>
        </p:nvSpPr>
        <p:spPr>
          <a:xfrm>
            <a:off x="6309360" y="7415783"/>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1F1E1C"/>
                </a:solidFill>
                <a:latin typeface="Segoe UI"/>
              </a:rPr>
              <a:t>✓</a:t>
            </a:r>
          </a:p>
        </p:txBody>
      </p:sp>
      <p:sp>
        <p:nvSpPr>
          <p:cNvPr id="42" name="TextBox 41"/>
          <p:cNvSpPr txBox="1"/>
          <p:nvPr/>
        </p:nvSpPr>
        <p:spPr>
          <a:xfrm>
            <a:off x="9098280" y="7415783"/>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A8A39B"/>
                </a:solidFill>
                <a:latin typeface="Segoe UI"/>
              </a:rPr>
              <a:t>✕</a:t>
            </a:r>
          </a:p>
        </p:txBody>
      </p:sp>
      <p:sp>
        <p:nvSpPr>
          <p:cNvPr id="43" name="TextBox 42"/>
          <p:cNvSpPr txBox="1"/>
          <p:nvPr/>
        </p:nvSpPr>
        <p:spPr>
          <a:xfrm>
            <a:off x="11887200" y="7415783"/>
            <a:ext cx="2788920" cy="502920"/>
          </a:xfrm>
          <a:prstGeom prst="rect">
            <a:avLst/>
          </a:prstGeom>
          <a:noFill/>
        </p:spPr>
        <p:txBody>
          <a:bodyPr wrap="square" anchor="t" lIns="0" rIns="0" tIns="0" bIns="0">
            <a:spAutoFit/>
          </a:bodyPr>
          <a:lstStyle/>
          <a:p>
            <a:pPr algn="ctr">
              <a:lnSpc>
                <a:spcPct val="100000"/>
              </a:lnSpc>
              <a:spcAft>
                <a:spcPts val="0"/>
              </a:spcAft>
            </a:pPr>
            <a:r>
              <a:rPr sz="2200" b="1" i="0">
                <a:solidFill>
                  <a:srgbClr val="A8A39B"/>
                </a:solidFill>
                <a:latin typeface="Segoe UI"/>
              </a:rPr>
              <a:t>~</a:t>
            </a:r>
          </a:p>
        </p:txBody>
      </p:sp>
      <p:sp>
        <p:nvSpPr>
          <p:cNvPr id="44" name="TextBox 43"/>
          <p:cNvSpPr txBox="1"/>
          <p:nvPr/>
        </p:nvSpPr>
        <p:spPr>
          <a:xfrm>
            <a:off x="14676119" y="7415783"/>
            <a:ext cx="2788920" cy="502920"/>
          </a:xfrm>
          <a:prstGeom prst="rect">
            <a:avLst/>
          </a:prstGeom>
          <a:noFill/>
        </p:spPr>
        <p:txBody>
          <a:bodyPr wrap="square" anchor="t" lIns="0" rIns="0" tIns="0" bIns="0">
            <a:spAutoFit/>
          </a:bodyPr>
          <a:lstStyle/>
          <a:p>
            <a:pPr algn="ctr">
              <a:lnSpc>
                <a:spcPct val="100000"/>
              </a:lnSpc>
              <a:spcAft>
                <a:spcPts val="0"/>
              </a:spcAft>
            </a:pPr>
            <a:r>
              <a:rPr sz="2600" b="1" i="0">
                <a:solidFill>
                  <a:srgbClr val="C15F3C"/>
                </a:solidFill>
                <a:latin typeface="Segoe UI"/>
              </a:rPr>
              <a:t>✓</a:t>
            </a:r>
          </a:p>
        </p:txBody>
      </p:sp>
      <p:sp>
        <p:nvSpPr>
          <p:cNvPr id="45" name="TextBox 44"/>
          <p:cNvSpPr txBox="1"/>
          <p:nvPr/>
        </p:nvSpPr>
        <p:spPr>
          <a:xfrm>
            <a:off x="1371600" y="8732520"/>
            <a:ext cx="15544800" cy="914400"/>
          </a:xfrm>
          <a:prstGeom prst="rect">
            <a:avLst/>
          </a:prstGeom>
          <a:noFill/>
        </p:spPr>
        <p:txBody>
          <a:bodyPr wrap="square" anchor="t" lIns="0" rIns="0" tIns="0" bIns="0">
            <a:spAutoFit/>
          </a:bodyPr>
          <a:lstStyle/>
          <a:p>
            <a:pPr algn="l">
              <a:lnSpc>
                <a:spcPct val="120000"/>
              </a:lnSpc>
              <a:spcAft>
                <a:spcPts val="0"/>
              </a:spcAft>
            </a:pPr>
            <a:r>
              <a:rPr sz="1700" b="0" i="0">
                <a:solidFill>
                  <a:srgbClr val="6F6B63"/>
                </a:solidFill>
                <a:latin typeface="Segoe UI"/>
              </a:rPr>
              <a:t>✓  bor          ~  qisman          ✕  yo'q</a:t>
            </a:r>
          </a:p>
        </p:txBody>
      </p:sp>
      <p:sp>
        <p:nvSpPr>
          <p:cNvPr id="46" name="TextBox 45"/>
          <p:cNvSpPr txBox="1"/>
          <p:nvPr/>
        </p:nvSpPr>
        <p:spPr>
          <a:xfrm>
            <a:off x="1371600" y="9189720"/>
            <a:ext cx="15544800" cy="914400"/>
          </a:xfrm>
          <a:prstGeom prst="rect">
            <a:avLst/>
          </a:prstGeom>
          <a:noFill/>
        </p:spPr>
        <p:txBody>
          <a:bodyPr wrap="square" anchor="t" lIns="0" rIns="0" tIns="0" bIns="0">
            <a:spAutoFit/>
          </a:bodyPr>
          <a:lstStyle/>
          <a:p>
            <a:pPr algn="l">
              <a:lnSpc>
                <a:spcPct val="120000"/>
              </a:lnSpc>
              <a:spcAft>
                <a:spcPts val="0"/>
              </a:spcAft>
            </a:pPr>
            <a:r>
              <a:rPr sz="1500" b="0" i="0">
                <a:solidFill>
                  <a:srgbClr val="A8A39B"/>
                </a:solidFill>
                <a:latin typeface="Segoe UI"/>
              </a:rPr>
              <a:t>Taqqoslash toifalar bo'yicha — brend nomlari ataylab keltirilmagan.</a:t>
            </a:r>
          </a:p>
        </p:txBody>
      </p:sp>
      <p:sp>
        <p:nvSpPr>
          <p:cNvPr id="47" name="Rectangle 46"/>
          <p:cNvSpPr/>
          <p:nvPr/>
        </p:nvSpPr>
        <p:spPr>
          <a:xfrm>
            <a:off x="0" y="9921240"/>
            <a:ext cx="6858000" cy="82296"/>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430000" y="9921240"/>
            <a:ext cx="6858000" cy="82296"/>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298680" y="1051560"/>
            <a:ext cx="61722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161520" y="982980"/>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86868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86868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4208" y="86868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05840" y="1691640"/>
            <a:ext cx="3063240" cy="658368"/>
          </a:xfrm>
          <a:prstGeom prst="round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65376"/>
            <a:ext cx="3063240" cy="914400"/>
          </a:xfrm>
          <a:prstGeom prst="rect">
            <a:avLst/>
          </a:prstGeom>
          <a:noFill/>
        </p:spPr>
        <p:txBody>
          <a:bodyPr wrap="square" anchor="t" lIns="0" rIns="0" tIns="0" bIns="0">
            <a:spAutoFit/>
          </a:bodyPr>
          <a:lstStyle/>
          <a:p>
            <a:pPr algn="ctr">
              <a:lnSpc>
                <a:spcPct val="120000"/>
              </a:lnSpc>
              <a:spcAft>
                <a:spcPts val="0"/>
              </a:spcAft>
            </a:pPr>
            <a:r>
              <a:rPr sz="1700" b="1" i="0">
                <a:solidFill>
                  <a:srgbClr val="FFFFFF"/>
                </a:solidFill>
                <a:latin typeface="Segoe UI"/>
              </a:rPr>
              <a:t>KIM TO'LAYDI</a:t>
            </a:r>
          </a:p>
        </p:txBody>
      </p:sp>
      <p:sp>
        <p:nvSpPr>
          <p:cNvPr id="12" name="TextBox 11"/>
          <p:cNvSpPr txBox="1"/>
          <p:nvPr/>
        </p:nvSpPr>
        <p:spPr>
          <a:xfrm>
            <a:off x="1005840" y="2788920"/>
            <a:ext cx="8229600" cy="1230923"/>
          </a:xfrm>
          <a:prstGeom prst="rect">
            <a:avLst/>
          </a:prstGeom>
          <a:noFill/>
        </p:spPr>
        <p:txBody>
          <a:bodyPr wrap="square" anchor="t" lIns="0" rIns="0" tIns="0" bIns="0">
            <a:spAutoFit/>
          </a:bodyPr>
          <a:lstStyle/>
          <a:p>
            <a:pPr algn="l">
              <a:lnSpc>
                <a:spcPct val="100000"/>
              </a:lnSpc>
              <a:spcAft>
                <a:spcPts val="0"/>
              </a:spcAft>
            </a:pPr>
            <a:r>
              <a:rPr sz="4400" b="1" i="0">
                <a:solidFill>
                  <a:srgbClr val="1F1E1C"/>
                </a:solidFill>
                <a:latin typeface="Arial Black"/>
              </a:rPr>
              <a:t>Bizning mijozlar:</a:t>
            </a:r>
          </a:p>
        </p:txBody>
      </p:sp>
      <p:sp>
        <p:nvSpPr>
          <p:cNvPr id="13" name="Rounded Rectangle 12"/>
          <p:cNvSpPr/>
          <p:nvPr/>
        </p:nvSpPr>
        <p:spPr>
          <a:xfrm>
            <a:off x="1005840" y="4160520"/>
            <a:ext cx="8321040" cy="1024128"/>
          </a:xfrm>
          <a:prstGeom prst="roundRect">
            <a:avLst/>
          </a:prstGeom>
          <a:solidFill>
            <a:srgbClr val="FFFFFF"/>
          </a:solidFill>
          <a:ln w="12700">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 y="4160520"/>
            <a:ext cx="91440" cy="1024128"/>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17320" y="4325112"/>
            <a:ext cx="7680960" cy="914400"/>
          </a:xfrm>
          <a:prstGeom prst="rect">
            <a:avLst/>
          </a:prstGeom>
          <a:noFill/>
        </p:spPr>
        <p:txBody>
          <a:bodyPr wrap="square" anchor="t" lIns="0" rIns="0" tIns="0" bIns="0">
            <a:spAutoFit/>
          </a:bodyPr>
          <a:lstStyle/>
          <a:p>
            <a:pPr algn="l">
              <a:lnSpc>
                <a:spcPct val="120000"/>
              </a:lnSpc>
              <a:spcAft>
                <a:spcPts val="0"/>
              </a:spcAft>
            </a:pPr>
            <a:r>
              <a:rPr sz="2100" b="1" i="0">
                <a:solidFill>
                  <a:srgbClr val="1F1E1C"/>
                </a:solidFill>
                <a:latin typeface="Segoe UI"/>
              </a:rPr>
              <a:t>Ustozlar va murabbiylar</a:t>
            </a:r>
          </a:p>
        </p:txBody>
      </p:sp>
      <p:sp>
        <p:nvSpPr>
          <p:cNvPr id="16" name="TextBox 15"/>
          <p:cNvSpPr txBox="1"/>
          <p:nvPr/>
        </p:nvSpPr>
        <p:spPr>
          <a:xfrm>
            <a:off x="1417320" y="4709159"/>
            <a:ext cx="7680960" cy="914400"/>
          </a:xfrm>
          <a:prstGeom prst="rect">
            <a:avLst/>
          </a:prstGeom>
          <a:noFill/>
        </p:spPr>
        <p:txBody>
          <a:bodyPr wrap="square" anchor="t" lIns="0" rIns="0" tIns="0" bIns="0">
            <a:spAutoFit/>
          </a:bodyPr>
          <a:lstStyle/>
          <a:p>
            <a:pPr algn="l">
              <a:lnSpc>
                <a:spcPct val="120000"/>
              </a:lnSpc>
              <a:spcAft>
                <a:spcPts val="0"/>
              </a:spcAft>
            </a:pPr>
            <a:r>
              <a:rPr sz="1600" b="0" i="0">
                <a:solidFill>
                  <a:srgbClr val="6F6B63"/>
                </a:solidFill>
                <a:latin typeface="Segoe UI"/>
              </a:rPr>
              <a:t>O'z bilimini sotadi, lekin vaqti cheklangan</a:t>
            </a:r>
          </a:p>
        </p:txBody>
      </p:sp>
      <p:sp>
        <p:nvSpPr>
          <p:cNvPr id="17" name="Rounded Rectangle 16"/>
          <p:cNvSpPr/>
          <p:nvPr/>
        </p:nvSpPr>
        <p:spPr>
          <a:xfrm>
            <a:off x="1005840" y="5394960"/>
            <a:ext cx="8321040" cy="1024128"/>
          </a:xfrm>
          <a:prstGeom prst="roundRect">
            <a:avLst/>
          </a:prstGeom>
          <a:solidFill>
            <a:srgbClr val="FFFFFF"/>
          </a:solidFill>
          <a:ln w="12700">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05840" y="5394960"/>
            <a:ext cx="91440" cy="1024128"/>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17320" y="5559552"/>
            <a:ext cx="7680960" cy="914400"/>
          </a:xfrm>
          <a:prstGeom prst="rect">
            <a:avLst/>
          </a:prstGeom>
          <a:noFill/>
        </p:spPr>
        <p:txBody>
          <a:bodyPr wrap="square" anchor="t" lIns="0" rIns="0" tIns="0" bIns="0">
            <a:spAutoFit/>
          </a:bodyPr>
          <a:lstStyle/>
          <a:p>
            <a:pPr algn="l">
              <a:lnSpc>
                <a:spcPct val="120000"/>
              </a:lnSpc>
              <a:spcAft>
                <a:spcPts val="0"/>
              </a:spcAft>
            </a:pPr>
            <a:r>
              <a:rPr sz="2100" b="1" i="0">
                <a:solidFill>
                  <a:srgbClr val="1F1E1C"/>
                </a:solidFill>
                <a:latin typeface="Segoe UI"/>
              </a:rPr>
              <a:t>O'quv markazlari</a:t>
            </a:r>
          </a:p>
        </p:txBody>
      </p:sp>
      <p:sp>
        <p:nvSpPr>
          <p:cNvPr id="20" name="TextBox 19"/>
          <p:cNvSpPr txBox="1"/>
          <p:nvPr/>
        </p:nvSpPr>
        <p:spPr>
          <a:xfrm>
            <a:off x="1417320" y="5943600"/>
            <a:ext cx="7680960" cy="914400"/>
          </a:xfrm>
          <a:prstGeom prst="rect">
            <a:avLst/>
          </a:prstGeom>
          <a:noFill/>
        </p:spPr>
        <p:txBody>
          <a:bodyPr wrap="square" anchor="t" lIns="0" rIns="0" tIns="0" bIns="0">
            <a:spAutoFit/>
          </a:bodyPr>
          <a:lstStyle/>
          <a:p>
            <a:pPr algn="l">
              <a:lnSpc>
                <a:spcPct val="120000"/>
              </a:lnSpc>
              <a:spcAft>
                <a:spcPts val="0"/>
              </a:spcAft>
            </a:pPr>
            <a:r>
              <a:rPr sz="1600" b="0" i="0">
                <a:solidFill>
                  <a:srgbClr val="6F6B63"/>
                </a:solidFill>
                <a:latin typeface="Segoe UI"/>
              </a:rPr>
              <a:t>Bir ustozning darsini yuzlab o'quvchiga yetkazadi</a:t>
            </a:r>
          </a:p>
        </p:txBody>
      </p:sp>
      <p:sp>
        <p:nvSpPr>
          <p:cNvPr id="21" name="Rounded Rectangle 20"/>
          <p:cNvSpPr/>
          <p:nvPr/>
        </p:nvSpPr>
        <p:spPr>
          <a:xfrm>
            <a:off x="1005840" y="6629400"/>
            <a:ext cx="8321040" cy="1024128"/>
          </a:xfrm>
          <a:prstGeom prst="roundRect">
            <a:avLst/>
          </a:prstGeom>
          <a:solidFill>
            <a:srgbClr val="FFFFFF"/>
          </a:solidFill>
          <a:ln w="12700">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05840" y="6629400"/>
            <a:ext cx="91440" cy="1024128"/>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17320" y="6793992"/>
            <a:ext cx="7680960" cy="914400"/>
          </a:xfrm>
          <a:prstGeom prst="rect">
            <a:avLst/>
          </a:prstGeom>
          <a:noFill/>
        </p:spPr>
        <p:txBody>
          <a:bodyPr wrap="square" anchor="t" lIns="0" rIns="0" tIns="0" bIns="0">
            <a:spAutoFit/>
          </a:bodyPr>
          <a:lstStyle/>
          <a:p>
            <a:pPr algn="l">
              <a:lnSpc>
                <a:spcPct val="120000"/>
              </a:lnSpc>
              <a:spcAft>
                <a:spcPts val="0"/>
              </a:spcAft>
            </a:pPr>
            <a:r>
              <a:rPr sz="2100" b="1" i="0">
                <a:solidFill>
                  <a:srgbClr val="1F1E1C"/>
                </a:solidFill>
                <a:latin typeface="Segoe UI"/>
              </a:rPr>
              <a:t>Korxonalar</a:t>
            </a:r>
          </a:p>
        </p:txBody>
      </p:sp>
      <p:sp>
        <p:nvSpPr>
          <p:cNvPr id="24" name="TextBox 23"/>
          <p:cNvSpPr txBox="1"/>
          <p:nvPr/>
        </p:nvSpPr>
        <p:spPr>
          <a:xfrm>
            <a:off x="1417320" y="7178040"/>
            <a:ext cx="7680960" cy="914400"/>
          </a:xfrm>
          <a:prstGeom prst="rect">
            <a:avLst/>
          </a:prstGeom>
          <a:noFill/>
        </p:spPr>
        <p:txBody>
          <a:bodyPr wrap="square" anchor="t" lIns="0" rIns="0" tIns="0" bIns="0">
            <a:spAutoFit/>
          </a:bodyPr>
          <a:lstStyle/>
          <a:p>
            <a:pPr algn="l">
              <a:lnSpc>
                <a:spcPct val="120000"/>
              </a:lnSpc>
              <a:spcAft>
                <a:spcPts val="0"/>
              </a:spcAft>
            </a:pPr>
            <a:r>
              <a:rPr sz="1600" b="0" i="0">
                <a:solidFill>
                  <a:srgbClr val="6F6B63"/>
                </a:solidFill>
                <a:latin typeface="Segoe UI"/>
              </a:rPr>
              <a:t>Tajribali xodimning bilimi ishdan ketganda qolsin</a:t>
            </a:r>
          </a:p>
        </p:txBody>
      </p:sp>
      <p:sp>
        <p:nvSpPr>
          <p:cNvPr id="25" name="Rounded Rectangle 24"/>
          <p:cNvSpPr/>
          <p:nvPr/>
        </p:nvSpPr>
        <p:spPr>
          <a:xfrm>
            <a:off x="1005840" y="7863840"/>
            <a:ext cx="8321040" cy="1024128"/>
          </a:xfrm>
          <a:prstGeom prst="roundRect">
            <a:avLst/>
          </a:prstGeom>
          <a:solidFill>
            <a:srgbClr val="FFFFFF"/>
          </a:solidFill>
          <a:ln w="12700">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05840" y="7863840"/>
            <a:ext cx="91440" cy="1024128"/>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17320" y="8028432"/>
            <a:ext cx="7680960" cy="914400"/>
          </a:xfrm>
          <a:prstGeom prst="rect">
            <a:avLst/>
          </a:prstGeom>
          <a:noFill/>
        </p:spPr>
        <p:txBody>
          <a:bodyPr wrap="square" anchor="t" lIns="0" rIns="0" tIns="0" bIns="0">
            <a:spAutoFit/>
          </a:bodyPr>
          <a:lstStyle/>
          <a:p>
            <a:pPr algn="l">
              <a:lnSpc>
                <a:spcPct val="120000"/>
              </a:lnSpc>
              <a:spcAft>
                <a:spcPts val="0"/>
              </a:spcAft>
            </a:pPr>
            <a:r>
              <a:rPr sz="2100" b="1" i="0">
                <a:solidFill>
                  <a:srgbClr val="1F1E1C"/>
                </a:solidFill>
                <a:latin typeface="Segoe UI"/>
              </a:rPr>
              <a:t>Nashriyot va media</a:t>
            </a:r>
          </a:p>
        </p:txBody>
      </p:sp>
      <p:sp>
        <p:nvSpPr>
          <p:cNvPr id="28" name="TextBox 27"/>
          <p:cNvSpPr txBox="1"/>
          <p:nvPr/>
        </p:nvSpPr>
        <p:spPr>
          <a:xfrm>
            <a:off x="1417320" y="8412480"/>
            <a:ext cx="7680960" cy="914400"/>
          </a:xfrm>
          <a:prstGeom prst="rect">
            <a:avLst/>
          </a:prstGeom>
          <a:noFill/>
        </p:spPr>
        <p:txBody>
          <a:bodyPr wrap="square" anchor="t" lIns="0" rIns="0" tIns="0" bIns="0">
            <a:spAutoFit/>
          </a:bodyPr>
          <a:lstStyle/>
          <a:p>
            <a:pPr algn="l">
              <a:lnSpc>
                <a:spcPct val="120000"/>
              </a:lnSpc>
              <a:spcAft>
                <a:spcPts val="0"/>
              </a:spcAft>
            </a:pPr>
            <a:r>
              <a:rPr sz="1600" b="0" i="0">
                <a:solidFill>
                  <a:srgbClr val="6F6B63"/>
                </a:solidFill>
                <a:latin typeface="Segoe UI"/>
              </a:rPr>
              <a:t>Arxivdagi kontentni javob beradigan mahsulotga aylantiradi</a:t>
            </a:r>
          </a:p>
        </p:txBody>
      </p:sp>
      <p:sp>
        <p:nvSpPr>
          <p:cNvPr id="29" name="Rounded Rectangle 28"/>
          <p:cNvSpPr/>
          <p:nvPr/>
        </p:nvSpPr>
        <p:spPr>
          <a:xfrm>
            <a:off x="10378440" y="2331720"/>
            <a:ext cx="6903720" cy="3977639"/>
          </a:xfrm>
          <a:prstGeom prst="round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18520" y="2880360"/>
            <a:ext cx="5669280" cy="914400"/>
          </a:xfrm>
          <a:prstGeom prst="rect">
            <a:avLst/>
          </a:prstGeom>
          <a:noFill/>
        </p:spPr>
        <p:txBody>
          <a:bodyPr wrap="square" anchor="t" lIns="0" rIns="0" tIns="0" bIns="0">
            <a:spAutoFit/>
          </a:bodyPr>
          <a:lstStyle/>
          <a:p>
            <a:pPr algn="l">
              <a:lnSpc>
                <a:spcPct val="120000"/>
              </a:lnSpc>
              <a:spcAft>
                <a:spcPts val="0"/>
              </a:spcAft>
            </a:pPr>
            <a:r>
              <a:rPr sz="1500" b="1" i="0">
                <a:solidFill>
                  <a:srgbClr val="E39B76"/>
                </a:solidFill>
                <a:latin typeface="Segoe UI"/>
              </a:rPr>
              <a:t>MAQSAD</a:t>
            </a:r>
          </a:p>
        </p:txBody>
      </p:sp>
      <p:sp>
        <p:nvSpPr>
          <p:cNvPr id="31" name="TextBox 30"/>
          <p:cNvSpPr txBox="1"/>
          <p:nvPr/>
        </p:nvSpPr>
        <p:spPr>
          <a:xfrm>
            <a:off x="11018520" y="3520440"/>
            <a:ext cx="5669280" cy="2926080"/>
          </a:xfrm>
          <a:prstGeom prst="rect">
            <a:avLst/>
          </a:prstGeom>
          <a:noFill/>
        </p:spPr>
        <p:txBody>
          <a:bodyPr wrap="square" anchor="t" lIns="0" rIns="0" tIns="0" bIns="0">
            <a:spAutoFit/>
          </a:bodyPr>
          <a:lstStyle/>
          <a:p>
            <a:pPr algn="l">
              <a:lnSpc>
                <a:spcPct val="125000"/>
              </a:lnSpc>
              <a:spcAft>
                <a:spcPts val="0"/>
              </a:spcAft>
            </a:pPr>
            <a:r>
              <a:rPr sz="3000" b="1" i="0">
                <a:solidFill>
                  <a:srgbClr val="FFFFFF"/>
                </a:solidFill>
                <a:latin typeface="Arial Black"/>
              </a:rPr>
              <a:t>Markaziy Osiyoda bilim egalari uchun asosiy platformaga aylanish.</a:t>
            </a:r>
          </a:p>
        </p:txBody>
      </p:sp>
      <p:sp>
        <p:nvSpPr>
          <p:cNvPr id="32" name="TextBox 31"/>
          <p:cNvSpPr txBox="1"/>
          <p:nvPr/>
        </p:nvSpPr>
        <p:spPr>
          <a:xfrm>
            <a:off x="10378440" y="6812280"/>
            <a:ext cx="6903720" cy="914400"/>
          </a:xfrm>
          <a:prstGeom prst="rect">
            <a:avLst/>
          </a:prstGeom>
          <a:noFill/>
        </p:spPr>
        <p:txBody>
          <a:bodyPr wrap="square" anchor="t" lIns="0" rIns="0" tIns="0" bIns="0">
            <a:spAutoFit/>
          </a:bodyPr>
          <a:lstStyle/>
          <a:p>
            <a:pPr algn="l">
              <a:lnSpc>
                <a:spcPct val="120000"/>
              </a:lnSpc>
              <a:spcAft>
                <a:spcPts val="0"/>
              </a:spcAft>
            </a:pPr>
            <a:r>
              <a:rPr sz="1800" b="0" i="0">
                <a:solidFill>
                  <a:srgbClr val="1F1E1C"/>
                </a:solidFill>
                <a:latin typeface="Segoe UI"/>
              </a:rPr>
              <a:t>Ustoz o'z bahosini o'zi qo'yadi. Biz platformamiz —
sotuvdan ulush olamiz, bilimga egalik qilmaymiz.</a:t>
            </a:r>
          </a:p>
        </p:txBody>
      </p:sp>
      <p:sp>
        <p:nvSpPr>
          <p:cNvPr id="33" name="Freeform 32"/>
          <p:cNvSpPr/>
          <p:nvPr/>
        </p:nvSpPr>
        <p:spPr>
          <a:xfrm>
            <a:off x="0" y="9528048"/>
            <a:ext cx="6903720" cy="758952"/>
          </a:xfrm>
          <a:custGeom>
            <a:avLst/>
            <a:gdLst/>
            <a:ahLst/>
            <a:cxnLst/>
            <a:rect l="l" t="t" r="r" b="b"/>
            <a:pathLst>
              <a:path w="6903720" h="758952">
                <a:moveTo>
                  <a:pt x="0" y="0"/>
                </a:moveTo>
                <a:lnTo>
                  <a:pt x="6903720" y="0"/>
                </a:lnTo>
                <a:lnTo>
                  <a:pt x="6126480" y="758952"/>
                </a:lnTo>
                <a:lnTo>
                  <a:pt x="0" y="758952"/>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5577840" y="9528048"/>
            <a:ext cx="12710160" cy="758952"/>
          </a:xfrm>
          <a:custGeom>
            <a:avLst/>
            <a:gdLst/>
            <a:ahLst/>
            <a:cxnLst/>
            <a:rect l="l" t="t" r="r" b="b"/>
            <a:pathLst>
              <a:path w="12710160" h="758952">
                <a:moveTo>
                  <a:pt x="777240" y="0"/>
                </a:moveTo>
                <a:lnTo>
                  <a:pt x="12710160" y="0"/>
                </a:lnTo>
                <a:lnTo>
                  <a:pt x="12710160" y="758952"/>
                </a:lnTo>
                <a:lnTo>
                  <a:pt x="0" y="758952"/>
                </a:lnTo>
                <a:close/>
              </a:path>
            </a:pathLst>
          </a:cu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14081760" y="10040112"/>
            <a:ext cx="4206240" cy="246888"/>
          </a:xfrm>
          <a:custGeom>
            <a:avLst/>
            <a:gdLst/>
            <a:ahLst/>
            <a:cxnLst/>
            <a:rect l="l" t="t" r="r" b="b"/>
            <a:pathLst>
              <a:path w="4206240" h="246888">
                <a:moveTo>
                  <a:pt x="182880" y="0"/>
                </a:moveTo>
                <a:lnTo>
                  <a:pt x="4206240" y="0"/>
                </a:lnTo>
                <a:lnTo>
                  <a:pt x="4206240" y="246888"/>
                </a:lnTo>
                <a:lnTo>
                  <a:pt x="0" y="246888"/>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298680" y="1051560"/>
            <a:ext cx="61722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161520" y="982980"/>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77724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77724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4208" y="777240"/>
            <a:ext cx="169164" cy="169164"/>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325880"/>
            <a:ext cx="4572000" cy="1371600"/>
          </a:xfrm>
          <a:prstGeom prst="rect">
            <a:avLst/>
          </a:prstGeom>
          <a:noFill/>
        </p:spPr>
        <p:txBody>
          <a:bodyPr wrap="square" anchor="t" lIns="0" rIns="0" tIns="0" bIns="0">
            <a:spAutoFit/>
          </a:bodyPr>
          <a:lstStyle/>
          <a:p>
            <a:pPr algn="l">
              <a:lnSpc>
                <a:spcPct val="105000"/>
              </a:lnSpc>
              <a:spcAft>
                <a:spcPts val="0"/>
              </a:spcAft>
            </a:pPr>
            <a:r>
              <a:rPr sz="5200" b="1" i="0">
                <a:solidFill>
                  <a:srgbClr val="1F1E1C"/>
                </a:solidFill>
                <a:latin typeface="Arial Black"/>
              </a:rPr>
              <a:t>Daromad
modeli</a:t>
            </a:r>
          </a:p>
        </p:txBody>
      </p:sp>
      <p:sp>
        <p:nvSpPr>
          <p:cNvPr id="11" name="Rectangle 10"/>
          <p:cNvSpPr/>
          <p:nvPr/>
        </p:nvSpPr>
        <p:spPr>
          <a:xfrm>
            <a:off x="5989320" y="1417320"/>
            <a:ext cx="3291840" cy="1874519"/>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85431" y="1600200"/>
            <a:ext cx="1499616" cy="1499616"/>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9320" y="2167128"/>
            <a:ext cx="3291840" cy="548640"/>
          </a:xfrm>
          <a:prstGeom prst="rect">
            <a:avLst/>
          </a:prstGeom>
          <a:noFill/>
        </p:spPr>
        <p:txBody>
          <a:bodyPr wrap="square" anchor="t" lIns="0" rIns="0" tIns="0" bIns="0">
            <a:spAutoFit/>
          </a:bodyPr>
          <a:lstStyle/>
          <a:p>
            <a:pPr algn="ctr">
              <a:lnSpc>
                <a:spcPct val="100000"/>
              </a:lnSpc>
              <a:spcAft>
                <a:spcPts val="0"/>
              </a:spcAft>
            </a:pPr>
            <a:r>
              <a:rPr sz="2500" b="1" i="0">
                <a:solidFill>
                  <a:srgbClr val="FFFFFF"/>
                </a:solidFill>
                <a:latin typeface="Segoe UI"/>
              </a:rPr>
              <a:t>3 savol</a:t>
            </a:r>
          </a:p>
        </p:txBody>
      </p:sp>
      <p:sp>
        <p:nvSpPr>
          <p:cNvPr id="14" name="Rectangle 13"/>
          <p:cNvSpPr/>
          <p:nvPr/>
        </p:nvSpPr>
        <p:spPr>
          <a:xfrm>
            <a:off x="5989320" y="3291839"/>
            <a:ext cx="3291840" cy="841248"/>
          </a:xfrm>
          <a:prstGeom prst="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3538728"/>
            <a:ext cx="3291840" cy="457200"/>
          </a:xfrm>
          <a:prstGeom prst="rect">
            <a:avLst/>
          </a:prstGeom>
          <a:noFill/>
        </p:spPr>
        <p:txBody>
          <a:bodyPr wrap="square" anchor="t" lIns="0" rIns="0" tIns="0" bIns="0">
            <a:spAutoFit/>
          </a:bodyPr>
          <a:lstStyle/>
          <a:p>
            <a:pPr algn="ctr">
              <a:lnSpc>
                <a:spcPct val="100000"/>
              </a:lnSpc>
              <a:spcAft>
                <a:spcPts val="0"/>
              </a:spcAft>
            </a:pPr>
            <a:r>
              <a:rPr sz="2000" b="1" i="0">
                <a:solidFill>
                  <a:srgbClr val="FFFFFF"/>
                </a:solidFill>
                <a:latin typeface="Segoe UI"/>
              </a:rPr>
              <a:t>Bepul tanishuv</a:t>
            </a:r>
          </a:p>
        </p:txBody>
      </p:sp>
      <p:sp>
        <p:nvSpPr>
          <p:cNvPr id="16" name="TextBox 15"/>
          <p:cNvSpPr txBox="1"/>
          <p:nvPr/>
        </p:nvSpPr>
        <p:spPr>
          <a:xfrm>
            <a:off x="9646920" y="1965960"/>
            <a:ext cx="2377440" cy="914400"/>
          </a:xfrm>
          <a:prstGeom prst="rect">
            <a:avLst/>
          </a:prstGeom>
          <a:noFill/>
        </p:spPr>
        <p:txBody>
          <a:bodyPr wrap="square" anchor="t" lIns="0" rIns="0" tIns="0" bIns="0">
            <a:spAutoFit/>
          </a:bodyPr>
          <a:lstStyle/>
          <a:p>
            <a:pPr algn="l">
              <a:lnSpc>
                <a:spcPct val="120000"/>
              </a:lnSpc>
              <a:spcAft>
                <a:spcPts val="0"/>
              </a:spcAft>
            </a:pPr>
            <a:r>
              <a:rPr sz="1600" b="0" i="0">
                <a:solidFill>
                  <a:srgbClr val="6F6B63"/>
                </a:solidFill>
                <a:latin typeface="Segoe UI"/>
              </a:rPr>
              <a:t>Kartasiz, ro'yxatdan
o'tgan zahoti</a:t>
            </a:r>
          </a:p>
        </p:txBody>
      </p:sp>
      <p:sp>
        <p:nvSpPr>
          <p:cNvPr id="17" name="TextBox 16"/>
          <p:cNvSpPr txBox="1"/>
          <p:nvPr/>
        </p:nvSpPr>
        <p:spPr>
          <a:xfrm>
            <a:off x="1005840" y="4892040"/>
            <a:ext cx="4572000" cy="1371600"/>
          </a:xfrm>
          <a:prstGeom prst="rect">
            <a:avLst/>
          </a:prstGeom>
          <a:noFill/>
        </p:spPr>
        <p:txBody>
          <a:bodyPr wrap="square" anchor="t" lIns="0" rIns="0" tIns="0" bIns="0">
            <a:spAutoFit/>
          </a:bodyPr>
          <a:lstStyle/>
          <a:p>
            <a:pPr algn="l">
              <a:lnSpc>
                <a:spcPct val="100000"/>
              </a:lnSpc>
              <a:spcAft>
                <a:spcPts val="0"/>
              </a:spcAft>
            </a:pPr>
            <a:r>
              <a:rPr sz="5200" b="1" i="0">
                <a:solidFill>
                  <a:srgbClr val="1F1E1C"/>
                </a:solidFill>
                <a:latin typeface="Arial Black"/>
              </a:rPr>
              <a:t>Obuna</a:t>
            </a:r>
          </a:p>
        </p:txBody>
      </p:sp>
      <p:sp>
        <p:nvSpPr>
          <p:cNvPr id="18" name="Rectangle 17"/>
          <p:cNvSpPr/>
          <p:nvPr/>
        </p:nvSpPr>
        <p:spPr>
          <a:xfrm>
            <a:off x="1143000" y="6355080"/>
            <a:ext cx="2880360" cy="1874519"/>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833372" y="6537960"/>
            <a:ext cx="1499616" cy="1499616"/>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7104888"/>
            <a:ext cx="2880360" cy="548640"/>
          </a:xfrm>
          <a:prstGeom prst="rect">
            <a:avLst/>
          </a:prstGeom>
          <a:noFill/>
        </p:spPr>
        <p:txBody>
          <a:bodyPr wrap="square" anchor="t" lIns="0" rIns="0" tIns="0" bIns="0">
            <a:spAutoFit/>
          </a:bodyPr>
          <a:lstStyle/>
          <a:p>
            <a:pPr algn="ctr">
              <a:lnSpc>
                <a:spcPct val="100000"/>
              </a:lnSpc>
              <a:spcAft>
                <a:spcPts val="0"/>
              </a:spcAft>
            </a:pPr>
            <a:r>
              <a:rPr sz="2600" b="1" i="0">
                <a:solidFill>
                  <a:srgbClr val="FFFFFF"/>
                </a:solidFill>
                <a:latin typeface="Segoe UI"/>
              </a:rPr>
              <a:t>149 000</a:t>
            </a:r>
          </a:p>
        </p:txBody>
      </p:sp>
      <p:sp>
        <p:nvSpPr>
          <p:cNvPr id="21" name="Rectangle 20"/>
          <p:cNvSpPr/>
          <p:nvPr/>
        </p:nvSpPr>
        <p:spPr>
          <a:xfrm>
            <a:off x="1143000" y="8229600"/>
            <a:ext cx="2880360" cy="841248"/>
          </a:xfrm>
          <a:prstGeom prst="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8476488"/>
            <a:ext cx="2880360" cy="457200"/>
          </a:xfrm>
          <a:prstGeom prst="rect">
            <a:avLst/>
          </a:prstGeom>
          <a:noFill/>
        </p:spPr>
        <p:txBody>
          <a:bodyPr wrap="square" anchor="t" lIns="0" rIns="0" tIns="0" bIns="0">
            <a:spAutoFit/>
          </a:bodyPr>
          <a:lstStyle/>
          <a:p>
            <a:pPr algn="ctr">
              <a:lnSpc>
                <a:spcPct val="100000"/>
              </a:lnSpc>
              <a:spcAft>
                <a:spcPts val="0"/>
              </a:spcAft>
            </a:pPr>
            <a:r>
              <a:rPr sz="2000" b="1" i="0">
                <a:solidFill>
                  <a:srgbClr val="FFFFFF"/>
                </a:solidFill>
                <a:latin typeface="Segoe UI"/>
              </a:rPr>
              <a:t>Bazaviy</a:t>
            </a:r>
          </a:p>
        </p:txBody>
      </p:sp>
      <p:sp>
        <p:nvSpPr>
          <p:cNvPr id="23" name="Rectangle 22"/>
          <p:cNvSpPr/>
          <p:nvPr/>
        </p:nvSpPr>
        <p:spPr>
          <a:xfrm>
            <a:off x="4617720" y="6355080"/>
            <a:ext cx="2880360" cy="1874519"/>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308092" y="6537960"/>
            <a:ext cx="1499616" cy="1499616"/>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7104888"/>
            <a:ext cx="2880360" cy="548640"/>
          </a:xfrm>
          <a:prstGeom prst="rect">
            <a:avLst/>
          </a:prstGeom>
          <a:noFill/>
        </p:spPr>
        <p:txBody>
          <a:bodyPr wrap="square" anchor="t" lIns="0" rIns="0" tIns="0" bIns="0">
            <a:spAutoFit/>
          </a:bodyPr>
          <a:lstStyle/>
          <a:p>
            <a:pPr algn="ctr">
              <a:lnSpc>
                <a:spcPct val="100000"/>
              </a:lnSpc>
              <a:spcAft>
                <a:spcPts val="0"/>
              </a:spcAft>
            </a:pPr>
            <a:r>
              <a:rPr sz="2600" b="1" i="0">
                <a:solidFill>
                  <a:srgbClr val="FFFFFF"/>
                </a:solidFill>
                <a:latin typeface="Segoe UI"/>
              </a:rPr>
              <a:t>449 000</a:t>
            </a:r>
          </a:p>
        </p:txBody>
      </p:sp>
      <p:sp>
        <p:nvSpPr>
          <p:cNvPr id="26" name="Rectangle 25"/>
          <p:cNvSpPr/>
          <p:nvPr/>
        </p:nvSpPr>
        <p:spPr>
          <a:xfrm>
            <a:off x="4617720" y="8229600"/>
            <a:ext cx="2880360" cy="841248"/>
          </a:xfrm>
          <a:prstGeom prst="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7720" y="8476488"/>
            <a:ext cx="2880360" cy="457200"/>
          </a:xfrm>
          <a:prstGeom prst="rect">
            <a:avLst/>
          </a:prstGeom>
          <a:noFill/>
        </p:spPr>
        <p:txBody>
          <a:bodyPr wrap="square" anchor="t" lIns="0" rIns="0" tIns="0" bIns="0">
            <a:spAutoFit/>
          </a:bodyPr>
          <a:lstStyle/>
          <a:p>
            <a:pPr algn="ctr">
              <a:lnSpc>
                <a:spcPct val="100000"/>
              </a:lnSpc>
              <a:spcAft>
                <a:spcPts val="0"/>
              </a:spcAft>
            </a:pPr>
            <a:r>
              <a:rPr sz="2000" b="1" i="0">
                <a:solidFill>
                  <a:srgbClr val="FFFFFF"/>
                </a:solidFill>
                <a:latin typeface="Segoe UI"/>
              </a:rPr>
              <a:t>Professional</a:t>
            </a:r>
          </a:p>
        </p:txBody>
      </p:sp>
      <p:sp>
        <p:nvSpPr>
          <p:cNvPr id="28" name="Rectangle 27"/>
          <p:cNvSpPr/>
          <p:nvPr/>
        </p:nvSpPr>
        <p:spPr>
          <a:xfrm>
            <a:off x="8092440" y="6355080"/>
            <a:ext cx="2880360" cy="1874519"/>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782811" y="6537960"/>
            <a:ext cx="1499616" cy="1499616"/>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92440" y="7104888"/>
            <a:ext cx="2880360" cy="548640"/>
          </a:xfrm>
          <a:prstGeom prst="rect">
            <a:avLst/>
          </a:prstGeom>
          <a:noFill/>
        </p:spPr>
        <p:txBody>
          <a:bodyPr wrap="square" anchor="t" lIns="0" rIns="0" tIns="0" bIns="0">
            <a:spAutoFit/>
          </a:bodyPr>
          <a:lstStyle/>
          <a:p>
            <a:pPr algn="ctr">
              <a:lnSpc>
                <a:spcPct val="100000"/>
              </a:lnSpc>
              <a:spcAft>
                <a:spcPts val="0"/>
              </a:spcAft>
            </a:pPr>
            <a:r>
              <a:rPr sz="2600" b="1" i="0">
                <a:solidFill>
                  <a:srgbClr val="FFFFFF"/>
                </a:solidFill>
                <a:latin typeface="Segoe UI"/>
              </a:rPr>
              <a:t>Kelishuv</a:t>
            </a:r>
          </a:p>
        </p:txBody>
      </p:sp>
      <p:sp>
        <p:nvSpPr>
          <p:cNvPr id="31" name="Rectangle 30"/>
          <p:cNvSpPr/>
          <p:nvPr/>
        </p:nvSpPr>
        <p:spPr>
          <a:xfrm>
            <a:off x="8092440" y="8229600"/>
            <a:ext cx="2880360" cy="841248"/>
          </a:xfrm>
          <a:prstGeom prst="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92440" y="8476488"/>
            <a:ext cx="2880360" cy="457200"/>
          </a:xfrm>
          <a:prstGeom prst="rect">
            <a:avLst/>
          </a:prstGeom>
          <a:noFill/>
        </p:spPr>
        <p:txBody>
          <a:bodyPr wrap="square" anchor="t" lIns="0" rIns="0" tIns="0" bIns="0">
            <a:spAutoFit/>
          </a:bodyPr>
          <a:lstStyle/>
          <a:p>
            <a:pPr algn="ctr">
              <a:lnSpc>
                <a:spcPct val="100000"/>
              </a:lnSpc>
              <a:spcAft>
                <a:spcPts val="0"/>
              </a:spcAft>
            </a:pPr>
            <a:r>
              <a:rPr sz="2000" b="1" i="0">
                <a:solidFill>
                  <a:srgbClr val="FFFFFF"/>
                </a:solidFill>
                <a:latin typeface="Segoe UI"/>
              </a:rPr>
              <a:t>Korxona</a:t>
            </a:r>
          </a:p>
        </p:txBody>
      </p:sp>
      <p:sp>
        <p:nvSpPr>
          <p:cNvPr id="33" name="Rounded Rectangle 32"/>
          <p:cNvSpPr/>
          <p:nvPr/>
        </p:nvSpPr>
        <p:spPr>
          <a:xfrm>
            <a:off x="12207240" y="2148840"/>
            <a:ext cx="5074920" cy="5897880"/>
          </a:xfrm>
          <a:prstGeom prst="roundRect">
            <a:avLst/>
          </a:prstGeom>
          <a:solidFill>
            <a:srgbClr val="FFFFFF"/>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755880" y="2697480"/>
            <a:ext cx="4114800" cy="914400"/>
          </a:xfrm>
          <a:prstGeom prst="rect">
            <a:avLst/>
          </a:prstGeom>
          <a:noFill/>
        </p:spPr>
        <p:txBody>
          <a:bodyPr wrap="square" anchor="t" lIns="0" rIns="0" tIns="0" bIns="0">
            <a:spAutoFit/>
          </a:bodyPr>
          <a:lstStyle/>
          <a:p>
            <a:pPr algn="l">
              <a:lnSpc>
                <a:spcPct val="120000"/>
              </a:lnSpc>
              <a:spcAft>
                <a:spcPts val="0"/>
              </a:spcAft>
            </a:pPr>
            <a:r>
              <a:rPr sz="1500" b="1" i="0">
                <a:solidFill>
                  <a:srgbClr val="C15F3C"/>
                </a:solidFill>
                <a:latin typeface="Segoe UI"/>
              </a:rPr>
              <a:t>NEGA BU ISHLAYDI</a:t>
            </a:r>
          </a:p>
        </p:txBody>
      </p:sp>
      <p:sp>
        <p:nvSpPr>
          <p:cNvPr id="35" name="TextBox 34"/>
          <p:cNvSpPr txBox="1"/>
          <p:nvPr/>
        </p:nvSpPr>
        <p:spPr>
          <a:xfrm>
            <a:off x="12755880" y="3429000"/>
            <a:ext cx="4114800" cy="594360"/>
          </a:xfrm>
          <a:prstGeom prst="rect">
            <a:avLst/>
          </a:prstGeom>
          <a:noFill/>
        </p:spPr>
        <p:txBody>
          <a:bodyPr wrap="square" anchor="t" lIns="0" rIns="0" tIns="0" bIns="0">
            <a:spAutoFit/>
          </a:bodyPr>
          <a:lstStyle/>
          <a:p>
            <a:pPr algn="l">
              <a:lnSpc>
                <a:spcPct val="100000"/>
              </a:lnSpc>
              <a:spcAft>
                <a:spcPts val="200"/>
              </a:spcAft>
            </a:pPr>
            <a:r>
              <a:rPr sz="3200" b="1" i="0">
                <a:solidFill>
                  <a:srgbClr val="1F1E1C"/>
                </a:solidFill>
                <a:latin typeface="Arial Black"/>
              </a:rPr>
              <a:t>80 so'm</a:t>
            </a:r>
          </a:p>
          <a:p>
            <a:pPr algn="l">
              <a:lnSpc>
                <a:spcPct val="120000"/>
              </a:lnSpc>
              <a:spcAft>
                <a:spcPts val="0"/>
              </a:spcAft>
            </a:pPr>
            <a:r>
              <a:rPr sz="1500" b="0" i="0">
                <a:solidFill>
                  <a:srgbClr val="6F6B63"/>
                </a:solidFill>
                <a:latin typeface="Segoe UI"/>
              </a:rPr>
              <a:t>bitta javob bizga shuncha turadi</a:t>
            </a:r>
          </a:p>
        </p:txBody>
      </p:sp>
      <p:sp>
        <p:nvSpPr>
          <p:cNvPr id="36" name="TextBox 35"/>
          <p:cNvSpPr txBox="1"/>
          <p:nvPr/>
        </p:nvSpPr>
        <p:spPr>
          <a:xfrm>
            <a:off x="12755880" y="4937760"/>
            <a:ext cx="4114800" cy="594360"/>
          </a:xfrm>
          <a:prstGeom prst="rect">
            <a:avLst/>
          </a:prstGeom>
          <a:noFill/>
        </p:spPr>
        <p:txBody>
          <a:bodyPr wrap="square" anchor="t" lIns="0" rIns="0" tIns="0" bIns="0">
            <a:spAutoFit/>
          </a:bodyPr>
          <a:lstStyle/>
          <a:p>
            <a:pPr algn="l">
              <a:lnSpc>
                <a:spcPct val="100000"/>
              </a:lnSpc>
              <a:spcAft>
                <a:spcPts val="200"/>
              </a:spcAft>
            </a:pPr>
            <a:r>
              <a:rPr sz="3200" b="1" i="0">
                <a:solidFill>
                  <a:srgbClr val="1F1E1C"/>
                </a:solidFill>
                <a:latin typeface="Arial Black"/>
              </a:rPr>
              <a:t>149 000 so'm</a:t>
            </a:r>
          </a:p>
          <a:p>
            <a:pPr algn="l">
              <a:lnSpc>
                <a:spcPct val="120000"/>
              </a:lnSpc>
              <a:spcAft>
                <a:spcPts val="0"/>
              </a:spcAft>
            </a:pPr>
            <a:r>
              <a:rPr sz="1500" b="0" i="0">
                <a:solidFill>
                  <a:srgbClr val="6F6B63"/>
                </a:solidFill>
                <a:latin typeface="Segoe UI"/>
              </a:rPr>
              <a:t>eng arzon tarif — oyiga</a:t>
            </a:r>
          </a:p>
        </p:txBody>
      </p:sp>
      <p:sp>
        <p:nvSpPr>
          <p:cNvPr id="37" name="TextBox 36"/>
          <p:cNvSpPr txBox="1"/>
          <p:nvPr/>
        </p:nvSpPr>
        <p:spPr>
          <a:xfrm>
            <a:off x="12755880" y="6446520"/>
            <a:ext cx="4114800" cy="594360"/>
          </a:xfrm>
          <a:prstGeom prst="rect">
            <a:avLst/>
          </a:prstGeom>
          <a:noFill/>
        </p:spPr>
        <p:txBody>
          <a:bodyPr wrap="square" anchor="t" lIns="0" rIns="0" tIns="0" bIns="0">
            <a:spAutoFit/>
          </a:bodyPr>
          <a:lstStyle/>
          <a:p>
            <a:pPr algn="l">
              <a:lnSpc>
                <a:spcPct val="100000"/>
              </a:lnSpc>
              <a:spcAft>
                <a:spcPts val="200"/>
              </a:spcAft>
            </a:pPr>
            <a:r>
              <a:rPr sz="3200" b="1" i="0">
                <a:solidFill>
                  <a:srgbClr val="1F1E1C"/>
                </a:solidFill>
                <a:latin typeface="Arial Black"/>
              </a:rPr>
              <a:t>3,8 barobar</a:t>
            </a:r>
          </a:p>
          <a:p>
            <a:pPr algn="l">
              <a:lnSpc>
                <a:spcPct val="120000"/>
              </a:lnSpc>
              <a:spcAft>
                <a:spcPts val="0"/>
              </a:spcAft>
            </a:pPr>
            <a:r>
              <a:rPr sz="1500" b="0" i="0">
                <a:solidFill>
                  <a:srgbClr val="6F6B63"/>
                </a:solidFill>
                <a:latin typeface="Segoe UI"/>
              </a:rPr>
              <a:t>eng ko'p so'raydigan mijozda ham ustama qoladi</a:t>
            </a:r>
          </a:p>
        </p:txBody>
      </p:sp>
      <p:sp>
        <p:nvSpPr>
          <p:cNvPr id="38" name="Freeform 37"/>
          <p:cNvSpPr/>
          <p:nvPr/>
        </p:nvSpPr>
        <p:spPr>
          <a:xfrm>
            <a:off x="0" y="9528048"/>
            <a:ext cx="6903720" cy="758952"/>
          </a:xfrm>
          <a:custGeom>
            <a:avLst/>
            <a:gdLst/>
            <a:ahLst/>
            <a:cxnLst/>
            <a:rect l="l" t="t" r="r" b="b"/>
            <a:pathLst>
              <a:path w="6903720" h="758952">
                <a:moveTo>
                  <a:pt x="0" y="0"/>
                </a:moveTo>
                <a:lnTo>
                  <a:pt x="6903720" y="0"/>
                </a:lnTo>
                <a:lnTo>
                  <a:pt x="6126480" y="758952"/>
                </a:lnTo>
                <a:lnTo>
                  <a:pt x="0" y="758952"/>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5577840" y="9528048"/>
            <a:ext cx="12710160" cy="758952"/>
          </a:xfrm>
          <a:custGeom>
            <a:avLst/>
            <a:gdLst/>
            <a:ahLst/>
            <a:cxnLst/>
            <a:rect l="l" t="t" r="r" b="b"/>
            <a:pathLst>
              <a:path w="12710160" h="758952">
                <a:moveTo>
                  <a:pt x="777240" y="0"/>
                </a:moveTo>
                <a:lnTo>
                  <a:pt x="12710160" y="0"/>
                </a:lnTo>
                <a:lnTo>
                  <a:pt x="12710160" y="758952"/>
                </a:lnTo>
                <a:lnTo>
                  <a:pt x="0" y="758952"/>
                </a:lnTo>
                <a:close/>
              </a:path>
            </a:pathLst>
          </a:cu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14081760" y="10040112"/>
            <a:ext cx="4206240" cy="246888"/>
          </a:xfrm>
          <a:custGeom>
            <a:avLst/>
            <a:gdLst/>
            <a:ahLst/>
            <a:cxnLst/>
            <a:rect l="l" t="t" r="r" b="b"/>
            <a:pathLst>
              <a:path w="4206240" h="246888">
                <a:moveTo>
                  <a:pt x="182880" y="0"/>
                </a:moveTo>
                <a:lnTo>
                  <a:pt x="4206240" y="0"/>
                </a:lnTo>
                <a:lnTo>
                  <a:pt x="4206240" y="246888"/>
                </a:lnTo>
                <a:lnTo>
                  <a:pt x="0" y="246888"/>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9674352"/>
            <a:ext cx="10515600" cy="914400"/>
          </a:xfrm>
          <a:prstGeom prst="rect">
            <a:avLst/>
          </a:prstGeom>
          <a:noFill/>
        </p:spPr>
        <p:txBody>
          <a:bodyPr wrap="square" anchor="t" lIns="0" rIns="0" tIns="0" bIns="0">
            <a:spAutoFit/>
          </a:bodyPr>
          <a:lstStyle/>
          <a:p>
            <a:pPr algn="l">
              <a:lnSpc>
                <a:spcPct val="120000"/>
              </a:lnSpc>
              <a:spcAft>
                <a:spcPts val="0"/>
              </a:spcAft>
            </a:pPr>
            <a:r>
              <a:rPr sz="1700" b="1" i="0">
                <a:solidFill>
                  <a:srgbClr val="FFFFFF"/>
                </a:solidFill>
                <a:latin typeface="Segoe UI"/>
              </a:rPr>
              <a:t>Oyiga to'lanadi — xuddi telefon aloqasi kabi. So'm hisobida, Click va Payme orqali.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051560"/>
            <a:ext cx="7315200" cy="1477107"/>
          </a:xfrm>
          <a:prstGeom prst="rect">
            <a:avLst/>
          </a:prstGeom>
          <a:noFill/>
        </p:spPr>
        <p:txBody>
          <a:bodyPr wrap="square" anchor="t" lIns="0" rIns="0" tIns="0" bIns="0">
            <a:spAutoFit/>
          </a:bodyPr>
          <a:lstStyle/>
          <a:p>
            <a:pPr algn="l">
              <a:lnSpc>
                <a:spcPct val="100000"/>
              </a:lnSpc>
              <a:spcAft>
                <a:spcPts val="0"/>
              </a:spcAft>
            </a:pPr>
            <a:r>
              <a:rPr sz="5800" b="1" i="0">
                <a:solidFill>
                  <a:srgbClr val="1F1E1C"/>
                </a:solidFill>
                <a:latin typeface="Arial Black"/>
              </a:rPr>
              <a:t>Yo'l xaritasi</a:t>
            </a:r>
          </a:p>
        </p:txBody>
      </p:sp>
      <p:sp>
        <p:nvSpPr>
          <p:cNvPr id="6" name="TextBox 5"/>
          <p:cNvSpPr txBox="1"/>
          <p:nvPr/>
        </p:nvSpPr>
        <p:spPr>
          <a:xfrm>
            <a:off x="1051560" y="2331720"/>
            <a:ext cx="7315200" cy="914400"/>
          </a:xfrm>
          <a:prstGeom prst="rect">
            <a:avLst/>
          </a:prstGeom>
          <a:noFill/>
        </p:spPr>
        <p:txBody>
          <a:bodyPr wrap="square" anchor="t" lIns="0" rIns="0" tIns="0" bIns="0">
            <a:spAutoFit/>
          </a:bodyPr>
          <a:lstStyle/>
          <a:p>
            <a:pPr algn="l">
              <a:lnSpc>
                <a:spcPct val="120000"/>
              </a:lnSpc>
              <a:spcAft>
                <a:spcPts val="0"/>
              </a:spcAft>
            </a:pPr>
            <a:r>
              <a:rPr sz="2200" b="1" i="0">
                <a:solidFill>
                  <a:srgbClr val="6F6B63"/>
                </a:solidFill>
                <a:latin typeface="Segoe UI"/>
              </a:rPr>
              <a:t>Yillik takrorlanuvchi daromad — reja</a:t>
            </a:r>
          </a:p>
        </p:txBody>
      </p:sp>
      <p:sp>
        <p:nvSpPr>
          <p:cNvPr id="7" name="Rectangle 6"/>
          <p:cNvSpPr/>
          <p:nvPr/>
        </p:nvSpPr>
        <p:spPr>
          <a:xfrm>
            <a:off x="1234440" y="7772400"/>
            <a:ext cx="1874519" cy="1417320"/>
          </a:xfrm>
          <a:prstGeom prst="rect">
            <a:avLst/>
          </a:prstGeom>
          <a:gradFill rotWithShape="1">
            <a:gsLst>
              <a:gs pos="0">
                <a:srgbClr val="C15F3C"/>
              </a:gs>
              <a:gs pos="100000">
                <a:srgbClr val="252422"/>
              </a:gs>
            </a:gsLst>
            <a:lin scaled="0" ang="5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7114032"/>
            <a:ext cx="2606040" cy="502920"/>
          </a:xfrm>
          <a:prstGeom prst="rect">
            <a:avLst/>
          </a:prstGeom>
          <a:noFill/>
        </p:spPr>
        <p:txBody>
          <a:bodyPr wrap="square" anchor="t" lIns="0" rIns="0" tIns="0" bIns="0">
            <a:spAutoFit/>
          </a:bodyPr>
          <a:lstStyle/>
          <a:p>
            <a:pPr algn="ctr">
              <a:lnSpc>
                <a:spcPct val="100000"/>
              </a:lnSpc>
              <a:spcAft>
                <a:spcPts val="0"/>
              </a:spcAft>
            </a:pPr>
            <a:r>
              <a:rPr sz="2400" b="1" i="0">
                <a:solidFill>
                  <a:srgbClr val="1F1E1C"/>
                </a:solidFill>
                <a:latin typeface="Arial Black"/>
              </a:rPr>
              <a:t>1-chorak</a:t>
            </a:r>
          </a:p>
        </p:txBody>
      </p:sp>
      <p:sp>
        <p:nvSpPr>
          <p:cNvPr id="9" name="TextBox 8"/>
          <p:cNvSpPr txBox="1"/>
          <p:nvPr/>
        </p:nvSpPr>
        <p:spPr>
          <a:xfrm>
            <a:off x="1234440" y="8092440"/>
            <a:ext cx="1874519" cy="1188720"/>
          </a:xfrm>
          <a:prstGeom prst="rect">
            <a:avLst/>
          </a:prstGeom>
          <a:noFill/>
        </p:spPr>
        <p:txBody>
          <a:bodyPr wrap="square" anchor="t" lIns="0" rIns="0" tIns="0" bIns="0">
            <a:spAutoFit/>
          </a:bodyPr>
          <a:lstStyle/>
          <a:p>
            <a:pPr algn="ctr">
              <a:lnSpc>
                <a:spcPct val="115000"/>
              </a:lnSpc>
              <a:spcAft>
                <a:spcPts val="0"/>
              </a:spcAft>
            </a:pPr>
            <a:r>
              <a:rPr sz="1900" b="1" i="0">
                <a:solidFill>
                  <a:srgbClr val="FFFFFF"/>
                </a:solidFill>
                <a:latin typeface="Segoe UI"/>
              </a:rPr>
              <a:t>3 ta sinov
muassasasi</a:t>
            </a:r>
          </a:p>
        </p:txBody>
      </p:sp>
      <p:sp>
        <p:nvSpPr>
          <p:cNvPr id="10" name="Rectangle 9"/>
          <p:cNvSpPr/>
          <p:nvPr/>
        </p:nvSpPr>
        <p:spPr>
          <a:xfrm>
            <a:off x="3566160" y="6675120"/>
            <a:ext cx="1874519" cy="2514600"/>
          </a:xfrm>
          <a:prstGeom prst="rect">
            <a:avLst/>
          </a:prstGeom>
          <a:gradFill rotWithShape="1">
            <a:gsLst>
              <a:gs pos="0">
                <a:srgbClr val="C15F3C"/>
              </a:gs>
              <a:gs pos="100000">
                <a:srgbClr val="252422"/>
              </a:gs>
            </a:gsLst>
            <a:lin scaled="0" ang="5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6016752"/>
            <a:ext cx="2606040" cy="502920"/>
          </a:xfrm>
          <a:prstGeom prst="rect">
            <a:avLst/>
          </a:prstGeom>
          <a:noFill/>
        </p:spPr>
        <p:txBody>
          <a:bodyPr wrap="square" anchor="t" lIns="0" rIns="0" tIns="0" bIns="0">
            <a:spAutoFit/>
          </a:bodyPr>
          <a:lstStyle/>
          <a:p>
            <a:pPr algn="ctr">
              <a:lnSpc>
                <a:spcPct val="100000"/>
              </a:lnSpc>
              <a:spcAft>
                <a:spcPts val="0"/>
              </a:spcAft>
            </a:pPr>
            <a:r>
              <a:rPr sz="2400" b="1" i="0">
                <a:solidFill>
                  <a:srgbClr val="1F1E1C"/>
                </a:solidFill>
                <a:latin typeface="Arial Black"/>
              </a:rPr>
              <a:t>2-chorak</a:t>
            </a:r>
          </a:p>
        </p:txBody>
      </p:sp>
      <p:sp>
        <p:nvSpPr>
          <p:cNvPr id="12" name="TextBox 11"/>
          <p:cNvSpPr txBox="1"/>
          <p:nvPr/>
        </p:nvSpPr>
        <p:spPr>
          <a:xfrm>
            <a:off x="3566160" y="6995160"/>
            <a:ext cx="1874519" cy="1188720"/>
          </a:xfrm>
          <a:prstGeom prst="rect">
            <a:avLst/>
          </a:prstGeom>
          <a:noFill/>
        </p:spPr>
        <p:txBody>
          <a:bodyPr wrap="square" anchor="t" lIns="0" rIns="0" tIns="0" bIns="0">
            <a:spAutoFit/>
          </a:bodyPr>
          <a:lstStyle/>
          <a:p>
            <a:pPr algn="ctr">
              <a:lnSpc>
                <a:spcPct val="115000"/>
              </a:lnSpc>
              <a:spcAft>
                <a:spcPts val="0"/>
              </a:spcAft>
            </a:pPr>
            <a:r>
              <a:rPr sz="1900" b="1" i="0">
                <a:solidFill>
                  <a:srgbClr val="FFFFFF"/>
                </a:solidFill>
                <a:latin typeface="Segoe UI"/>
              </a:rPr>
              <a:t>50 ta
obunachi</a:t>
            </a:r>
          </a:p>
        </p:txBody>
      </p:sp>
      <p:sp>
        <p:nvSpPr>
          <p:cNvPr id="13" name="Rectangle 12"/>
          <p:cNvSpPr/>
          <p:nvPr/>
        </p:nvSpPr>
        <p:spPr>
          <a:xfrm>
            <a:off x="5897879" y="5120640"/>
            <a:ext cx="1874519" cy="4069080"/>
          </a:xfrm>
          <a:prstGeom prst="rect">
            <a:avLst/>
          </a:prstGeom>
          <a:gradFill rotWithShape="1">
            <a:gsLst>
              <a:gs pos="0">
                <a:srgbClr val="C15F3C"/>
              </a:gs>
              <a:gs pos="100000">
                <a:srgbClr val="252422"/>
              </a:gs>
            </a:gsLst>
            <a:lin scaled="0" ang="5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32119" y="4462272"/>
            <a:ext cx="2606040" cy="502920"/>
          </a:xfrm>
          <a:prstGeom prst="rect">
            <a:avLst/>
          </a:prstGeom>
          <a:noFill/>
        </p:spPr>
        <p:txBody>
          <a:bodyPr wrap="square" anchor="t" lIns="0" rIns="0" tIns="0" bIns="0">
            <a:spAutoFit/>
          </a:bodyPr>
          <a:lstStyle/>
          <a:p>
            <a:pPr algn="ctr">
              <a:lnSpc>
                <a:spcPct val="100000"/>
              </a:lnSpc>
              <a:spcAft>
                <a:spcPts val="0"/>
              </a:spcAft>
            </a:pPr>
            <a:r>
              <a:rPr sz="2400" b="1" i="0">
                <a:solidFill>
                  <a:srgbClr val="1F1E1C"/>
                </a:solidFill>
                <a:latin typeface="Arial Black"/>
              </a:rPr>
              <a:t>3-chorak</a:t>
            </a:r>
          </a:p>
        </p:txBody>
      </p:sp>
      <p:sp>
        <p:nvSpPr>
          <p:cNvPr id="15" name="TextBox 14"/>
          <p:cNvSpPr txBox="1"/>
          <p:nvPr/>
        </p:nvSpPr>
        <p:spPr>
          <a:xfrm>
            <a:off x="5897879" y="5440680"/>
            <a:ext cx="1874519" cy="1188720"/>
          </a:xfrm>
          <a:prstGeom prst="rect">
            <a:avLst/>
          </a:prstGeom>
          <a:noFill/>
        </p:spPr>
        <p:txBody>
          <a:bodyPr wrap="square" anchor="t" lIns="0" rIns="0" tIns="0" bIns="0">
            <a:spAutoFit/>
          </a:bodyPr>
          <a:lstStyle/>
          <a:p>
            <a:pPr algn="ctr">
              <a:lnSpc>
                <a:spcPct val="115000"/>
              </a:lnSpc>
              <a:spcAft>
                <a:spcPts val="0"/>
              </a:spcAft>
            </a:pPr>
            <a:r>
              <a:rPr sz="1900" b="1" i="0">
                <a:solidFill>
                  <a:srgbClr val="FFFFFF"/>
                </a:solidFill>
                <a:latin typeface="Segoe UI"/>
              </a:rPr>
              <a:t>200 ta
obunachi</a:t>
            </a:r>
          </a:p>
        </p:txBody>
      </p:sp>
      <p:sp>
        <p:nvSpPr>
          <p:cNvPr id="16" name="Rectangle 15"/>
          <p:cNvSpPr/>
          <p:nvPr/>
        </p:nvSpPr>
        <p:spPr>
          <a:xfrm>
            <a:off x="8229600" y="3200400"/>
            <a:ext cx="1874519" cy="5989320"/>
          </a:xfrm>
          <a:prstGeom prst="rect">
            <a:avLst/>
          </a:prstGeom>
          <a:gradFill rotWithShape="1">
            <a:gsLst>
              <a:gs pos="0">
                <a:srgbClr val="C15F3C"/>
              </a:gs>
              <a:gs pos="100000">
                <a:srgbClr val="252422"/>
              </a:gs>
            </a:gsLst>
            <a:lin scaled="0" ang="5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2542032"/>
            <a:ext cx="2606040" cy="502920"/>
          </a:xfrm>
          <a:prstGeom prst="rect">
            <a:avLst/>
          </a:prstGeom>
          <a:noFill/>
        </p:spPr>
        <p:txBody>
          <a:bodyPr wrap="square" anchor="t" lIns="0" rIns="0" tIns="0" bIns="0">
            <a:spAutoFit/>
          </a:bodyPr>
          <a:lstStyle/>
          <a:p>
            <a:pPr algn="ctr">
              <a:lnSpc>
                <a:spcPct val="100000"/>
              </a:lnSpc>
              <a:spcAft>
                <a:spcPts val="0"/>
              </a:spcAft>
            </a:pPr>
            <a:r>
              <a:rPr sz="2400" b="1" i="0">
                <a:solidFill>
                  <a:srgbClr val="1F1E1C"/>
                </a:solidFill>
                <a:latin typeface="Arial Black"/>
              </a:rPr>
              <a:t>4-chorak</a:t>
            </a:r>
          </a:p>
        </p:txBody>
      </p:sp>
      <p:sp>
        <p:nvSpPr>
          <p:cNvPr id="18" name="TextBox 17"/>
          <p:cNvSpPr txBox="1"/>
          <p:nvPr/>
        </p:nvSpPr>
        <p:spPr>
          <a:xfrm>
            <a:off x="8229600" y="3520440"/>
            <a:ext cx="1874519" cy="1188720"/>
          </a:xfrm>
          <a:prstGeom prst="rect">
            <a:avLst/>
          </a:prstGeom>
          <a:noFill/>
        </p:spPr>
        <p:txBody>
          <a:bodyPr wrap="square" anchor="t" lIns="0" rIns="0" tIns="0" bIns="0">
            <a:spAutoFit/>
          </a:bodyPr>
          <a:lstStyle/>
          <a:p>
            <a:pPr algn="ctr">
              <a:lnSpc>
                <a:spcPct val="115000"/>
              </a:lnSpc>
              <a:spcAft>
                <a:spcPts val="0"/>
              </a:spcAft>
            </a:pPr>
            <a:r>
              <a:rPr sz="1900" b="1" i="0">
                <a:solidFill>
                  <a:srgbClr val="FFFFFF"/>
                </a:solidFill>
                <a:latin typeface="Segoe UI"/>
              </a:rPr>
              <a:t>500 ta
obunachi</a:t>
            </a:r>
          </a:p>
        </p:txBody>
      </p:sp>
      <p:sp>
        <p:nvSpPr>
          <p:cNvPr id="19" name="TextBox 18"/>
          <p:cNvSpPr txBox="1"/>
          <p:nvPr/>
        </p:nvSpPr>
        <p:spPr>
          <a:xfrm>
            <a:off x="8138160" y="6080760"/>
            <a:ext cx="2057400" cy="1463040"/>
          </a:xfrm>
          <a:prstGeom prst="rect">
            <a:avLst/>
          </a:prstGeom>
          <a:noFill/>
        </p:spPr>
        <p:txBody>
          <a:bodyPr wrap="square" anchor="t" lIns="0" rIns="0" tIns="0" bIns="0">
            <a:spAutoFit/>
          </a:bodyPr>
          <a:lstStyle/>
          <a:p>
            <a:pPr algn="ctr">
              <a:lnSpc>
                <a:spcPct val="100000"/>
              </a:lnSpc>
              <a:spcAft>
                <a:spcPts val="400"/>
              </a:spcAft>
            </a:pPr>
            <a:r>
              <a:rPr sz="2400" b="1" i="0">
                <a:solidFill>
                  <a:srgbClr val="FFFFFF"/>
                </a:solidFill>
                <a:latin typeface="Segoe UI"/>
              </a:rPr>
              <a:t>=</a:t>
            </a:r>
          </a:p>
          <a:p>
            <a:pPr algn="ctr">
              <a:lnSpc>
                <a:spcPct val="100000"/>
              </a:lnSpc>
              <a:spcAft>
                <a:spcPts val="0"/>
              </a:spcAft>
            </a:pPr>
            <a:r>
              <a:rPr sz="1700" b="1" i="0">
                <a:solidFill>
                  <a:srgbClr val="FFFFFF"/>
                </a:solidFill>
                <a:latin typeface="Segoe UI"/>
              </a:rPr>
              <a:t>≈ 894 mln so'm</a:t>
            </a:r>
          </a:p>
          <a:p>
            <a:pPr algn="ctr">
              <a:lnSpc>
                <a:spcPct val="100000"/>
              </a:lnSpc>
              <a:spcAft>
                <a:spcPts val="0"/>
              </a:spcAft>
            </a:pPr>
            <a:r>
              <a:rPr sz="1500" b="0" i="0">
                <a:solidFill>
                  <a:srgbClr val="FFFFFF"/>
                </a:solidFill>
                <a:latin typeface="Segoe UI"/>
              </a:rPr>
              <a:t>(≈ $69 000)</a:t>
            </a:r>
          </a:p>
        </p:txBody>
      </p:sp>
      <p:sp>
        <p:nvSpPr>
          <p:cNvPr id="20" name="Rounded Rectangle 19"/>
          <p:cNvSpPr/>
          <p:nvPr/>
        </p:nvSpPr>
        <p:spPr>
          <a:xfrm>
            <a:off x="10835640" y="960120"/>
            <a:ext cx="6446520" cy="6903720"/>
          </a:xfrm>
          <a:prstGeom prst="roundRect">
            <a:avLst/>
          </a:prstGeom>
          <a:solidFill>
            <a:srgbClr val="FFFFFF"/>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384280" y="1417320"/>
            <a:ext cx="5394960" cy="914400"/>
          </a:xfrm>
          <a:prstGeom prst="rect">
            <a:avLst/>
          </a:prstGeom>
          <a:noFill/>
        </p:spPr>
        <p:txBody>
          <a:bodyPr wrap="square" anchor="t" lIns="0" rIns="0" tIns="0" bIns="0">
            <a:spAutoFit/>
          </a:bodyPr>
          <a:lstStyle/>
          <a:p>
            <a:pPr algn="l">
              <a:lnSpc>
                <a:spcPct val="120000"/>
              </a:lnSpc>
              <a:spcAft>
                <a:spcPts val="0"/>
              </a:spcAft>
            </a:pPr>
            <a:r>
              <a:rPr sz="1500" b="1" i="0">
                <a:solidFill>
                  <a:srgbClr val="C15F3C"/>
                </a:solidFill>
                <a:latin typeface="Segoe UI"/>
              </a:rPr>
              <a:t>YO'NALISH</a:t>
            </a:r>
          </a:p>
        </p:txBody>
      </p:sp>
      <p:sp>
        <p:nvSpPr>
          <p:cNvPr id="22" name="Oval 21"/>
          <p:cNvSpPr/>
          <p:nvPr/>
        </p:nvSpPr>
        <p:spPr>
          <a:xfrm>
            <a:off x="11384280" y="2176272"/>
            <a:ext cx="237744" cy="237744"/>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489436" y="2468879"/>
            <a:ext cx="22860" cy="1097280"/>
          </a:xfrm>
          <a:prstGeom prst="rect">
            <a:avLst/>
          </a:prstGeom>
          <a:solidFill>
            <a:srgbClr val="E4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41480" y="2103120"/>
            <a:ext cx="4937760" cy="914400"/>
          </a:xfrm>
          <a:prstGeom prst="rect">
            <a:avLst/>
          </a:prstGeom>
          <a:noFill/>
        </p:spPr>
        <p:txBody>
          <a:bodyPr wrap="square" anchor="t" lIns="0" rIns="0" tIns="0" bIns="0">
            <a:spAutoFit/>
          </a:bodyPr>
          <a:lstStyle/>
          <a:p>
            <a:pPr algn="l">
              <a:lnSpc>
                <a:spcPct val="120000"/>
              </a:lnSpc>
              <a:spcAft>
                <a:spcPts val="0"/>
              </a:spcAft>
            </a:pPr>
            <a:r>
              <a:rPr sz="1900" b="1" i="0">
                <a:solidFill>
                  <a:srgbClr val="1F1E1C"/>
                </a:solidFill>
                <a:latin typeface="Segoe UI"/>
              </a:rPr>
              <a:t>2026 — mahsulot bozorga mos keladi</a:t>
            </a:r>
          </a:p>
        </p:txBody>
      </p:sp>
      <p:sp>
        <p:nvSpPr>
          <p:cNvPr id="25" name="TextBox 24"/>
          <p:cNvSpPr txBox="1"/>
          <p:nvPr/>
        </p:nvSpPr>
        <p:spPr>
          <a:xfrm>
            <a:off x="11841480" y="2468879"/>
            <a:ext cx="4937760" cy="914400"/>
          </a:xfrm>
          <a:prstGeom prst="rect">
            <a:avLst/>
          </a:prstGeom>
          <a:noFill/>
        </p:spPr>
        <p:txBody>
          <a:bodyPr wrap="square" anchor="t" lIns="0" rIns="0" tIns="0" bIns="0">
            <a:spAutoFit/>
          </a:bodyPr>
          <a:lstStyle/>
          <a:p>
            <a:pPr algn="l">
              <a:lnSpc>
                <a:spcPct val="120000"/>
              </a:lnSpc>
              <a:spcAft>
                <a:spcPts val="0"/>
              </a:spcAft>
            </a:pPr>
            <a:r>
              <a:rPr sz="1500" b="0" i="0">
                <a:solidFill>
                  <a:srgbClr val="6F6B63"/>
                </a:solidFill>
                <a:latin typeface="Segoe UI"/>
              </a:rPr>
              <a:t>Platforma jonli · birinchi to'lovchi mijozlar · 10 ta sinov muassasasi</a:t>
            </a:r>
          </a:p>
        </p:txBody>
      </p:sp>
      <p:sp>
        <p:nvSpPr>
          <p:cNvPr id="26" name="Oval 25"/>
          <p:cNvSpPr/>
          <p:nvPr/>
        </p:nvSpPr>
        <p:spPr>
          <a:xfrm>
            <a:off x="11384280" y="3657600"/>
            <a:ext cx="237744" cy="237744"/>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489436" y="3950208"/>
            <a:ext cx="22860" cy="1097280"/>
          </a:xfrm>
          <a:prstGeom prst="rect">
            <a:avLst/>
          </a:prstGeom>
          <a:solidFill>
            <a:srgbClr val="E4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41480" y="3584448"/>
            <a:ext cx="4937760" cy="914400"/>
          </a:xfrm>
          <a:prstGeom prst="rect">
            <a:avLst/>
          </a:prstGeom>
          <a:noFill/>
        </p:spPr>
        <p:txBody>
          <a:bodyPr wrap="square" anchor="t" lIns="0" rIns="0" tIns="0" bIns="0">
            <a:spAutoFit/>
          </a:bodyPr>
          <a:lstStyle/>
          <a:p>
            <a:pPr algn="l">
              <a:lnSpc>
                <a:spcPct val="120000"/>
              </a:lnSpc>
              <a:spcAft>
                <a:spcPts val="0"/>
              </a:spcAft>
            </a:pPr>
            <a:r>
              <a:rPr sz="1900" b="1" i="0">
                <a:solidFill>
                  <a:srgbClr val="1F1E1C"/>
                </a:solidFill>
                <a:latin typeface="Segoe UI"/>
              </a:rPr>
              <a:t>2027 — O'zbekistonda o'sish</a:t>
            </a:r>
          </a:p>
        </p:txBody>
      </p:sp>
      <p:sp>
        <p:nvSpPr>
          <p:cNvPr id="29" name="TextBox 28"/>
          <p:cNvSpPr txBox="1"/>
          <p:nvPr/>
        </p:nvSpPr>
        <p:spPr>
          <a:xfrm>
            <a:off x="11841480" y="3950208"/>
            <a:ext cx="4937760" cy="914400"/>
          </a:xfrm>
          <a:prstGeom prst="rect">
            <a:avLst/>
          </a:prstGeom>
          <a:noFill/>
        </p:spPr>
        <p:txBody>
          <a:bodyPr wrap="square" anchor="t" lIns="0" rIns="0" tIns="0" bIns="0">
            <a:spAutoFit/>
          </a:bodyPr>
          <a:lstStyle/>
          <a:p>
            <a:pPr algn="l">
              <a:lnSpc>
                <a:spcPct val="120000"/>
              </a:lnSpc>
              <a:spcAft>
                <a:spcPts val="0"/>
              </a:spcAft>
            </a:pPr>
            <a:r>
              <a:rPr sz="1500" b="0" i="0">
                <a:solidFill>
                  <a:srgbClr val="6F6B63"/>
                </a:solidFill>
                <a:latin typeface="Segoe UI"/>
              </a:rPr>
              <a:t>500+ ustoz va o'quv markazi · korxona tarifi · mobil ilova</a:t>
            </a:r>
          </a:p>
        </p:txBody>
      </p:sp>
      <p:sp>
        <p:nvSpPr>
          <p:cNvPr id="30" name="Oval 29"/>
          <p:cNvSpPr/>
          <p:nvPr/>
        </p:nvSpPr>
        <p:spPr>
          <a:xfrm>
            <a:off x="11384280" y="5138928"/>
            <a:ext cx="237744" cy="237744"/>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489436" y="5431536"/>
            <a:ext cx="22860" cy="1097280"/>
          </a:xfrm>
          <a:prstGeom prst="rect">
            <a:avLst/>
          </a:prstGeom>
          <a:solidFill>
            <a:srgbClr val="E4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41480" y="5065776"/>
            <a:ext cx="4937760" cy="914400"/>
          </a:xfrm>
          <a:prstGeom prst="rect">
            <a:avLst/>
          </a:prstGeom>
          <a:noFill/>
        </p:spPr>
        <p:txBody>
          <a:bodyPr wrap="square" anchor="t" lIns="0" rIns="0" tIns="0" bIns="0">
            <a:spAutoFit/>
          </a:bodyPr>
          <a:lstStyle/>
          <a:p>
            <a:pPr algn="l">
              <a:lnSpc>
                <a:spcPct val="120000"/>
              </a:lnSpc>
              <a:spcAft>
                <a:spcPts val="0"/>
              </a:spcAft>
            </a:pPr>
            <a:r>
              <a:rPr sz="1900" b="1" i="0">
                <a:solidFill>
                  <a:srgbClr val="1F1E1C"/>
                </a:solidFill>
                <a:latin typeface="Segoe UI"/>
              </a:rPr>
              <a:t>2028 — mintaqaga chiqish</a:t>
            </a:r>
          </a:p>
        </p:txBody>
      </p:sp>
      <p:sp>
        <p:nvSpPr>
          <p:cNvPr id="33" name="TextBox 32"/>
          <p:cNvSpPr txBox="1"/>
          <p:nvPr/>
        </p:nvSpPr>
        <p:spPr>
          <a:xfrm>
            <a:off x="11841480" y="5431536"/>
            <a:ext cx="4937760" cy="914400"/>
          </a:xfrm>
          <a:prstGeom prst="rect">
            <a:avLst/>
          </a:prstGeom>
          <a:noFill/>
        </p:spPr>
        <p:txBody>
          <a:bodyPr wrap="square" anchor="t" lIns="0" rIns="0" tIns="0" bIns="0">
            <a:spAutoFit/>
          </a:bodyPr>
          <a:lstStyle/>
          <a:p>
            <a:pPr algn="l">
              <a:lnSpc>
                <a:spcPct val="120000"/>
              </a:lnSpc>
              <a:spcAft>
                <a:spcPts val="0"/>
              </a:spcAft>
            </a:pPr>
            <a:r>
              <a:rPr sz="1500" b="0" i="0">
                <a:solidFill>
                  <a:srgbClr val="6F6B63"/>
                </a:solidFill>
                <a:latin typeface="Segoe UI"/>
              </a:rPr>
              <a:t>Markaziy Osiyo · hamkor tarmoqlari · ko'p tilli qo'llab-quvvatlash</a:t>
            </a:r>
          </a:p>
        </p:txBody>
      </p:sp>
      <p:sp>
        <p:nvSpPr>
          <p:cNvPr id="34" name="Oval 33"/>
          <p:cNvSpPr/>
          <p:nvPr/>
        </p:nvSpPr>
        <p:spPr>
          <a:xfrm>
            <a:off x="11384280" y="6620256"/>
            <a:ext cx="237744" cy="237744"/>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841480" y="6547104"/>
            <a:ext cx="4937760" cy="914400"/>
          </a:xfrm>
          <a:prstGeom prst="rect">
            <a:avLst/>
          </a:prstGeom>
          <a:noFill/>
        </p:spPr>
        <p:txBody>
          <a:bodyPr wrap="square" anchor="t" lIns="0" rIns="0" tIns="0" bIns="0">
            <a:spAutoFit/>
          </a:bodyPr>
          <a:lstStyle/>
          <a:p>
            <a:pPr algn="l">
              <a:lnSpc>
                <a:spcPct val="120000"/>
              </a:lnSpc>
              <a:spcAft>
                <a:spcPts val="0"/>
              </a:spcAft>
            </a:pPr>
            <a:r>
              <a:rPr sz="1900" b="1" i="0">
                <a:solidFill>
                  <a:srgbClr val="1F1E1C"/>
                </a:solidFill>
                <a:latin typeface="Segoe UI"/>
              </a:rPr>
              <a:t>2029 — bilim platformasi</a:t>
            </a:r>
          </a:p>
        </p:txBody>
      </p:sp>
      <p:sp>
        <p:nvSpPr>
          <p:cNvPr id="36" name="TextBox 35"/>
          <p:cNvSpPr txBox="1"/>
          <p:nvPr/>
        </p:nvSpPr>
        <p:spPr>
          <a:xfrm>
            <a:off x="11841480" y="6912864"/>
            <a:ext cx="4937760" cy="914400"/>
          </a:xfrm>
          <a:prstGeom prst="rect">
            <a:avLst/>
          </a:prstGeom>
          <a:noFill/>
        </p:spPr>
        <p:txBody>
          <a:bodyPr wrap="square" anchor="t" lIns="0" rIns="0" tIns="0" bIns="0">
            <a:spAutoFit/>
          </a:bodyPr>
          <a:lstStyle/>
          <a:p>
            <a:pPr algn="l">
              <a:lnSpc>
                <a:spcPct val="120000"/>
              </a:lnSpc>
              <a:spcAft>
                <a:spcPts val="0"/>
              </a:spcAft>
            </a:pPr>
            <a:r>
              <a:rPr sz="1500" b="0" i="0">
                <a:solidFill>
                  <a:srgbClr val="6F6B63"/>
                </a:solidFill>
                <a:latin typeface="Segoe UI"/>
              </a:rPr>
              <a:t>Ochiq ulanish nuqtalari · hamkor integratsiyalari · katta mijozlar</a:t>
            </a:r>
          </a:p>
        </p:txBody>
      </p:sp>
      <p:sp>
        <p:nvSpPr>
          <p:cNvPr id="37" name="TextBox 36"/>
          <p:cNvSpPr txBox="1"/>
          <p:nvPr/>
        </p:nvSpPr>
        <p:spPr>
          <a:xfrm>
            <a:off x="1234440" y="9464040"/>
            <a:ext cx="9144000" cy="914400"/>
          </a:xfrm>
          <a:prstGeom prst="rect">
            <a:avLst/>
          </a:prstGeom>
          <a:noFill/>
        </p:spPr>
        <p:txBody>
          <a:bodyPr wrap="square" anchor="t" lIns="0" rIns="0" tIns="0" bIns="0">
            <a:spAutoFit/>
          </a:bodyPr>
          <a:lstStyle/>
          <a:p>
            <a:pPr algn="l">
              <a:lnSpc>
                <a:spcPct val="120000"/>
              </a:lnSpc>
              <a:spcAft>
                <a:spcPts val="0"/>
              </a:spcAft>
            </a:pPr>
            <a:r>
              <a:rPr sz="1500" b="0" i="0">
                <a:solidFill>
                  <a:srgbClr val="A8A39B"/>
                </a:solidFill>
                <a:latin typeface="Segoe UI"/>
              </a:rPr>
              <a:t>Raqamlar — o'z tarifimizdan hisoblangan reja, kafolat emas.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051560"/>
            <a:ext cx="10058400" cy="1477107"/>
          </a:xfrm>
          <a:prstGeom prst="rect">
            <a:avLst/>
          </a:prstGeom>
          <a:noFill/>
        </p:spPr>
        <p:txBody>
          <a:bodyPr wrap="square" anchor="t" lIns="0" rIns="0" tIns="0" bIns="0">
            <a:spAutoFit/>
          </a:bodyPr>
          <a:lstStyle/>
          <a:p>
            <a:pPr algn="l">
              <a:lnSpc>
                <a:spcPct val="100000"/>
              </a:lnSpc>
              <a:spcAft>
                <a:spcPts val="0"/>
              </a:spcAft>
            </a:pPr>
            <a:r>
              <a:rPr sz="5800" b="1" i="0">
                <a:solidFill>
                  <a:srgbClr val="1F1E1C"/>
                </a:solidFill>
                <a:latin typeface="Arial Black"/>
              </a:rPr>
              <a:t>Bugungi natijalar</a:t>
            </a:r>
          </a:p>
        </p:txBody>
      </p:sp>
      <p:sp>
        <p:nvSpPr>
          <p:cNvPr id="6" name="TextBox 5"/>
          <p:cNvSpPr txBox="1"/>
          <p:nvPr/>
        </p:nvSpPr>
        <p:spPr>
          <a:xfrm>
            <a:off x="1051560" y="2331720"/>
            <a:ext cx="10058400" cy="914400"/>
          </a:xfrm>
          <a:prstGeom prst="rect">
            <a:avLst/>
          </a:prstGeom>
          <a:noFill/>
        </p:spPr>
        <p:txBody>
          <a:bodyPr wrap="square" anchor="t" lIns="0" rIns="0" tIns="0" bIns="0">
            <a:spAutoFit/>
          </a:bodyPr>
          <a:lstStyle/>
          <a:p>
            <a:pPr algn="l">
              <a:lnSpc>
                <a:spcPct val="120000"/>
              </a:lnSpc>
              <a:spcAft>
                <a:spcPts val="0"/>
              </a:spcAft>
            </a:pPr>
            <a:r>
              <a:rPr sz="2200" b="1" i="0">
                <a:solidFill>
                  <a:srgbClr val="6F6B63"/>
                </a:solidFill>
                <a:latin typeface="Segoe UI"/>
              </a:rPr>
              <a:t>Bu g'oya emas — platforma bugun ishlab turibdi</a:t>
            </a:r>
          </a:p>
        </p:txBody>
      </p:sp>
      <p:sp>
        <p:nvSpPr>
          <p:cNvPr id="7" name="Diamond 6"/>
          <p:cNvSpPr/>
          <p:nvPr/>
        </p:nvSpPr>
        <p:spPr>
          <a:xfrm>
            <a:off x="868680" y="3246120"/>
            <a:ext cx="4617720" cy="4617720"/>
          </a:xfrm>
          <a:prstGeom prst="diamond">
            <a:avLst/>
          </a:prstGeom>
          <a:noFill/>
          <a:ln w="57150">
            <a:solidFill>
              <a:srgbClr val="C15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84632" y="4937760"/>
            <a:ext cx="1234440" cy="1234440"/>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7360" y="4846320"/>
            <a:ext cx="2880360" cy="1600200"/>
          </a:xfrm>
          <a:prstGeom prst="rect">
            <a:avLst/>
          </a:prstGeom>
          <a:noFill/>
        </p:spPr>
        <p:txBody>
          <a:bodyPr wrap="square" anchor="t" lIns="0" rIns="0" tIns="0" bIns="0">
            <a:spAutoFit/>
          </a:bodyPr>
          <a:lstStyle/>
          <a:p>
            <a:pPr algn="ctr">
              <a:lnSpc>
                <a:spcPct val="100000"/>
              </a:lnSpc>
              <a:spcAft>
                <a:spcPts val="400"/>
              </a:spcAft>
            </a:pPr>
            <a:r>
              <a:rPr sz="3000" b="1" i="0">
                <a:solidFill>
                  <a:srgbClr val="1F1E1C"/>
                </a:solidFill>
                <a:latin typeface="Arial Black"/>
              </a:rPr>
              <a:t>2 897</a:t>
            </a:r>
          </a:p>
          <a:p>
            <a:pPr algn="ctr">
              <a:lnSpc>
                <a:spcPct val="112000"/>
              </a:lnSpc>
              <a:spcAft>
                <a:spcPts val="0"/>
              </a:spcAft>
            </a:pPr>
            <a:r>
              <a:rPr sz="1800" b="1" i="0">
                <a:solidFill>
                  <a:srgbClr val="1F1E1C"/>
                </a:solidFill>
                <a:latin typeface="Segoe UI"/>
              </a:rPr>
              <a:t>qidiriladigan
bilim parchasi</a:t>
            </a:r>
          </a:p>
        </p:txBody>
      </p:sp>
      <p:sp>
        <p:nvSpPr>
          <p:cNvPr id="10" name="Diamond 9"/>
          <p:cNvSpPr/>
          <p:nvPr/>
        </p:nvSpPr>
        <p:spPr>
          <a:xfrm>
            <a:off x="4617720" y="4617720"/>
            <a:ext cx="4617720" cy="4617720"/>
          </a:xfrm>
          <a:prstGeom prst="diamond">
            <a:avLst/>
          </a:prstGeom>
          <a:noFill/>
          <a:ln w="57150">
            <a:solidFill>
              <a:srgbClr val="2524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233672" y="6309360"/>
            <a:ext cx="1234440" cy="1234440"/>
          </a:xfrm>
          <a:prstGeom prst="ellipse">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6217920"/>
            <a:ext cx="2880360" cy="1600200"/>
          </a:xfrm>
          <a:prstGeom prst="rect">
            <a:avLst/>
          </a:prstGeom>
          <a:noFill/>
        </p:spPr>
        <p:txBody>
          <a:bodyPr wrap="square" anchor="t" lIns="0" rIns="0" tIns="0" bIns="0">
            <a:spAutoFit/>
          </a:bodyPr>
          <a:lstStyle/>
          <a:p>
            <a:pPr algn="ctr">
              <a:lnSpc>
                <a:spcPct val="100000"/>
              </a:lnSpc>
              <a:spcAft>
                <a:spcPts val="400"/>
              </a:spcAft>
            </a:pPr>
            <a:r>
              <a:rPr sz="3000" b="1" i="0">
                <a:solidFill>
                  <a:srgbClr val="1F1E1C"/>
                </a:solidFill>
                <a:latin typeface="Arial Black"/>
              </a:rPr>
              <a:t>43 soat</a:t>
            </a:r>
          </a:p>
          <a:p>
            <a:pPr algn="ctr">
              <a:lnSpc>
                <a:spcPct val="112000"/>
              </a:lnSpc>
              <a:spcAft>
                <a:spcPts val="0"/>
              </a:spcAft>
            </a:pPr>
            <a:r>
              <a:rPr sz="1800" b="1" i="0">
                <a:solidFill>
                  <a:srgbClr val="1F1E1C"/>
                </a:solidFill>
                <a:latin typeface="Segoe UI"/>
              </a:rPr>
              <a:t>matnga aylantirilgan
dars</a:t>
            </a:r>
          </a:p>
        </p:txBody>
      </p:sp>
      <p:sp>
        <p:nvSpPr>
          <p:cNvPr id="13" name="Diamond 12"/>
          <p:cNvSpPr/>
          <p:nvPr/>
        </p:nvSpPr>
        <p:spPr>
          <a:xfrm>
            <a:off x="8366760" y="3246120"/>
            <a:ext cx="4617720" cy="4617720"/>
          </a:xfrm>
          <a:prstGeom prst="diamond">
            <a:avLst/>
          </a:prstGeom>
          <a:noFill/>
          <a:ln w="57150">
            <a:solidFill>
              <a:srgbClr val="C15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82712" y="4937760"/>
            <a:ext cx="1234440" cy="1234440"/>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4846320"/>
            <a:ext cx="2880360" cy="1600200"/>
          </a:xfrm>
          <a:prstGeom prst="rect">
            <a:avLst/>
          </a:prstGeom>
          <a:noFill/>
        </p:spPr>
        <p:txBody>
          <a:bodyPr wrap="square" anchor="t" lIns="0" rIns="0" tIns="0" bIns="0">
            <a:spAutoFit/>
          </a:bodyPr>
          <a:lstStyle/>
          <a:p>
            <a:pPr algn="ctr">
              <a:lnSpc>
                <a:spcPct val="100000"/>
              </a:lnSpc>
              <a:spcAft>
                <a:spcPts val="400"/>
              </a:spcAft>
            </a:pPr>
            <a:r>
              <a:rPr sz="3000" b="1" i="0">
                <a:solidFill>
                  <a:srgbClr val="1F1E1C"/>
                </a:solidFill>
                <a:latin typeface="Arial Black"/>
              </a:rPr>
              <a:t>3 soniya</a:t>
            </a:r>
          </a:p>
          <a:p>
            <a:pPr algn="ctr">
              <a:lnSpc>
                <a:spcPct val="112000"/>
              </a:lnSpc>
              <a:spcAft>
                <a:spcPts val="0"/>
              </a:spcAft>
            </a:pPr>
            <a:r>
              <a:rPr sz="1800" b="1" i="0">
                <a:solidFill>
                  <a:srgbClr val="1F1E1C"/>
                </a:solidFill>
                <a:latin typeface="Segoe UI"/>
              </a:rPr>
              <a:t>javob boshlanish
vaqti</a:t>
            </a:r>
          </a:p>
        </p:txBody>
      </p:sp>
      <p:sp>
        <p:nvSpPr>
          <p:cNvPr id="16" name="Diamond 15"/>
          <p:cNvSpPr/>
          <p:nvPr/>
        </p:nvSpPr>
        <p:spPr>
          <a:xfrm>
            <a:off x="12115800" y="4617720"/>
            <a:ext cx="4617720" cy="4617720"/>
          </a:xfrm>
          <a:prstGeom prst="diamond">
            <a:avLst/>
          </a:prstGeom>
          <a:noFill/>
          <a:ln w="57150">
            <a:solidFill>
              <a:srgbClr val="2524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31752" y="6309360"/>
            <a:ext cx="1234440" cy="1234440"/>
          </a:xfrm>
          <a:prstGeom prst="ellipse">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984480" y="6217920"/>
            <a:ext cx="2880360" cy="1600200"/>
          </a:xfrm>
          <a:prstGeom prst="rect">
            <a:avLst/>
          </a:prstGeom>
          <a:noFill/>
        </p:spPr>
        <p:txBody>
          <a:bodyPr wrap="square" anchor="t" lIns="0" rIns="0" tIns="0" bIns="0">
            <a:spAutoFit/>
          </a:bodyPr>
          <a:lstStyle/>
          <a:p>
            <a:pPr algn="ctr">
              <a:lnSpc>
                <a:spcPct val="100000"/>
              </a:lnSpc>
              <a:spcAft>
                <a:spcPts val="400"/>
              </a:spcAft>
            </a:pPr>
            <a:r>
              <a:rPr sz="3000" b="1" i="0">
                <a:solidFill>
                  <a:srgbClr val="1F1E1C"/>
                </a:solidFill>
                <a:latin typeface="Arial Black"/>
              </a:rPr>
              <a:t>80 so'm</a:t>
            </a:r>
          </a:p>
          <a:p>
            <a:pPr algn="ctr">
              <a:lnSpc>
                <a:spcPct val="112000"/>
              </a:lnSpc>
              <a:spcAft>
                <a:spcPts val="0"/>
              </a:spcAft>
            </a:pPr>
            <a:r>
              <a:rPr sz="1800" b="1" i="0">
                <a:solidFill>
                  <a:srgbClr val="1F1E1C"/>
                </a:solidFill>
                <a:latin typeface="Segoe UI"/>
              </a:rPr>
              <a:t>bitta javob
tannarxi</a:t>
            </a:r>
          </a:p>
        </p:txBody>
      </p:sp>
      <p:sp>
        <p:nvSpPr>
          <p:cNvPr id="19" name="Rounded Rectangle 18"/>
          <p:cNvSpPr/>
          <p:nvPr/>
        </p:nvSpPr>
        <p:spPr>
          <a:xfrm>
            <a:off x="12390120" y="960120"/>
            <a:ext cx="4983480" cy="3246120"/>
          </a:xfrm>
          <a:prstGeom prst="roundRect">
            <a:avLst/>
          </a:prstGeom>
          <a:solidFill>
            <a:srgbClr val="FFFFFF"/>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47320" y="1325880"/>
            <a:ext cx="4114800" cy="914400"/>
          </a:xfrm>
          <a:prstGeom prst="rect">
            <a:avLst/>
          </a:prstGeom>
          <a:noFill/>
        </p:spPr>
        <p:txBody>
          <a:bodyPr wrap="square" anchor="t" lIns="0" rIns="0" tIns="0" bIns="0">
            <a:spAutoFit/>
          </a:bodyPr>
          <a:lstStyle/>
          <a:p>
            <a:pPr algn="l">
              <a:lnSpc>
                <a:spcPct val="120000"/>
              </a:lnSpc>
              <a:spcAft>
                <a:spcPts val="0"/>
              </a:spcAft>
            </a:pPr>
            <a:r>
              <a:rPr sz="1500" b="1" i="0">
                <a:solidFill>
                  <a:srgbClr val="C15F3C"/>
                </a:solidFill>
                <a:latin typeface="Segoe UI"/>
              </a:rPr>
              <a:t>NIMANI ISBOTLADIK</a:t>
            </a:r>
          </a:p>
        </p:txBody>
      </p:sp>
      <p:sp>
        <p:nvSpPr>
          <p:cNvPr id="21" name="TextBox 20"/>
          <p:cNvSpPr txBox="1"/>
          <p:nvPr/>
        </p:nvSpPr>
        <p:spPr>
          <a:xfrm>
            <a:off x="12847320" y="1965960"/>
            <a:ext cx="365760" cy="914400"/>
          </a:xfrm>
          <a:prstGeom prst="rect">
            <a:avLst/>
          </a:prstGeom>
          <a:noFill/>
        </p:spPr>
        <p:txBody>
          <a:bodyPr wrap="square" anchor="t" lIns="0" rIns="0" tIns="0" bIns="0">
            <a:spAutoFit/>
          </a:bodyPr>
          <a:lstStyle/>
          <a:p>
            <a:pPr algn="l">
              <a:lnSpc>
                <a:spcPct val="120000"/>
              </a:lnSpc>
              <a:spcAft>
                <a:spcPts val="0"/>
              </a:spcAft>
            </a:pPr>
            <a:r>
              <a:rPr sz="1800" b="1" i="0">
                <a:solidFill>
                  <a:srgbClr val="C15F3C"/>
                </a:solidFill>
                <a:latin typeface="Segoe UI"/>
              </a:rPr>
              <a:t>✓</a:t>
            </a:r>
          </a:p>
        </p:txBody>
      </p:sp>
      <p:sp>
        <p:nvSpPr>
          <p:cNvPr id="22" name="TextBox 21"/>
          <p:cNvSpPr txBox="1"/>
          <p:nvPr/>
        </p:nvSpPr>
        <p:spPr>
          <a:xfrm>
            <a:off x="13258800" y="1965960"/>
            <a:ext cx="3840480" cy="914400"/>
          </a:xfrm>
          <a:prstGeom prst="rect">
            <a:avLst/>
          </a:prstGeom>
          <a:noFill/>
        </p:spPr>
        <p:txBody>
          <a:bodyPr wrap="square" anchor="t" lIns="0" rIns="0" tIns="0" bIns="0">
            <a:spAutoFit/>
          </a:bodyPr>
          <a:lstStyle/>
          <a:p>
            <a:pPr algn="l">
              <a:lnSpc>
                <a:spcPct val="120000"/>
              </a:lnSpc>
              <a:spcAft>
                <a:spcPts val="0"/>
              </a:spcAft>
            </a:pPr>
            <a:r>
              <a:rPr sz="1600" b="0" i="0">
                <a:solidFill>
                  <a:srgbClr val="1F1E1C"/>
                </a:solidFill>
                <a:latin typeface="Segoe UI"/>
              </a:rPr>
              <a:t>Platforma jonli: twin.bmslab.uz</a:t>
            </a:r>
          </a:p>
        </p:txBody>
      </p:sp>
      <p:sp>
        <p:nvSpPr>
          <p:cNvPr id="23" name="TextBox 22"/>
          <p:cNvSpPr txBox="1"/>
          <p:nvPr/>
        </p:nvSpPr>
        <p:spPr>
          <a:xfrm>
            <a:off x="12847320" y="2496312"/>
            <a:ext cx="365760" cy="914400"/>
          </a:xfrm>
          <a:prstGeom prst="rect">
            <a:avLst/>
          </a:prstGeom>
          <a:noFill/>
        </p:spPr>
        <p:txBody>
          <a:bodyPr wrap="square" anchor="t" lIns="0" rIns="0" tIns="0" bIns="0">
            <a:spAutoFit/>
          </a:bodyPr>
          <a:lstStyle/>
          <a:p>
            <a:pPr algn="l">
              <a:lnSpc>
                <a:spcPct val="120000"/>
              </a:lnSpc>
              <a:spcAft>
                <a:spcPts val="0"/>
              </a:spcAft>
            </a:pPr>
            <a:r>
              <a:rPr sz="1800" b="1" i="0">
                <a:solidFill>
                  <a:srgbClr val="C15F3C"/>
                </a:solidFill>
                <a:latin typeface="Segoe UI"/>
              </a:rPr>
              <a:t>✓</a:t>
            </a:r>
          </a:p>
        </p:txBody>
      </p:sp>
      <p:sp>
        <p:nvSpPr>
          <p:cNvPr id="24" name="TextBox 23"/>
          <p:cNvSpPr txBox="1"/>
          <p:nvPr/>
        </p:nvSpPr>
        <p:spPr>
          <a:xfrm>
            <a:off x="13258800" y="2496312"/>
            <a:ext cx="3840480" cy="914400"/>
          </a:xfrm>
          <a:prstGeom prst="rect">
            <a:avLst/>
          </a:prstGeom>
          <a:noFill/>
        </p:spPr>
        <p:txBody>
          <a:bodyPr wrap="square" anchor="t" lIns="0" rIns="0" tIns="0" bIns="0">
            <a:spAutoFit/>
          </a:bodyPr>
          <a:lstStyle/>
          <a:p>
            <a:pPr algn="l">
              <a:lnSpc>
                <a:spcPct val="120000"/>
              </a:lnSpc>
              <a:spcAft>
                <a:spcPts val="0"/>
              </a:spcAft>
            </a:pPr>
            <a:r>
              <a:rPr sz="1600" b="0" i="0">
                <a:solidFill>
                  <a:srgbClr val="1F1E1C"/>
                </a:solidFill>
                <a:latin typeface="Segoe UI"/>
              </a:rPr>
              <a:t>21 mavzuli kurs avtomatik qurildi</a:t>
            </a:r>
          </a:p>
        </p:txBody>
      </p:sp>
      <p:sp>
        <p:nvSpPr>
          <p:cNvPr id="25" name="TextBox 24"/>
          <p:cNvSpPr txBox="1"/>
          <p:nvPr/>
        </p:nvSpPr>
        <p:spPr>
          <a:xfrm>
            <a:off x="12847320" y="3026663"/>
            <a:ext cx="365760" cy="914400"/>
          </a:xfrm>
          <a:prstGeom prst="rect">
            <a:avLst/>
          </a:prstGeom>
          <a:noFill/>
        </p:spPr>
        <p:txBody>
          <a:bodyPr wrap="square" anchor="t" lIns="0" rIns="0" tIns="0" bIns="0">
            <a:spAutoFit/>
          </a:bodyPr>
          <a:lstStyle/>
          <a:p>
            <a:pPr algn="l">
              <a:lnSpc>
                <a:spcPct val="120000"/>
              </a:lnSpc>
              <a:spcAft>
                <a:spcPts val="0"/>
              </a:spcAft>
            </a:pPr>
            <a:r>
              <a:rPr sz="1800" b="1" i="0">
                <a:solidFill>
                  <a:srgbClr val="C15F3C"/>
                </a:solidFill>
                <a:latin typeface="Segoe UI"/>
              </a:rPr>
              <a:t>✓</a:t>
            </a:r>
          </a:p>
        </p:txBody>
      </p:sp>
      <p:sp>
        <p:nvSpPr>
          <p:cNvPr id="26" name="TextBox 25"/>
          <p:cNvSpPr txBox="1"/>
          <p:nvPr/>
        </p:nvSpPr>
        <p:spPr>
          <a:xfrm>
            <a:off x="13258800" y="3026663"/>
            <a:ext cx="3840480" cy="914400"/>
          </a:xfrm>
          <a:prstGeom prst="rect">
            <a:avLst/>
          </a:prstGeom>
          <a:noFill/>
        </p:spPr>
        <p:txBody>
          <a:bodyPr wrap="square" anchor="t" lIns="0" rIns="0" tIns="0" bIns="0">
            <a:spAutoFit/>
          </a:bodyPr>
          <a:lstStyle/>
          <a:p>
            <a:pPr algn="l">
              <a:lnSpc>
                <a:spcPct val="120000"/>
              </a:lnSpc>
              <a:spcAft>
                <a:spcPts val="0"/>
              </a:spcAft>
            </a:pPr>
            <a:r>
              <a:rPr sz="1600" b="0" i="0">
                <a:solidFill>
                  <a:srgbClr val="1F1E1C"/>
                </a:solidFill>
                <a:latin typeface="Segoe UI"/>
              </a:rPr>
              <a:t>Vazifa avtomatik tekshirilib baholanadi</a:t>
            </a:r>
          </a:p>
        </p:txBody>
      </p:sp>
      <p:sp>
        <p:nvSpPr>
          <p:cNvPr id="27" name="TextBox 26"/>
          <p:cNvSpPr txBox="1"/>
          <p:nvPr/>
        </p:nvSpPr>
        <p:spPr>
          <a:xfrm>
            <a:off x="12847320" y="3557015"/>
            <a:ext cx="365760" cy="914400"/>
          </a:xfrm>
          <a:prstGeom prst="rect">
            <a:avLst/>
          </a:prstGeom>
          <a:noFill/>
        </p:spPr>
        <p:txBody>
          <a:bodyPr wrap="square" anchor="t" lIns="0" rIns="0" tIns="0" bIns="0">
            <a:spAutoFit/>
          </a:bodyPr>
          <a:lstStyle/>
          <a:p>
            <a:pPr algn="l">
              <a:lnSpc>
                <a:spcPct val="120000"/>
              </a:lnSpc>
              <a:spcAft>
                <a:spcPts val="0"/>
              </a:spcAft>
            </a:pPr>
            <a:r>
              <a:rPr sz="1800" b="1" i="0">
                <a:solidFill>
                  <a:srgbClr val="C15F3C"/>
                </a:solidFill>
                <a:latin typeface="Segoe UI"/>
              </a:rPr>
              <a:t>✓</a:t>
            </a:r>
          </a:p>
        </p:txBody>
      </p:sp>
      <p:sp>
        <p:nvSpPr>
          <p:cNvPr id="28" name="TextBox 27"/>
          <p:cNvSpPr txBox="1"/>
          <p:nvPr/>
        </p:nvSpPr>
        <p:spPr>
          <a:xfrm>
            <a:off x="13258800" y="3557015"/>
            <a:ext cx="3840480" cy="914400"/>
          </a:xfrm>
          <a:prstGeom prst="rect">
            <a:avLst/>
          </a:prstGeom>
          <a:noFill/>
        </p:spPr>
        <p:txBody>
          <a:bodyPr wrap="square" anchor="t" lIns="0" rIns="0" tIns="0" bIns="0">
            <a:spAutoFit/>
          </a:bodyPr>
          <a:lstStyle/>
          <a:p>
            <a:pPr algn="l">
              <a:lnSpc>
                <a:spcPct val="120000"/>
              </a:lnSpc>
              <a:spcAft>
                <a:spcPts val="0"/>
              </a:spcAft>
            </a:pPr>
            <a:r>
              <a:rPr sz="1600" b="0" i="0">
                <a:solidFill>
                  <a:srgbClr val="1F1E1C"/>
                </a:solidFill>
                <a:latin typeface="Segoe UI"/>
              </a:rPr>
              <a:t>170+ avtomatik test o'tadi</a:t>
            </a:r>
          </a:p>
        </p:txBody>
      </p:sp>
      <p:sp>
        <p:nvSpPr>
          <p:cNvPr id="29" name="TextBox 28"/>
          <p:cNvSpPr txBox="1"/>
          <p:nvPr/>
        </p:nvSpPr>
        <p:spPr>
          <a:xfrm>
            <a:off x="1005840" y="9555480"/>
            <a:ext cx="16276320" cy="914400"/>
          </a:xfrm>
          <a:prstGeom prst="rect">
            <a:avLst/>
          </a:prstGeom>
          <a:noFill/>
        </p:spPr>
        <p:txBody>
          <a:bodyPr wrap="square" anchor="t" lIns="0" rIns="0" tIns="0" bIns="0">
            <a:spAutoFit/>
          </a:bodyPr>
          <a:lstStyle/>
          <a:p>
            <a:pPr algn="l">
              <a:lnSpc>
                <a:spcPct val="120000"/>
              </a:lnSpc>
              <a:spcAft>
                <a:spcPts val="0"/>
              </a:spcAft>
            </a:pPr>
            <a:r>
              <a:rPr sz="1700" b="0" i="0">
                <a:solidFill>
                  <a:srgbClr val="6F6B63"/>
                </a:solidFill>
                <a:latin typeface="Segoe UI"/>
              </a:rPr>
              <a:t>Platforma 2026-yil 26-iyuldan 2-avgustgacha — 8 kunda qurildi va o'z serveriga ko'chirildi.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298680" y="1051560"/>
            <a:ext cx="61722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161520" y="982980"/>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10058400" cy="1477107"/>
          </a:xfrm>
          <a:prstGeom prst="rect">
            <a:avLst/>
          </a:prstGeom>
          <a:noFill/>
        </p:spPr>
        <p:txBody>
          <a:bodyPr wrap="square" anchor="t" lIns="0" rIns="0" tIns="0" bIns="0">
            <a:spAutoFit/>
          </a:bodyPr>
          <a:lstStyle/>
          <a:p>
            <a:pPr algn="l">
              <a:lnSpc>
                <a:spcPct val="100000"/>
              </a:lnSpc>
              <a:spcAft>
                <a:spcPts val="0"/>
              </a:spcAft>
            </a:pPr>
            <a:r>
              <a:rPr sz="5800" b="1" i="0">
                <a:solidFill>
                  <a:srgbClr val="1F1E1C"/>
                </a:solidFill>
                <a:latin typeface="Arial Black"/>
              </a:rPr>
              <a:t>Bozor hajmi</a:t>
            </a:r>
          </a:p>
        </p:txBody>
      </p:sp>
      <p:sp>
        <p:nvSpPr>
          <p:cNvPr id="8" name="TextBox 7"/>
          <p:cNvSpPr txBox="1"/>
          <p:nvPr/>
        </p:nvSpPr>
        <p:spPr>
          <a:xfrm>
            <a:off x="1005840" y="2862072"/>
            <a:ext cx="10058400" cy="914400"/>
          </a:xfrm>
          <a:prstGeom prst="rect">
            <a:avLst/>
          </a:prstGeom>
          <a:noFill/>
        </p:spPr>
        <p:txBody>
          <a:bodyPr wrap="square" anchor="t" lIns="0" rIns="0" tIns="0" bIns="0">
            <a:spAutoFit/>
          </a:bodyPr>
          <a:lstStyle/>
          <a:p>
            <a:pPr algn="l">
              <a:lnSpc>
                <a:spcPct val="120000"/>
              </a:lnSpc>
              <a:spcAft>
                <a:spcPts val="0"/>
              </a:spcAft>
            </a:pPr>
            <a:r>
              <a:rPr sz="1700" b="0" i="0">
                <a:solidFill>
                  <a:srgbClr val="6F6B63"/>
                </a:solidFill>
                <a:latin typeface="Segoe UI"/>
              </a:rPr>
              <a:t>Dunyo bo'ylab onlayn ta'lim va korporativ o'quv</a:t>
            </a:r>
          </a:p>
        </p:txBody>
      </p:sp>
      <p:sp>
        <p:nvSpPr>
          <p:cNvPr id="9" name="TextBox 8"/>
          <p:cNvSpPr txBox="1"/>
          <p:nvPr/>
        </p:nvSpPr>
        <p:spPr>
          <a:xfrm>
            <a:off x="1005840" y="3337560"/>
            <a:ext cx="1371600" cy="457200"/>
          </a:xfrm>
          <a:prstGeom prst="rect">
            <a:avLst/>
          </a:prstGeom>
          <a:noFill/>
        </p:spPr>
        <p:txBody>
          <a:bodyPr wrap="square" anchor="t" lIns="0" rIns="0" tIns="0" bIns="0">
            <a:spAutoFit/>
          </a:bodyPr>
          <a:lstStyle/>
          <a:p>
            <a:pPr algn="l">
              <a:lnSpc>
                <a:spcPct val="100000"/>
              </a:lnSpc>
              <a:spcAft>
                <a:spcPts val="0"/>
              </a:spcAft>
            </a:pPr>
            <a:r>
              <a:rPr sz="2000" b="1" i="0">
                <a:solidFill>
                  <a:srgbClr val="A8A39B"/>
                </a:solidFill>
                <a:latin typeface="Segoe UI"/>
              </a:rPr>
              <a:t>TAM</a:t>
            </a:r>
          </a:p>
        </p:txBody>
      </p:sp>
      <p:sp>
        <p:nvSpPr>
          <p:cNvPr id="10" name="Rounded Rectangle 9"/>
          <p:cNvSpPr/>
          <p:nvPr/>
        </p:nvSpPr>
        <p:spPr>
          <a:xfrm>
            <a:off x="2514600" y="3291840"/>
            <a:ext cx="7086600" cy="960120"/>
          </a:xfrm>
          <a:prstGeom prst="round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0" y="3429000"/>
            <a:ext cx="36576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F1E1C"/>
                </a:solidFill>
                <a:latin typeface="Arial Black"/>
              </a:rPr>
              <a:t>$350 mlrd</a:t>
            </a:r>
          </a:p>
        </p:txBody>
      </p:sp>
      <p:sp>
        <p:nvSpPr>
          <p:cNvPr id="12" name="TextBox 11"/>
          <p:cNvSpPr txBox="1"/>
          <p:nvPr/>
        </p:nvSpPr>
        <p:spPr>
          <a:xfrm>
            <a:off x="1005840" y="4736592"/>
            <a:ext cx="10058400" cy="914400"/>
          </a:xfrm>
          <a:prstGeom prst="rect">
            <a:avLst/>
          </a:prstGeom>
          <a:noFill/>
        </p:spPr>
        <p:txBody>
          <a:bodyPr wrap="square" anchor="t" lIns="0" rIns="0" tIns="0" bIns="0">
            <a:spAutoFit/>
          </a:bodyPr>
          <a:lstStyle/>
          <a:p>
            <a:pPr algn="l">
              <a:lnSpc>
                <a:spcPct val="120000"/>
              </a:lnSpc>
              <a:spcAft>
                <a:spcPts val="0"/>
              </a:spcAft>
            </a:pPr>
            <a:r>
              <a:rPr sz="1700" b="0" i="0">
                <a:solidFill>
                  <a:srgbClr val="6F6B63"/>
                </a:solidFill>
                <a:latin typeface="Segoe UI"/>
              </a:rPr>
              <a:t>Markaziy Osiyo — bilim va ta'lim xizmatlari</a:t>
            </a:r>
          </a:p>
        </p:txBody>
      </p:sp>
      <p:sp>
        <p:nvSpPr>
          <p:cNvPr id="13" name="TextBox 12"/>
          <p:cNvSpPr txBox="1"/>
          <p:nvPr/>
        </p:nvSpPr>
        <p:spPr>
          <a:xfrm>
            <a:off x="1005840" y="5212079"/>
            <a:ext cx="1371600" cy="457200"/>
          </a:xfrm>
          <a:prstGeom prst="rect">
            <a:avLst/>
          </a:prstGeom>
          <a:noFill/>
        </p:spPr>
        <p:txBody>
          <a:bodyPr wrap="square" anchor="t" lIns="0" rIns="0" tIns="0" bIns="0">
            <a:spAutoFit/>
          </a:bodyPr>
          <a:lstStyle/>
          <a:p>
            <a:pPr algn="l">
              <a:lnSpc>
                <a:spcPct val="100000"/>
              </a:lnSpc>
              <a:spcAft>
                <a:spcPts val="0"/>
              </a:spcAft>
            </a:pPr>
            <a:r>
              <a:rPr sz="2000" b="1" i="0">
                <a:solidFill>
                  <a:srgbClr val="A8A39B"/>
                </a:solidFill>
                <a:latin typeface="Segoe UI"/>
              </a:rPr>
              <a:t>SAM</a:t>
            </a:r>
          </a:p>
        </p:txBody>
      </p:sp>
      <p:sp>
        <p:nvSpPr>
          <p:cNvPr id="14" name="Rounded Rectangle 13"/>
          <p:cNvSpPr/>
          <p:nvPr/>
        </p:nvSpPr>
        <p:spPr>
          <a:xfrm>
            <a:off x="2514600" y="5166359"/>
            <a:ext cx="3063240" cy="960120"/>
          </a:xfrm>
          <a:prstGeom prst="roundRect">
            <a:avLst/>
          </a:prstGeom>
          <a:solidFill>
            <a:srgbClr val="8E4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5303519"/>
            <a:ext cx="36576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F1E1C"/>
                </a:solidFill>
                <a:latin typeface="Arial Black"/>
              </a:rPr>
              <a:t>$200 mln</a:t>
            </a:r>
          </a:p>
        </p:txBody>
      </p:sp>
      <p:sp>
        <p:nvSpPr>
          <p:cNvPr id="16" name="TextBox 15"/>
          <p:cNvSpPr txBox="1"/>
          <p:nvPr/>
        </p:nvSpPr>
        <p:spPr>
          <a:xfrm>
            <a:off x="1005840" y="6611112"/>
            <a:ext cx="10058400" cy="914400"/>
          </a:xfrm>
          <a:prstGeom prst="rect">
            <a:avLst/>
          </a:prstGeom>
          <a:noFill/>
        </p:spPr>
        <p:txBody>
          <a:bodyPr wrap="square" anchor="t" lIns="0" rIns="0" tIns="0" bIns="0">
            <a:spAutoFit/>
          </a:bodyPr>
          <a:lstStyle/>
          <a:p>
            <a:pPr algn="l">
              <a:lnSpc>
                <a:spcPct val="120000"/>
              </a:lnSpc>
              <a:spcAft>
                <a:spcPts val="0"/>
              </a:spcAft>
            </a:pPr>
            <a:r>
              <a:rPr sz="1700" b="0" i="0">
                <a:solidFill>
                  <a:srgbClr val="6F6B63"/>
                </a:solidFill>
                <a:latin typeface="Segoe UI"/>
              </a:rPr>
              <a:t>2 yil ichida biz olishimiz mumkin</a:t>
            </a:r>
          </a:p>
        </p:txBody>
      </p:sp>
      <p:sp>
        <p:nvSpPr>
          <p:cNvPr id="17" name="TextBox 16"/>
          <p:cNvSpPr txBox="1"/>
          <p:nvPr/>
        </p:nvSpPr>
        <p:spPr>
          <a:xfrm>
            <a:off x="1005840" y="7086600"/>
            <a:ext cx="1371600" cy="457200"/>
          </a:xfrm>
          <a:prstGeom prst="rect">
            <a:avLst/>
          </a:prstGeom>
          <a:noFill/>
        </p:spPr>
        <p:txBody>
          <a:bodyPr wrap="square" anchor="t" lIns="0" rIns="0" tIns="0" bIns="0">
            <a:spAutoFit/>
          </a:bodyPr>
          <a:lstStyle/>
          <a:p>
            <a:pPr algn="l">
              <a:lnSpc>
                <a:spcPct val="100000"/>
              </a:lnSpc>
              <a:spcAft>
                <a:spcPts val="0"/>
              </a:spcAft>
            </a:pPr>
            <a:r>
              <a:rPr sz="2000" b="1" i="0">
                <a:solidFill>
                  <a:srgbClr val="A8A39B"/>
                </a:solidFill>
                <a:latin typeface="Segoe UI"/>
              </a:rPr>
              <a:t>SOM</a:t>
            </a:r>
          </a:p>
        </p:txBody>
      </p:sp>
      <p:sp>
        <p:nvSpPr>
          <p:cNvPr id="18" name="Rounded Rectangle 17"/>
          <p:cNvSpPr/>
          <p:nvPr/>
        </p:nvSpPr>
        <p:spPr>
          <a:xfrm>
            <a:off x="2514600" y="7040880"/>
            <a:ext cx="1051560" cy="960120"/>
          </a:xfrm>
          <a:prstGeom prst="round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39" y="7178040"/>
            <a:ext cx="36576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F1E1C"/>
                </a:solidFill>
                <a:latin typeface="Arial Black"/>
              </a:rPr>
              <a:t>$1,5 mln</a:t>
            </a:r>
          </a:p>
        </p:txBody>
      </p:sp>
      <p:sp>
        <p:nvSpPr>
          <p:cNvPr id="20" name="TextBox 19"/>
          <p:cNvSpPr txBox="1"/>
          <p:nvPr/>
        </p:nvSpPr>
        <p:spPr>
          <a:xfrm>
            <a:off x="1005840" y="9006840"/>
            <a:ext cx="10972800" cy="914400"/>
          </a:xfrm>
          <a:prstGeom prst="rect">
            <a:avLst/>
          </a:prstGeom>
          <a:noFill/>
        </p:spPr>
        <p:txBody>
          <a:bodyPr wrap="square" anchor="t" lIns="0" rIns="0" tIns="0" bIns="0">
            <a:spAutoFit/>
          </a:bodyPr>
          <a:lstStyle/>
          <a:p>
            <a:pPr algn="l">
              <a:lnSpc>
                <a:spcPct val="120000"/>
              </a:lnSpc>
              <a:spcAft>
                <a:spcPts val="0"/>
              </a:spcAft>
            </a:pPr>
            <a:r>
              <a:rPr sz="1500" b="0" i="0">
                <a:solidFill>
                  <a:srgbClr val="A8A39B"/>
                </a:solidFill>
                <a:latin typeface="Segoe UI"/>
              </a:rPr>
              <a:t>Ustunlarning uzunligi shartli — aniq raqamlar yonida ko'rsatilgan.
Bozor baholari ochiq manbalar va o'z tarifimizdan hisoblangan taxmin.</a:t>
            </a:r>
          </a:p>
        </p:txBody>
      </p:sp>
      <p:sp>
        <p:nvSpPr>
          <p:cNvPr id="21" name="Rounded Rectangle 20"/>
          <p:cNvSpPr/>
          <p:nvPr/>
        </p:nvSpPr>
        <p:spPr>
          <a:xfrm>
            <a:off x="12664440" y="3063240"/>
            <a:ext cx="4617720" cy="4617720"/>
          </a:xfrm>
          <a:prstGeom prst="round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21640" y="3520440"/>
            <a:ext cx="3840480" cy="914400"/>
          </a:xfrm>
          <a:prstGeom prst="rect">
            <a:avLst/>
          </a:prstGeom>
          <a:noFill/>
        </p:spPr>
        <p:txBody>
          <a:bodyPr wrap="square" anchor="t" lIns="0" rIns="0" tIns="0" bIns="0">
            <a:spAutoFit/>
          </a:bodyPr>
          <a:lstStyle/>
          <a:p>
            <a:pPr algn="l">
              <a:lnSpc>
                <a:spcPct val="120000"/>
              </a:lnSpc>
              <a:spcAft>
                <a:spcPts val="0"/>
              </a:spcAft>
            </a:pPr>
            <a:r>
              <a:rPr sz="1500" b="1" i="0">
                <a:solidFill>
                  <a:srgbClr val="E39B76"/>
                </a:solidFill>
                <a:latin typeface="Segoe UI"/>
              </a:rPr>
              <a:t>BIZNING HISOB</a:t>
            </a:r>
          </a:p>
        </p:txBody>
      </p:sp>
      <p:sp>
        <p:nvSpPr>
          <p:cNvPr id="23" name="TextBox 22"/>
          <p:cNvSpPr txBox="1"/>
          <p:nvPr/>
        </p:nvSpPr>
        <p:spPr>
          <a:xfrm>
            <a:off x="13121640" y="4343400"/>
            <a:ext cx="3840480" cy="1371600"/>
          </a:xfrm>
          <a:prstGeom prst="rect">
            <a:avLst/>
          </a:prstGeom>
          <a:noFill/>
        </p:spPr>
        <p:txBody>
          <a:bodyPr wrap="square" anchor="t" lIns="0" rIns="0" tIns="0" bIns="0">
            <a:spAutoFit/>
          </a:bodyPr>
          <a:lstStyle/>
          <a:p>
            <a:pPr algn="l">
              <a:lnSpc>
                <a:spcPct val="100000"/>
              </a:lnSpc>
              <a:spcAft>
                <a:spcPts val="400"/>
              </a:spcAft>
            </a:pPr>
            <a:r>
              <a:rPr sz="3400" b="1" i="0">
                <a:solidFill>
                  <a:srgbClr val="FFFFFF"/>
                </a:solidFill>
                <a:latin typeface="Arial Black"/>
              </a:rPr>
              <a:t>1,5 mln</a:t>
            </a:r>
          </a:p>
          <a:p>
            <a:pPr algn="l">
              <a:lnSpc>
                <a:spcPct val="120000"/>
              </a:lnSpc>
              <a:spcAft>
                <a:spcPts val="0"/>
              </a:spcAft>
            </a:pPr>
            <a:r>
              <a:rPr sz="1500" b="0" i="0">
                <a:solidFill>
                  <a:srgbClr val="C9C4BC"/>
                </a:solidFill>
                <a:latin typeface="Segoe UI"/>
              </a:rPr>
              <a:t>Markaziy Osiyodagi ustoz,
murabbiy va o'quv markazi</a:t>
            </a:r>
          </a:p>
        </p:txBody>
      </p:sp>
      <p:sp>
        <p:nvSpPr>
          <p:cNvPr id="24" name="TextBox 23"/>
          <p:cNvSpPr txBox="1"/>
          <p:nvPr/>
        </p:nvSpPr>
        <p:spPr>
          <a:xfrm>
            <a:off x="13121640" y="6035040"/>
            <a:ext cx="3840480" cy="1371600"/>
          </a:xfrm>
          <a:prstGeom prst="rect">
            <a:avLst/>
          </a:prstGeom>
          <a:noFill/>
        </p:spPr>
        <p:txBody>
          <a:bodyPr wrap="square" anchor="t" lIns="0" rIns="0" tIns="0" bIns="0">
            <a:spAutoFit/>
          </a:bodyPr>
          <a:lstStyle/>
          <a:p>
            <a:pPr algn="l">
              <a:lnSpc>
                <a:spcPct val="100000"/>
              </a:lnSpc>
              <a:spcAft>
                <a:spcPts val="400"/>
              </a:spcAft>
            </a:pPr>
            <a:r>
              <a:rPr sz="3400" b="1" i="0">
                <a:solidFill>
                  <a:srgbClr val="FFFFFF"/>
                </a:solidFill>
                <a:latin typeface="Arial Black"/>
              </a:rPr>
              <a:t>2 %</a:t>
            </a:r>
          </a:p>
          <a:p>
            <a:pPr algn="l">
              <a:lnSpc>
                <a:spcPct val="120000"/>
              </a:lnSpc>
              <a:spcAft>
                <a:spcPts val="0"/>
              </a:spcAft>
            </a:pPr>
            <a:r>
              <a:rPr sz="1500" b="0" i="0">
                <a:solidFill>
                  <a:srgbClr val="C9C4BC"/>
                </a:solidFill>
                <a:latin typeface="Segoe UI"/>
              </a:rPr>
              <a:t>2 yilda shuncha ulushni
olishni rejalashtiramiz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051560"/>
            <a:ext cx="10058400" cy="1477107"/>
          </a:xfrm>
          <a:prstGeom prst="rect">
            <a:avLst/>
          </a:prstGeom>
          <a:noFill/>
        </p:spPr>
        <p:txBody>
          <a:bodyPr wrap="square" anchor="t" lIns="0" rIns="0" tIns="0" bIns="0">
            <a:spAutoFit/>
          </a:bodyPr>
          <a:lstStyle/>
          <a:p>
            <a:pPr algn="l">
              <a:lnSpc>
                <a:spcPct val="100000"/>
              </a:lnSpc>
              <a:spcAft>
                <a:spcPts val="0"/>
              </a:spcAft>
            </a:pPr>
            <a:r>
              <a:rPr sz="5800" b="1" i="0">
                <a:solidFill>
                  <a:srgbClr val="1F1E1C"/>
                </a:solidFill>
                <a:latin typeface="Arial Black"/>
              </a:rPr>
              <a:t>Investitsiya</a:t>
            </a:r>
          </a:p>
        </p:txBody>
      </p:sp>
      <p:sp>
        <p:nvSpPr>
          <p:cNvPr id="6" name="TextBox 5"/>
          <p:cNvSpPr txBox="1"/>
          <p:nvPr/>
        </p:nvSpPr>
        <p:spPr>
          <a:xfrm>
            <a:off x="1051560" y="2331720"/>
            <a:ext cx="7315200" cy="914400"/>
          </a:xfrm>
          <a:prstGeom prst="rect">
            <a:avLst/>
          </a:prstGeom>
          <a:noFill/>
        </p:spPr>
        <p:txBody>
          <a:bodyPr wrap="square" anchor="t" lIns="0" rIns="0" tIns="0" bIns="0">
            <a:spAutoFit/>
          </a:bodyPr>
          <a:lstStyle/>
          <a:p>
            <a:pPr algn="l">
              <a:lnSpc>
                <a:spcPct val="120000"/>
              </a:lnSpc>
              <a:spcAft>
                <a:spcPts val="0"/>
              </a:spcAft>
            </a:pPr>
            <a:r>
              <a:rPr sz="2400" b="1" i="0">
                <a:solidFill>
                  <a:srgbClr val="6F6B63"/>
                </a:solidFill>
                <a:latin typeface="Segoe UI"/>
              </a:rPr>
              <a:t>Mablag'ning taqsimoti</a:t>
            </a:r>
          </a:p>
        </p:txBody>
      </p:sp>
      <p:graphicFrame>
        <p:nvGraphicFramePr>
          <p:cNvPr id="7" name="Chart 6"/>
          <p:cNvGraphicFramePr>
            <a:graphicFrameLocks noGrp="1"/>
          </p:cNvGraphicFramePr>
          <p:nvPr/>
        </p:nvGraphicFramePr>
        <p:xfrm>
          <a:off x="1234440" y="3063240"/>
          <a:ext cx="5394960" cy="5394960"/>
        </p:xfrm>
        <a:graphic>
          <a:graphicData uri="http://schemas.openxmlformats.org/drawingml/2006/chart">
            <c:chart xmlns:c="http://schemas.openxmlformats.org/drawingml/2006/chart" r:id="rId2"/>
          </a:graphicData>
        </a:graphic>
      </p:graphicFrame>
      <p:sp>
        <p:nvSpPr>
          <p:cNvPr id="8" name="Oval 7"/>
          <p:cNvSpPr/>
          <p:nvPr/>
        </p:nvSpPr>
        <p:spPr>
          <a:xfrm>
            <a:off x="3063240" y="4892040"/>
            <a:ext cx="1737360" cy="1737360"/>
          </a:xfrm>
          <a:prstGeom prst="ellipse">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5230368"/>
            <a:ext cx="2286000" cy="1097280"/>
          </a:xfrm>
          <a:prstGeom prst="rect">
            <a:avLst/>
          </a:prstGeom>
          <a:noFill/>
        </p:spPr>
        <p:txBody>
          <a:bodyPr wrap="square" anchor="t" lIns="0" rIns="0" tIns="0" bIns="0">
            <a:spAutoFit/>
          </a:bodyPr>
          <a:lstStyle/>
          <a:p>
            <a:pPr algn="ctr">
              <a:lnSpc>
                <a:spcPct val="100000"/>
              </a:lnSpc>
              <a:spcAft>
                <a:spcPts val="200"/>
              </a:spcAft>
            </a:pPr>
            <a:r>
              <a:rPr sz="2600" b="1" i="0">
                <a:solidFill>
                  <a:srgbClr val="1F1E1C"/>
                </a:solidFill>
                <a:latin typeface="Arial Black"/>
              </a:rPr>
              <a:t>$150 000</a:t>
            </a:r>
          </a:p>
          <a:p>
            <a:pPr algn="ctr">
              <a:lnSpc>
                <a:spcPct val="100000"/>
              </a:lnSpc>
              <a:spcAft>
                <a:spcPts val="0"/>
              </a:spcAft>
            </a:pPr>
            <a:r>
              <a:rPr sz="1500" b="0" i="0">
                <a:solidFill>
                  <a:srgbClr val="6F6B63"/>
                </a:solidFill>
                <a:latin typeface="Segoe UI"/>
              </a:rPr>
              <a:t>‹ulush %›</a:t>
            </a:r>
          </a:p>
        </p:txBody>
      </p:sp>
      <p:sp>
        <p:nvSpPr>
          <p:cNvPr id="10" name="Rounded Rectangle 9"/>
          <p:cNvSpPr/>
          <p:nvPr/>
        </p:nvSpPr>
        <p:spPr>
          <a:xfrm>
            <a:off x="7543800" y="3794760"/>
            <a:ext cx="384048" cy="384048"/>
          </a:xfrm>
          <a:prstGeom prst="round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3813048"/>
            <a:ext cx="5943600" cy="914400"/>
          </a:xfrm>
          <a:prstGeom prst="rect">
            <a:avLst/>
          </a:prstGeom>
          <a:noFill/>
        </p:spPr>
        <p:txBody>
          <a:bodyPr wrap="square" anchor="t" lIns="0" rIns="0" tIns="0" bIns="0">
            <a:spAutoFit/>
          </a:bodyPr>
          <a:lstStyle/>
          <a:p>
            <a:pPr algn="l">
              <a:lnSpc>
                <a:spcPct val="120000"/>
              </a:lnSpc>
              <a:spcAft>
                <a:spcPts val="0"/>
              </a:spcAft>
            </a:pPr>
            <a:r>
              <a:rPr sz="2100" b="0" i="0">
                <a:solidFill>
                  <a:srgbClr val="1F1E1C"/>
                </a:solidFill>
                <a:latin typeface="Segoe UI"/>
              </a:rPr>
              <a:t>Jamoa va ish haqi (35%)</a:t>
            </a:r>
          </a:p>
        </p:txBody>
      </p:sp>
      <p:sp>
        <p:nvSpPr>
          <p:cNvPr id="12" name="Rounded Rectangle 11"/>
          <p:cNvSpPr/>
          <p:nvPr/>
        </p:nvSpPr>
        <p:spPr>
          <a:xfrm>
            <a:off x="7543800" y="4846320"/>
            <a:ext cx="384048" cy="384048"/>
          </a:xfrm>
          <a:prstGeom prst="round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4864608"/>
            <a:ext cx="5943600" cy="914400"/>
          </a:xfrm>
          <a:prstGeom prst="rect">
            <a:avLst/>
          </a:prstGeom>
          <a:noFill/>
        </p:spPr>
        <p:txBody>
          <a:bodyPr wrap="square" anchor="t" lIns="0" rIns="0" tIns="0" bIns="0">
            <a:spAutoFit/>
          </a:bodyPr>
          <a:lstStyle/>
          <a:p>
            <a:pPr algn="l">
              <a:lnSpc>
                <a:spcPct val="120000"/>
              </a:lnSpc>
              <a:spcAft>
                <a:spcPts val="0"/>
              </a:spcAft>
            </a:pPr>
            <a:r>
              <a:rPr sz="2100" b="0" i="0">
                <a:solidFill>
                  <a:srgbClr val="1F1E1C"/>
                </a:solidFill>
                <a:latin typeface="Segoe UI"/>
              </a:rPr>
              <a:t>Mahsulotni rivojlantirish (25%)</a:t>
            </a:r>
          </a:p>
        </p:txBody>
      </p:sp>
      <p:sp>
        <p:nvSpPr>
          <p:cNvPr id="14" name="Rounded Rectangle 13"/>
          <p:cNvSpPr/>
          <p:nvPr/>
        </p:nvSpPr>
        <p:spPr>
          <a:xfrm>
            <a:off x="7543800" y="5897880"/>
            <a:ext cx="384048" cy="384048"/>
          </a:xfrm>
          <a:prstGeom prst="roundRect">
            <a:avLst/>
          </a:prstGeom>
          <a:solidFill>
            <a:srgbClr val="D9A5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5916168"/>
            <a:ext cx="5943600" cy="914400"/>
          </a:xfrm>
          <a:prstGeom prst="rect">
            <a:avLst/>
          </a:prstGeom>
          <a:noFill/>
        </p:spPr>
        <p:txBody>
          <a:bodyPr wrap="square" anchor="t" lIns="0" rIns="0" tIns="0" bIns="0">
            <a:spAutoFit/>
          </a:bodyPr>
          <a:lstStyle/>
          <a:p>
            <a:pPr algn="l">
              <a:lnSpc>
                <a:spcPct val="120000"/>
              </a:lnSpc>
              <a:spcAft>
                <a:spcPts val="0"/>
              </a:spcAft>
            </a:pPr>
            <a:r>
              <a:rPr sz="2100" b="0" i="0">
                <a:solidFill>
                  <a:srgbClr val="1F1E1C"/>
                </a:solidFill>
                <a:latin typeface="Segoe UI"/>
              </a:rPr>
              <a:t>Server va model xarajati (15%)</a:t>
            </a:r>
          </a:p>
        </p:txBody>
      </p:sp>
      <p:sp>
        <p:nvSpPr>
          <p:cNvPr id="16" name="Rounded Rectangle 15"/>
          <p:cNvSpPr/>
          <p:nvPr/>
        </p:nvSpPr>
        <p:spPr>
          <a:xfrm>
            <a:off x="7543800" y="6949440"/>
            <a:ext cx="384048" cy="384048"/>
          </a:xfrm>
          <a:prstGeom prst="roundRect">
            <a:avLst/>
          </a:prstGeom>
          <a:solidFill>
            <a:srgbClr val="8E4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6967727"/>
            <a:ext cx="5943600" cy="914400"/>
          </a:xfrm>
          <a:prstGeom prst="rect">
            <a:avLst/>
          </a:prstGeom>
          <a:noFill/>
        </p:spPr>
        <p:txBody>
          <a:bodyPr wrap="square" anchor="t" lIns="0" rIns="0" tIns="0" bIns="0">
            <a:spAutoFit/>
          </a:bodyPr>
          <a:lstStyle/>
          <a:p>
            <a:pPr algn="l">
              <a:lnSpc>
                <a:spcPct val="120000"/>
              </a:lnSpc>
              <a:spcAft>
                <a:spcPts val="0"/>
              </a:spcAft>
            </a:pPr>
            <a:r>
              <a:rPr sz="2100" b="0" i="0">
                <a:solidFill>
                  <a:srgbClr val="1F1E1C"/>
                </a:solidFill>
                <a:latin typeface="Segoe UI"/>
              </a:rPr>
              <a:t>Sotuv va marketing (25%)</a:t>
            </a:r>
          </a:p>
        </p:txBody>
      </p:sp>
      <p:sp>
        <p:nvSpPr>
          <p:cNvPr id="18" name="Rounded Rectangle 17"/>
          <p:cNvSpPr/>
          <p:nvPr/>
        </p:nvSpPr>
        <p:spPr>
          <a:xfrm>
            <a:off x="7543800" y="8183879"/>
            <a:ext cx="9738360" cy="1051560"/>
          </a:xfrm>
          <a:prstGeom prst="roundRect">
            <a:avLst/>
          </a:prstGeom>
          <a:solidFill>
            <a:srgbClr val="FFFFFF"/>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8522208"/>
            <a:ext cx="8869680" cy="914400"/>
          </a:xfrm>
          <a:prstGeom prst="rect">
            <a:avLst/>
          </a:prstGeom>
          <a:noFill/>
        </p:spPr>
        <p:txBody>
          <a:bodyPr wrap="square" anchor="t" lIns="0" rIns="0" tIns="0" bIns="0">
            <a:spAutoFit/>
          </a:bodyPr>
          <a:lstStyle/>
          <a:p>
            <a:pPr algn="l">
              <a:lnSpc>
                <a:spcPct val="120000"/>
              </a:lnSpc>
              <a:spcAft>
                <a:spcPts val="0"/>
              </a:spcAft>
            </a:pPr>
            <a:r>
              <a:rPr sz="1800" b="1" i="0">
                <a:solidFill>
                  <a:srgbClr val="1F1E1C"/>
                </a:solidFill>
                <a:latin typeface="Segoe UI"/>
              </a:rPr>
              <a:t>Nima uchun: platforma qurilgan va ishlaydi. Mablag' — mijoz orttirishga va jamoani kengaytirishga.</a:t>
            </a:r>
          </a:p>
        </p:txBody>
      </p:sp>
      <p:sp>
        <p:nvSpPr>
          <p:cNvPr id="20" name="TextBox 19"/>
          <p:cNvSpPr txBox="1"/>
          <p:nvPr/>
        </p:nvSpPr>
        <p:spPr>
          <a:xfrm>
            <a:off x="1234440" y="9006840"/>
            <a:ext cx="5943600" cy="914400"/>
          </a:xfrm>
          <a:prstGeom prst="rect">
            <a:avLst/>
          </a:prstGeom>
          <a:noFill/>
        </p:spPr>
        <p:txBody>
          <a:bodyPr wrap="square" anchor="t" lIns="0" rIns="0" tIns="0" bIns="0">
            <a:spAutoFit/>
          </a:bodyPr>
          <a:lstStyle/>
          <a:p>
            <a:pPr algn="l">
              <a:lnSpc>
                <a:spcPct val="120000"/>
              </a:lnSpc>
              <a:spcAft>
                <a:spcPts val="0"/>
              </a:spcAft>
            </a:pPr>
            <a:r>
              <a:rPr sz="1500" b="0" i="0">
                <a:solidFill>
                  <a:srgbClr val="A8A39B"/>
                </a:solidFill>
                <a:latin typeface="Segoe UI"/>
              </a:rPr>
              <a:t>Summa va ulush foizi egasi tomonidan tasdiqlanishi kerak.</a:t>
            </a:r>
          </a:p>
        </p:txBody>
      </p:sp>
      <p:sp>
        <p:nvSpPr>
          <p:cNvPr id="21" name="Freeform 20"/>
          <p:cNvSpPr/>
          <p:nvPr/>
        </p:nvSpPr>
        <p:spPr>
          <a:xfrm>
            <a:off x="0" y="9528048"/>
            <a:ext cx="6903720" cy="758952"/>
          </a:xfrm>
          <a:custGeom>
            <a:avLst/>
            <a:gdLst/>
            <a:ahLst/>
            <a:cxnLst/>
            <a:rect l="l" t="t" r="r" b="b"/>
            <a:pathLst>
              <a:path w="6903720" h="758952">
                <a:moveTo>
                  <a:pt x="0" y="0"/>
                </a:moveTo>
                <a:lnTo>
                  <a:pt x="6903720" y="0"/>
                </a:lnTo>
                <a:lnTo>
                  <a:pt x="6126480" y="758952"/>
                </a:lnTo>
                <a:lnTo>
                  <a:pt x="0" y="758952"/>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77840" y="9528048"/>
            <a:ext cx="12710160" cy="758952"/>
          </a:xfrm>
          <a:custGeom>
            <a:avLst/>
            <a:gdLst/>
            <a:ahLst/>
            <a:cxnLst/>
            <a:rect l="l" t="t" r="r" b="b"/>
            <a:pathLst>
              <a:path w="12710160" h="758952">
                <a:moveTo>
                  <a:pt x="777240" y="0"/>
                </a:moveTo>
                <a:lnTo>
                  <a:pt x="12710160" y="0"/>
                </a:lnTo>
                <a:lnTo>
                  <a:pt x="12710160" y="758952"/>
                </a:lnTo>
                <a:lnTo>
                  <a:pt x="0" y="758952"/>
                </a:lnTo>
                <a:close/>
              </a:path>
            </a:pathLst>
          </a:cu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14081760" y="10040112"/>
            <a:ext cx="4206240" cy="246888"/>
          </a:xfrm>
          <a:custGeom>
            <a:avLst/>
            <a:gdLst/>
            <a:ahLst/>
            <a:cxnLst/>
            <a:rect l="l" t="t" r="r" b="b"/>
            <a:pathLst>
              <a:path w="4206240" h="246888">
                <a:moveTo>
                  <a:pt x="182880" y="0"/>
                </a:moveTo>
                <a:lnTo>
                  <a:pt x="4206240" y="0"/>
                </a:lnTo>
                <a:lnTo>
                  <a:pt x="4206240" y="246888"/>
                </a:lnTo>
                <a:lnTo>
                  <a:pt x="0" y="246888"/>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538960" y="274320"/>
            <a:ext cx="3566160" cy="502920"/>
          </a:xfrm>
          <a:prstGeom prst="rect">
            <a:avLst/>
          </a:prstGeom>
          <a:noFill/>
        </p:spPr>
        <p:txBody>
          <a:bodyPr wrap="square" anchor="t" lIns="0" rIns="0" tIns="0" bIns="0">
            <a:spAutoFit/>
          </a:bodyPr>
          <a:lstStyle/>
          <a:p>
            <a:pPr algn="r">
              <a:lnSpc>
                <a:spcPct val="100000"/>
              </a:lnSpc>
            </a:pPr>
            <a:r>
              <a:rPr sz="2200" b="1">
                <a:solidFill>
                  <a:srgbClr val="C15F3C"/>
                </a:solidFill>
                <a:latin typeface="Arial Black"/>
              </a:rPr>
              <a:t>DIGITAL </a:t>
            </a:r>
            <a:r>
              <a:rPr sz="2200" b="1">
                <a:solidFill>
                  <a:srgbClr val="1F1E1C"/>
                </a:solidFill>
                <a:latin typeface="Arial Black"/>
              </a:rPr>
              <a:t>TWIN</a:t>
            </a:r>
          </a:p>
        </p:txBody>
      </p:sp>
      <p:sp>
        <p:nvSpPr>
          <p:cNvPr id="4" name="Rectangle 3"/>
          <p:cNvSpPr/>
          <p:nvPr/>
        </p:nvSpPr>
        <p:spPr>
          <a:xfrm>
            <a:off x="14676120" y="758952"/>
            <a:ext cx="3429000" cy="32004"/>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298680" y="1051560"/>
            <a:ext cx="6172200" cy="22860"/>
          </a:xfrm>
          <a:prstGeom prst="rect">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161520" y="982980"/>
            <a:ext cx="160020" cy="160020"/>
          </a:xfrm>
          <a:prstGeom prst="ellipse">
            <a:avLst/>
          </a:prstGeom>
          <a:solidFill>
            <a:srgbClr val="1F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234440"/>
            <a:ext cx="7315200" cy="1582615"/>
          </a:xfrm>
          <a:prstGeom prst="rect">
            <a:avLst/>
          </a:prstGeom>
          <a:noFill/>
        </p:spPr>
        <p:txBody>
          <a:bodyPr wrap="square" anchor="t" lIns="0" rIns="0" tIns="0" bIns="0">
            <a:spAutoFit/>
          </a:bodyPr>
          <a:lstStyle/>
          <a:p>
            <a:pPr algn="l">
              <a:lnSpc>
                <a:spcPct val="100000"/>
              </a:lnSpc>
              <a:spcAft>
                <a:spcPts val="0"/>
              </a:spcAft>
            </a:pPr>
            <a:r>
              <a:rPr sz="6400" b="1" i="0">
                <a:solidFill>
                  <a:srgbClr val="1F1E1C"/>
                </a:solidFill>
                <a:latin typeface="Arial Black"/>
              </a:rPr>
              <a:t>Jamoa</a:t>
            </a:r>
          </a:p>
        </p:txBody>
      </p:sp>
      <p:sp>
        <p:nvSpPr>
          <p:cNvPr id="8" name="Rounded Rectangle 7"/>
          <p:cNvSpPr/>
          <p:nvPr/>
        </p:nvSpPr>
        <p:spPr>
          <a:xfrm>
            <a:off x="1005840" y="2880360"/>
            <a:ext cx="2788920" cy="2788920"/>
          </a:xfrm>
          <a:prstGeom prst="roundRect">
            <a:avLst/>
          </a:prstGeom>
          <a:solidFill>
            <a:srgbClr val="F1EFEA"/>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28800" y="3703320"/>
            <a:ext cx="1143000" cy="1143000"/>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3913632"/>
            <a:ext cx="1143000" cy="914400"/>
          </a:xfrm>
          <a:prstGeom prst="rect">
            <a:avLst/>
          </a:prstGeom>
          <a:noFill/>
        </p:spPr>
        <p:txBody>
          <a:bodyPr wrap="square" anchor="t" lIns="0" rIns="0" tIns="0" bIns="0">
            <a:spAutoFit/>
          </a:bodyPr>
          <a:lstStyle/>
          <a:p>
            <a:pPr algn="ctr">
              <a:lnSpc>
                <a:spcPct val="120000"/>
              </a:lnSpc>
              <a:spcAft>
                <a:spcPts val="0"/>
              </a:spcAft>
            </a:pPr>
            <a:r>
              <a:rPr sz="3200" b="1" i="0">
                <a:solidFill>
                  <a:srgbClr val="FFFFFF"/>
                </a:solidFill>
                <a:latin typeface="Segoe UI"/>
              </a:rPr>
              <a:t>?</a:t>
            </a:r>
          </a:p>
        </p:txBody>
      </p:sp>
      <p:sp>
        <p:nvSpPr>
          <p:cNvPr id="11" name="TextBox 10"/>
          <p:cNvSpPr txBox="1"/>
          <p:nvPr/>
        </p:nvSpPr>
        <p:spPr>
          <a:xfrm>
            <a:off x="1005840" y="5989320"/>
            <a:ext cx="2788920" cy="2194560"/>
          </a:xfrm>
          <a:prstGeom prst="rect">
            <a:avLst/>
          </a:prstGeom>
          <a:noFill/>
        </p:spPr>
        <p:txBody>
          <a:bodyPr wrap="square" anchor="t" lIns="0" rIns="0" tIns="0" bIns="0">
            <a:spAutoFit/>
          </a:bodyPr>
          <a:lstStyle/>
          <a:p>
            <a:pPr algn="ctr">
              <a:lnSpc>
                <a:spcPct val="100000"/>
              </a:lnSpc>
              <a:spcAft>
                <a:spcPts val="400"/>
              </a:spcAft>
            </a:pPr>
            <a:r>
              <a:rPr sz="1900" b="1" i="0">
                <a:solidFill>
                  <a:srgbClr val="1F1E1C"/>
                </a:solidFill>
                <a:latin typeface="Segoe UI"/>
              </a:rPr>
              <a:t>‹Ism Familiya›</a:t>
            </a:r>
          </a:p>
          <a:p>
            <a:pPr algn="ctr">
              <a:lnSpc>
                <a:spcPct val="100000"/>
              </a:lnSpc>
              <a:spcAft>
                <a:spcPts val="800"/>
              </a:spcAft>
            </a:pPr>
            <a:r>
              <a:rPr sz="1800" b="1" i="0">
                <a:solidFill>
                  <a:srgbClr val="C15F3C"/>
                </a:solidFill>
                <a:latin typeface="Segoe UI"/>
              </a:rPr>
              <a:t>Asoschi</a:t>
            </a:r>
          </a:p>
          <a:p>
            <a:pPr algn="ctr">
              <a:lnSpc>
                <a:spcPct val="100000"/>
              </a:lnSpc>
              <a:spcAft>
                <a:spcPts val="200"/>
              </a:spcAft>
            </a:pPr>
            <a:r>
              <a:rPr sz="1600" b="0" i="0">
                <a:solidFill>
                  <a:srgbClr val="6F6B63"/>
                </a:solidFill>
                <a:latin typeface="Segoe UI"/>
              </a:rPr>
              <a:t>‹tajriba›</a:t>
            </a:r>
          </a:p>
          <a:p>
            <a:pPr algn="ctr">
              <a:lnSpc>
                <a:spcPct val="100000"/>
              </a:lnSpc>
              <a:spcAft>
                <a:spcPts val="200"/>
              </a:spcAft>
            </a:pPr>
            <a:r>
              <a:rPr sz="1600" b="0" i="0">
                <a:solidFill>
                  <a:srgbClr val="6F6B63"/>
                </a:solidFill>
                <a:latin typeface="Segoe UI"/>
              </a:rPr>
              <a:t>‹ta'lim›</a:t>
            </a:r>
          </a:p>
        </p:txBody>
      </p:sp>
      <p:sp>
        <p:nvSpPr>
          <p:cNvPr id="12" name="Rounded Rectangle 11"/>
          <p:cNvSpPr/>
          <p:nvPr/>
        </p:nvSpPr>
        <p:spPr>
          <a:xfrm>
            <a:off x="4315968" y="2880360"/>
            <a:ext cx="2788920" cy="2788920"/>
          </a:xfrm>
          <a:prstGeom prst="roundRect">
            <a:avLst/>
          </a:prstGeom>
          <a:solidFill>
            <a:srgbClr val="F1EFEA"/>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138928" y="3703320"/>
            <a:ext cx="1143000" cy="1143000"/>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38928" y="3913632"/>
            <a:ext cx="1143000" cy="914400"/>
          </a:xfrm>
          <a:prstGeom prst="rect">
            <a:avLst/>
          </a:prstGeom>
          <a:noFill/>
        </p:spPr>
        <p:txBody>
          <a:bodyPr wrap="square" anchor="t" lIns="0" rIns="0" tIns="0" bIns="0">
            <a:spAutoFit/>
          </a:bodyPr>
          <a:lstStyle/>
          <a:p>
            <a:pPr algn="ctr">
              <a:lnSpc>
                <a:spcPct val="120000"/>
              </a:lnSpc>
              <a:spcAft>
                <a:spcPts val="0"/>
              </a:spcAft>
            </a:pPr>
            <a:r>
              <a:rPr sz="3200" b="1" i="0">
                <a:solidFill>
                  <a:srgbClr val="FFFFFF"/>
                </a:solidFill>
                <a:latin typeface="Segoe UI"/>
              </a:rPr>
              <a:t>?</a:t>
            </a:r>
          </a:p>
        </p:txBody>
      </p:sp>
      <p:sp>
        <p:nvSpPr>
          <p:cNvPr id="15" name="TextBox 14"/>
          <p:cNvSpPr txBox="1"/>
          <p:nvPr/>
        </p:nvSpPr>
        <p:spPr>
          <a:xfrm>
            <a:off x="4315968" y="5989320"/>
            <a:ext cx="2788920" cy="2194560"/>
          </a:xfrm>
          <a:prstGeom prst="rect">
            <a:avLst/>
          </a:prstGeom>
          <a:noFill/>
        </p:spPr>
        <p:txBody>
          <a:bodyPr wrap="square" anchor="t" lIns="0" rIns="0" tIns="0" bIns="0">
            <a:spAutoFit/>
          </a:bodyPr>
          <a:lstStyle/>
          <a:p>
            <a:pPr algn="ctr">
              <a:lnSpc>
                <a:spcPct val="100000"/>
              </a:lnSpc>
              <a:spcAft>
                <a:spcPts val="400"/>
              </a:spcAft>
            </a:pPr>
            <a:r>
              <a:rPr sz="1900" b="1" i="0">
                <a:solidFill>
                  <a:srgbClr val="1F1E1C"/>
                </a:solidFill>
                <a:latin typeface="Segoe UI"/>
              </a:rPr>
              <a:t>‹Ism Familiya›</a:t>
            </a:r>
          </a:p>
          <a:p>
            <a:pPr algn="ctr">
              <a:lnSpc>
                <a:spcPct val="100000"/>
              </a:lnSpc>
              <a:spcAft>
                <a:spcPts val="800"/>
              </a:spcAft>
            </a:pPr>
            <a:r>
              <a:rPr sz="1800" b="1" i="0">
                <a:solidFill>
                  <a:srgbClr val="C15F3C"/>
                </a:solidFill>
                <a:latin typeface="Segoe UI"/>
              </a:rPr>
              <a:t>Texnik rahbar</a:t>
            </a:r>
          </a:p>
          <a:p>
            <a:pPr algn="ctr">
              <a:lnSpc>
                <a:spcPct val="100000"/>
              </a:lnSpc>
              <a:spcAft>
                <a:spcPts val="200"/>
              </a:spcAft>
            </a:pPr>
            <a:r>
              <a:rPr sz="1600" b="0" i="0">
                <a:solidFill>
                  <a:srgbClr val="6F6B63"/>
                </a:solidFill>
                <a:latin typeface="Segoe UI"/>
              </a:rPr>
              <a:t>‹tajriba›</a:t>
            </a:r>
          </a:p>
          <a:p>
            <a:pPr algn="ctr">
              <a:lnSpc>
                <a:spcPct val="100000"/>
              </a:lnSpc>
              <a:spcAft>
                <a:spcPts val="200"/>
              </a:spcAft>
            </a:pPr>
            <a:r>
              <a:rPr sz="1600" b="0" i="0">
                <a:solidFill>
                  <a:srgbClr val="6F6B63"/>
                </a:solidFill>
                <a:latin typeface="Segoe UI"/>
              </a:rPr>
              <a:t>‹yo'nalish›</a:t>
            </a:r>
          </a:p>
        </p:txBody>
      </p:sp>
      <p:sp>
        <p:nvSpPr>
          <p:cNvPr id="16" name="Rounded Rectangle 15"/>
          <p:cNvSpPr/>
          <p:nvPr/>
        </p:nvSpPr>
        <p:spPr>
          <a:xfrm>
            <a:off x="7626096" y="2880360"/>
            <a:ext cx="2788920" cy="2788920"/>
          </a:xfrm>
          <a:prstGeom prst="roundRect">
            <a:avLst/>
          </a:prstGeom>
          <a:solidFill>
            <a:srgbClr val="F1EFEA"/>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49056" y="3703320"/>
            <a:ext cx="1143000" cy="1143000"/>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49056" y="3913632"/>
            <a:ext cx="1143000" cy="914400"/>
          </a:xfrm>
          <a:prstGeom prst="rect">
            <a:avLst/>
          </a:prstGeom>
          <a:noFill/>
        </p:spPr>
        <p:txBody>
          <a:bodyPr wrap="square" anchor="t" lIns="0" rIns="0" tIns="0" bIns="0">
            <a:spAutoFit/>
          </a:bodyPr>
          <a:lstStyle/>
          <a:p>
            <a:pPr algn="ctr">
              <a:lnSpc>
                <a:spcPct val="120000"/>
              </a:lnSpc>
              <a:spcAft>
                <a:spcPts val="0"/>
              </a:spcAft>
            </a:pPr>
            <a:r>
              <a:rPr sz="3200" b="1" i="0">
                <a:solidFill>
                  <a:srgbClr val="FFFFFF"/>
                </a:solidFill>
                <a:latin typeface="Segoe UI"/>
              </a:rPr>
              <a:t>?</a:t>
            </a:r>
          </a:p>
        </p:txBody>
      </p:sp>
      <p:sp>
        <p:nvSpPr>
          <p:cNvPr id="19" name="TextBox 18"/>
          <p:cNvSpPr txBox="1"/>
          <p:nvPr/>
        </p:nvSpPr>
        <p:spPr>
          <a:xfrm>
            <a:off x="7626096" y="5989320"/>
            <a:ext cx="2788920" cy="2194560"/>
          </a:xfrm>
          <a:prstGeom prst="rect">
            <a:avLst/>
          </a:prstGeom>
          <a:noFill/>
        </p:spPr>
        <p:txBody>
          <a:bodyPr wrap="square" anchor="t" lIns="0" rIns="0" tIns="0" bIns="0">
            <a:spAutoFit/>
          </a:bodyPr>
          <a:lstStyle/>
          <a:p>
            <a:pPr algn="ctr">
              <a:lnSpc>
                <a:spcPct val="100000"/>
              </a:lnSpc>
              <a:spcAft>
                <a:spcPts val="400"/>
              </a:spcAft>
            </a:pPr>
            <a:r>
              <a:rPr sz="1900" b="1" i="0">
                <a:solidFill>
                  <a:srgbClr val="1F1E1C"/>
                </a:solidFill>
                <a:latin typeface="Segoe UI"/>
              </a:rPr>
              <a:t>‹Ism Familiya›</a:t>
            </a:r>
          </a:p>
          <a:p>
            <a:pPr algn="ctr">
              <a:lnSpc>
                <a:spcPct val="100000"/>
              </a:lnSpc>
              <a:spcAft>
                <a:spcPts val="800"/>
              </a:spcAft>
            </a:pPr>
            <a:r>
              <a:rPr sz="1800" b="1" i="0">
                <a:solidFill>
                  <a:srgbClr val="C15F3C"/>
                </a:solidFill>
                <a:latin typeface="Segoe UI"/>
              </a:rPr>
              <a:t>Mahsulot rahbari</a:t>
            </a:r>
          </a:p>
          <a:p>
            <a:pPr algn="ctr">
              <a:lnSpc>
                <a:spcPct val="100000"/>
              </a:lnSpc>
              <a:spcAft>
                <a:spcPts val="200"/>
              </a:spcAft>
            </a:pPr>
            <a:r>
              <a:rPr sz="1600" b="0" i="0">
                <a:solidFill>
                  <a:srgbClr val="6F6B63"/>
                </a:solidFill>
                <a:latin typeface="Segoe UI"/>
              </a:rPr>
              <a:t>‹tajriba›</a:t>
            </a:r>
          </a:p>
          <a:p>
            <a:pPr algn="ctr">
              <a:lnSpc>
                <a:spcPct val="100000"/>
              </a:lnSpc>
              <a:spcAft>
                <a:spcPts val="200"/>
              </a:spcAft>
            </a:pPr>
            <a:r>
              <a:rPr sz="1600" b="0" i="0">
                <a:solidFill>
                  <a:srgbClr val="6F6B63"/>
                </a:solidFill>
                <a:latin typeface="Segoe UI"/>
              </a:rPr>
              <a:t>‹yo'nalish›</a:t>
            </a:r>
          </a:p>
        </p:txBody>
      </p:sp>
      <p:sp>
        <p:nvSpPr>
          <p:cNvPr id="20" name="Rounded Rectangle 19"/>
          <p:cNvSpPr/>
          <p:nvPr/>
        </p:nvSpPr>
        <p:spPr>
          <a:xfrm>
            <a:off x="10936224" y="2880360"/>
            <a:ext cx="2788920" cy="2788920"/>
          </a:xfrm>
          <a:prstGeom prst="roundRect">
            <a:avLst/>
          </a:prstGeom>
          <a:solidFill>
            <a:srgbClr val="F1EFEA"/>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59184" y="3703320"/>
            <a:ext cx="1143000" cy="1143000"/>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59184" y="3913632"/>
            <a:ext cx="1143000" cy="914400"/>
          </a:xfrm>
          <a:prstGeom prst="rect">
            <a:avLst/>
          </a:prstGeom>
          <a:noFill/>
        </p:spPr>
        <p:txBody>
          <a:bodyPr wrap="square" anchor="t" lIns="0" rIns="0" tIns="0" bIns="0">
            <a:spAutoFit/>
          </a:bodyPr>
          <a:lstStyle/>
          <a:p>
            <a:pPr algn="ctr">
              <a:lnSpc>
                <a:spcPct val="120000"/>
              </a:lnSpc>
              <a:spcAft>
                <a:spcPts val="0"/>
              </a:spcAft>
            </a:pPr>
            <a:r>
              <a:rPr sz="3200" b="1" i="0">
                <a:solidFill>
                  <a:srgbClr val="FFFFFF"/>
                </a:solidFill>
                <a:latin typeface="Segoe UI"/>
              </a:rPr>
              <a:t>?</a:t>
            </a:r>
          </a:p>
        </p:txBody>
      </p:sp>
      <p:sp>
        <p:nvSpPr>
          <p:cNvPr id="23" name="TextBox 22"/>
          <p:cNvSpPr txBox="1"/>
          <p:nvPr/>
        </p:nvSpPr>
        <p:spPr>
          <a:xfrm>
            <a:off x="10936224" y="5989320"/>
            <a:ext cx="2788920" cy="2194560"/>
          </a:xfrm>
          <a:prstGeom prst="rect">
            <a:avLst/>
          </a:prstGeom>
          <a:noFill/>
        </p:spPr>
        <p:txBody>
          <a:bodyPr wrap="square" anchor="t" lIns="0" rIns="0" tIns="0" bIns="0">
            <a:spAutoFit/>
          </a:bodyPr>
          <a:lstStyle/>
          <a:p>
            <a:pPr algn="ctr">
              <a:lnSpc>
                <a:spcPct val="100000"/>
              </a:lnSpc>
              <a:spcAft>
                <a:spcPts val="400"/>
              </a:spcAft>
            </a:pPr>
            <a:r>
              <a:rPr sz="1900" b="1" i="0">
                <a:solidFill>
                  <a:srgbClr val="1F1E1C"/>
                </a:solidFill>
                <a:latin typeface="Segoe UI"/>
              </a:rPr>
              <a:t>‹Ism Familiya›</a:t>
            </a:r>
          </a:p>
          <a:p>
            <a:pPr algn="ctr">
              <a:lnSpc>
                <a:spcPct val="100000"/>
              </a:lnSpc>
              <a:spcAft>
                <a:spcPts val="800"/>
              </a:spcAft>
            </a:pPr>
            <a:r>
              <a:rPr sz="1800" b="1" i="0">
                <a:solidFill>
                  <a:srgbClr val="C15F3C"/>
                </a:solidFill>
                <a:latin typeface="Segoe UI"/>
              </a:rPr>
              <a:t>Sotuv rahbari</a:t>
            </a:r>
          </a:p>
          <a:p>
            <a:pPr algn="ctr">
              <a:lnSpc>
                <a:spcPct val="100000"/>
              </a:lnSpc>
              <a:spcAft>
                <a:spcPts val="200"/>
              </a:spcAft>
            </a:pPr>
            <a:r>
              <a:rPr sz="1600" b="0" i="0">
                <a:solidFill>
                  <a:srgbClr val="6F6B63"/>
                </a:solidFill>
                <a:latin typeface="Segoe UI"/>
              </a:rPr>
              <a:t>‹tajriba›</a:t>
            </a:r>
          </a:p>
          <a:p>
            <a:pPr algn="ctr">
              <a:lnSpc>
                <a:spcPct val="100000"/>
              </a:lnSpc>
              <a:spcAft>
                <a:spcPts val="200"/>
              </a:spcAft>
            </a:pPr>
            <a:r>
              <a:rPr sz="1600" b="0" i="0">
                <a:solidFill>
                  <a:srgbClr val="6F6B63"/>
                </a:solidFill>
                <a:latin typeface="Segoe UI"/>
              </a:rPr>
              <a:t>‹yo'nalish›</a:t>
            </a:r>
          </a:p>
        </p:txBody>
      </p:sp>
      <p:sp>
        <p:nvSpPr>
          <p:cNvPr id="24" name="Rounded Rectangle 23"/>
          <p:cNvSpPr/>
          <p:nvPr/>
        </p:nvSpPr>
        <p:spPr>
          <a:xfrm>
            <a:off x="14246352" y="2880360"/>
            <a:ext cx="2788920" cy="2788920"/>
          </a:xfrm>
          <a:prstGeom prst="roundRect">
            <a:avLst/>
          </a:prstGeom>
          <a:solidFill>
            <a:srgbClr val="F1EFEA"/>
          </a:solidFill>
          <a:ln w="15875">
            <a:solidFill>
              <a:srgbClr val="E4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5069312" y="3703320"/>
            <a:ext cx="1143000" cy="1143000"/>
          </a:xfrm>
          <a:prstGeom prst="ellipse">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069312" y="3913632"/>
            <a:ext cx="1143000" cy="914400"/>
          </a:xfrm>
          <a:prstGeom prst="rect">
            <a:avLst/>
          </a:prstGeom>
          <a:noFill/>
        </p:spPr>
        <p:txBody>
          <a:bodyPr wrap="square" anchor="t" lIns="0" rIns="0" tIns="0" bIns="0">
            <a:spAutoFit/>
          </a:bodyPr>
          <a:lstStyle/>
          <a:p>
            <a:pPr algn="ctr">
              <a:lnSpc>
                <a:spcPct val="120000"/>
              </a:lnSpc>
              <a:spcAft>
                <a:spcPts val="0"/>
              </a:spcAft>
            </a:pPr>
            <a:r>
              <a:rPr sz="3200" b="1" i="0">
                <a:solidFill>
                  <a:srgbClr val="FFFFFF"/>
                </a:solidFill>
                <a:latin typeface="Segoe UI"/>
              </a:rPr>
              <a:t>?</a:t>
            </a:r>
          </a:p>
        </p:txBody>
      </p:sp>
      <p:sp>
        <p:nvSpPr>
          <p:cNvPr id="27" name="TextBox 26"/>
          <p:cNvSpPr txBox="1"/>
          <p:nvPr/>
        </p:nvSpPr>
        <p:spPr>
          <a:xfrm>
            <a:off x="14246352" y="5989320"/>
            <a:ext cx="2788920" cy="2194560"/>
          </a:xfrm>
          <a:prstGeom prst="rect">
            <a:avLst/>
          </a:prstGeom>
          <a:noFill/>
        </p:spPr>
        <p:txBody>
          <a:bodyPr wrap="square" anchor="t" lIns="0" rIns="0" tIns="0" bIns="0">
            <a:spAutoFit/>
          </a:bodyPr>
          <a:lstStyle/>
          <a:p>
            <a:pPr algn="ctr">
              <a:lnSpc>
                <a:spcPct val="100000"/>
              </a:lnSpc>
              <a:spcAft>
                <a:spcPts val="400"/>
              </a:spcAft>
            </a:pPr>
            <a:r>
              <a:rPr sz="1900" b="1" i="0">
                <a:solidFill>
                  <a:srgbClr val="1F1E1C"/>
                </a:solidFill>
                <a:latin typeface="Segoe UI"/>
              </a:rPr>
              <a:t>‹Ism Familiya›</a:t>
            </a:r>
          </a:p>
          <a:p>
            <a:pPr algn="ctr">
              <a:lnSpc>
                <a:spcPct val="100000"/>
              </a:lnSpc>
              <a:spcAft>
                <a:spcPts val="800"/>
              </a:spcAft>
            </a:pPr>
            <a:r>
              <a:rPr sz="1800" b="1" i="0">
                <a:solidFill>
                  <a:srgbClr val="C15F3C"/>
                </a:solidFill>
                <a:latin typeface="Segoe UI"/>
              </a:rPr>
              <a:t>Maslahatchi</a:t>
            </a:r>
          </a:p>
          <a:p>
            <a:pPr algn="ctr">
              <a:lnSpc>
                <a:spcPct val="100000"/>
              </a:lnSpc>
              <a:spcAft>
                <a:spcPts val="200"/>
              </a:spcAft>
            </a:pPr>
            <a:r>
              <a:rPr sz="1600" b="0" i="0">
                <a:solidFill>
                  <a:srgbClr val="6F6B63"/>
                </a:solidFill>
                <a:latin typeface="Segoe UI"/>
              </a:rPr>
              <a:t>‹tajriba›</a:t>
            </a:r>
          </a:p>
          <a:p>
            <a:pPr algn="ctr">
              <a:lnSpc>
                <a:spcPct val="100000"/>
              </a:lnSpc>
              <a:spcAft>
                <a:spcPts val="200"/>
              </a:spcAft>
            </a:pPr>
            <a:r>
              <a:rPr sz="1600" b="0" i="0">
                <a:solidFill>
                  <a:srgbClr val="6F6B63"/>
                </a:solidFill>
                <a:latin typeface="Segoe UI"/>
              </a:rPr>
              <a:t>‹yo'nalish›</a:t>
            </a:r>
          </a:p>
        </p:txBody>
      </p:sp>
      <p:sp>
        <p:nvSpPr>
          <p:cNvPr id="28" name="TextBox 27"/>
          <p:cNvSpPr txBox="1"/>
          <p:nvPr/>
        </p:nvSpPr>
        <p:spPr>
          <a:xfrm>
            <a:off x="1005840" y="8641080"/>
            <a:ext cx="16276320" cy="914400"/>
          </a:xfrm>
          <a:prstGeom prst="rect">
            <a:avLst/>
          </a:prstGeom>
          <a:noFill/>
        </p:spPr>
        <p:txBody>
          <a:bodyPr wrap="square" anchor="t" lIns="0" rIns="0" tIns="0" bIns="0">
            <a:spAutoFit/>
          </a:bodyPr>
          <a:lstStyle/>
          <a:p>
            <a:pPr algn="ctr">
              <a:lnSpc>
                <a:spcPct val="120000"/>
              </a:lnSpc>
              <a:spcAft>
                <a:spcPts val="0"/>
              </a:spcAft>
            </a:pPr>
            <a:r>
              <a:rPr sz="1900" b="1" i="0">
                <a:solidFill>
                  <a:srgbClr val="1F1E1C"/>
                </a:solidFill>
                <a:latin typeface="Segoe UI"/>
              </a:rPr>
              <a:t>Texnik guruh: platforma dasturchilari, bilim muhandislari va soha mutaxassislari</a:t>
            </a:r>
          </a:p>
        </p:txBody>
      </p:sp>
      <p:sp>
        <p:nvSpPr>
          <p:cNvPr id="29" name="Freeform 28"/>
          <p:cNvSpPr/>
          <p:nvPr/>
        </p:nvSpPr>
        <p:spPr>
          <a:xfrm>
            <a:off x="0" y="9528048"/>
            <a:ext cx="6903720" cy="758952"/>
          </a:xfrm>
          <a:custGeom>
            <a:avLst/>
            <a:gdLst/>
            <a:ahLst/>
            <a:cxnLst/>
            <a:rect l="l" t="t" r="r" b="b"/>
            <a:pathLst>
              <a:path w="6903720" h="758952">
                <a:moveTo>
                  <a:pt x="0" y="0"/>
                </a:moveTo>
                <a:lnTo>
                  <a:pt x="6903720" y="0"/>
                </a:lnTo>
                <a:lnTo>
                  <a:pt x="6126480" y="758952"/>
                </a:lnTo>
                <a:lnTo>
                  <a:pt x="0" y="758952"/>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5577840" y="9528048"/>
            <a:ext cx="12710160" cy="758952"/>
          </a:xfrm>
          <a:custGeom>
            <a:avLst/>
            <a:gdLst/>
            <a:ahLst/>
            <a:cxnLst/>
            <a:rect l="l" t="t" r="r" b="b"/>
            <a:pathLst>
              <a:path w="12710160" h="758952">
                <a:moveTo>
                  <a:pt x="777240" y="0"/>
                </a:moveTo>
                <a:lnTo>
                  <a:pt x="12710160" y="0"/>
                </a:lnTo>
                <a:lnTo>
                  <a:pt x="12710160" y="758952"/>
                </a:lnTo>
                <a:lnTo>
                  <a:pt x="0" y="758952"/>
                </a:lnTo>
                <a:close/>
              </a:path>
            </a:pathLst>
          </a:cu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14081760" y="10040112"/>
            <a:ext cx="4206240" cy="246888"/>
          </a:xfrm>
          <a:custGeom>
            <a:avLst/>
            <a:gdLst/>
            <a:ahLst/>
            <a:cxnLst/>
            <a:rect l="l" t="t" r="r" b="b"/>
            <a:pathLst>
              <a:path w="4206240" h="246888">
                <a:moveTo>
                  <a:pt x="182880" y="0"/>
                </a:moveTo>
                <a:lnTo>
                  <a:pt x="4206240" y="0"/>
                </a:lnTo>
                <a:lnTo>
                  <a:pt x="4206240" y="246888"/>
                </a:lnTo>
                <a:lnTo>
                  <a:pt x="0" y="246888"/>
                </a:lnTo>
                <a:close/>
              </a:path>
            </a:pathLst>
          </a:cu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C15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298680" y="960120"/>
            <a:ext cx="6172200" cy="22860"/>
          </a:xfrm>
          <a:prstGeom prst="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161520" y="891540"/>
            <a:ext cx="160020" cy="160020"/>
          </a:xfrm>
          <a:prstGeom prst="ellipse">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06440" y="1234440"/>
            <a:ext cx="6720840" cy="6720840"/>
          </a:xfrm>
          <a:prstGeom prst="ellipse">
            <a:avLst/>
          </a:prstGeom>
          <a:solidFill>
            <a:srgbClr val="CE72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5080" y="3794760"/>
            <a:ext cx="5623560" cy="2743200"/>
          </a:xfrm>
          <a:prstGeom prst="rect">
            <a:avLst/>
          </a:prstGeom>
          <a:noFill/>
        </p:spPr>
        <p:txBody>
          <a:bodyPr wrap="square" anchor="t" lIns="0" rIns="0" tIns="0" bIns="0">
            <a:spAutoFit/>
          </a:bodyPr>
          <a:lstStyle/>
          <a:p>
            <a:pPr algn="ctr">
              <a:lnSpc>
                <a:spcPct val="112000"/>
              </a:lnSpc>
              <a:spcAft>
                <a:spcPts val="1400"/>
              </a:spcAft>
            </a:pPr>
            <a:r>
              <a:rPr sz="3300" b="1" i="0">
                <a:solidFill>
                  <a:srgbClr val="FFFFFF"/>
                </a:solidFill>
                <a:latin typeface="Arial Black"/>
              </a:rPr>
              <a:t>Bilim yo'qolmasin,</a:t>
            </a:r>
          </a:p>
          <a:p>
            <a:pPr algn="ctr">
              <a:lnSpc>
                <a:spcPct val="112000"/>
              </a:lnSpc>
              <a:spcAft>
                <a:spcPts val="0"/>
              </a:spcAft>
            </a:pPr>
            <a:r>
              <a:rPr sz="3300" b="1" i="0">
                <a:solidFill>
                  <a:srgbClr val="FFFFFF"/>
                </a:solidFill>
                <a:latin typeface="Arial Black"/>
              </a:rPr>
              <a:t>u ishlashi kerak.</a:t>
            </a:r>
          </a:p>
        </p:txBody>
      </p:sp>
      <p:sp>
        <p:nvSpPr>
          <p:cNvPr id="7" name="TextBox 6"/>
          <p:cNvSpPr txBox="1"/>
          <p:nvPr/>
        </p:nvSpPr>
        <p:spPr>
          <a:xfrm>
            <a:off x="7772400" y="8001000"/>
            <a:ext cx="9509760" cy="914400"/>
          </a:xfrm>
          <a:prstGeom prst="rect">
            <a:avLst/>
          </a:prstGeom>
          <a:noFill/>
        </p:spPr>
        <p:txBody>
          <a:bodyPr wrap="square" anchor="t" lIns="0" rIns="0" tIns="0" bIns="0">
            <a:spAutoFit/>
          </a:bodyPr>
          <a:lstStyle/>
          <a:p>
            <a:pPr algn="r">
              <a:lnSpc>
                <a:spcPct val="120000"/>
              </a:lnSpc>
              <a:spcAft>
                <a:spcPts val="0"/>
              </a:spcAft>
            </a:pPr>
            <a:r>
              <a:rPr sz="3000" b="0" i="0">
                <a:solidFill>
                  <a:srgbClr val="252422"/>
                </a:solidFill>
                <a:latin typeface="Segoe UI"/>
              </a:rPr>
              <a:t>E'tiboringiz uchun</a:t>
            </a:r>
          </a:p>
        </p:txBody>
      </p:sp>
      <p:sp>
        <p:nvSpPr>
          <p:cNvPr id="8" name="TextBox 7"/>
          <p:cNvSpPr txBox="1"/>
          <p:nvPr/>
        </p:nvSpPr>
        <p:spPr>
          <a:xfrm>
            <a:off x="5943600" y="8549640"/>
            <a:ext cx="11338560" cy="1463040"/>
          </a:xfrm>
          <a:prstGeom prst="rect">
            <a:avLst/>
          </a:prstGeom>
          <a:noFill/>
        </p:spPr>
        <p:txBody>
          <a:bodyPr wrap="square" anchor="t" lIns="0" rIns="0" tIns="0" bIns="0">
            <a:spAutoFit/>
          </a:bodyPr>
          <a:lstStyle/>
          <a:p>
            <a:pPr algn="r">
              <a:lnSpc>
                <a:spcPct val="95000"/>
              </a:lnSpc>
              <a:spcAft>
                <a:spcPts val="0"/>
              </a:spcAft>
            </a:pPr>
            <a:r>
              <a:rPr sz="9200" b="1" i="0">
                <a:solidFill>
                  <a:srgbClr val="252422"/>
                </a:solidFill>
                <a:latin typeface="Arial Black"/>
              </a:rPr>
              <a:t>Tashakkur</a:t>
            </a:r>
          </a:p>
        </p:txBody>
      </p:sp>
      <p:sp>
        <p:nvSpPr>
          <p:cNvPr id="9" name="TextBox 8"/>
          <p:cNvSpPr txBox="1"/>
          <p:nvPr/>
        </p:nvSpPr>
        <p:spPr>
          <a:xfrm>
            <a:off x="1005840" y="8092440"/>
            <a:ext cx="5486400" cy="1463040"/>
          </a:xfrm>
          <a:prstGeom prst="rect">
            <a:avLst/>
          </a:prstGeom>
          <a:noFill/>
        </p:spPr>
        <p:txBody>
          <a:bodyPr wrap="square" anchor="t" lIns="0" rIns="0" tIns="0" bIns="0">
            <a:spAutoFit/>
          </a:bodyPr>
          <a:lstStyle/>
          <a:p>
            <a:pPr algn="l">
              <a:lnSpc>
                <a:spcPct val="100000"/>
              </a:lnSpc>
              <a:spcAft>
                <a:spcPts val="400"/>
              </a:spcAft>
            </a:pPr>
            <a:r>
              <a:rPr sz="2400" b="1" i="0">
                <a:solidFill>
                  <a:srgbClr val="FFFFFF"/>
                </a:solidFill>
                <a:latin typeface="Segoe UI"/>
              </a:rPr>
              <a:t>twin.bmslab.uz</a:t>
            </a:r>
          </a:p>
          <a:p>
            <a:pPr algn="l">
              <a:lnSpc>
                <a:spcPct val="100000"/>
              </a:lnSpc>
              <a:spcAft>
                <a:spcPts val="400"/>
              </a:spcAft>
            </a:pPr>
            <a:r>
              <a:rPr sz="2000" b="1" i="0">
                <a:solidFill>
                  <a:srgbClr val="FFFFFF"/>
                </a:solidFill>
                <a:latin typeface="Segoe UI"/>
              </a:rPr>
              <a:t>technical@fastorika.com</a:t>
            </a:r>
          </a:p>
          <a:p>
            <a:pPr algn="l">
              <a:lnSpc>
                <a:spcPct val="100000"/>
              </a:lnSpc>
              <a:spcAft>
                <a:spcPts val="0"/>
              </a:spcAft>
            </a:pPr>
            <a:r>
              <a:rPr sz="1700" b="0" i="0">
                <a:solidFill>
                  <a:srgbClr val="F4DCD2"/>
                </a:solidFill>
                <a:latin typeface="Segoe UI"/>
              </a:rPr>
              <a:t>‹Telegram manzili›</a:t>
            </a:r>
          </a:p>
        </p:txBody>
      </p:sp>
      <p:sp>
        <p:nvSpPr>
          <p:cNvPr id="10" name="Rectangle 9"/>
          <p:cNvSpPr/>
          <p:nvPr/>
        </p:nvSpPr>
        <p:spPr>
          <a:xfrm>
            <a:off x="-182880" y="9829800"/>
            <a:ext cx="10972800" cy="22860"/>
          </a:xfrm>
          <a:prstGeom prst="rect">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652760" y="9761220"/>
            <a:ext cx="160020" cy="160020"/>
          </a:xfrm>
          <a:prstGeom prst="ellipse">
            <a:avLst/>
          </a:prstGeom>
          <a:solidFill>
            <a:srgbClr val="25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